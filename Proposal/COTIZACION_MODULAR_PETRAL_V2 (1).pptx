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73" r:id="rId3"/>
    <p:sldId id="272" r:id="rId4"/>
    <p:sldId id="256" r:id="rId5"/>
    <p:sldId id="257" r:id="rId6"/>
    <p:sldId id="258" r:id="rId7"/>
    <p:sldId id="259" r:id="rId8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6200" y="1458798"/>
            <a:ext cx="9100185" cy="19050"/>
          </a:xfrm>
          <a:custGeom>
            <a:avLst/>
            <a:gdLst/>
            <a:ahLst/>
            <a:cxnLst/>
            <a:rect l="l" t="t" r="r" b="b"/>
            <a:pathLst>
              <a:path w="9100185" h="19050">
                <a:moveTo>
                  <a:pt x="9099604" y="19050"/>
                </a:moveTo>
                <a:lnTo>
                  <a:pt x="0" y="19050"/>
                </a:lnTo>
                <a:lnTo>
                  <a:pt x="0" y="0"/>
                </a:lnTo>
                <a:lnTo>
                  <a:pt x="9099604" y="0"/>
                </a:lnTo>
                <a:lnTo>
                  <a:pt x="9099604" y="19050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3500" y="1000760"/>
            <a:ext cx="691451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100" y="2425274"/>
            <a:ext cx="9176385" cy="4413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52511" y="7008524"/>
            <a:ext cx="458914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377" y="4811817"/>
            <a:ext cx="87655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Navigating</a:t>
            </a:r>
            <a:r>
              <a:rPr sz="3200" b="1" spc="-3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the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Future: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Inteligencia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F2B59"/>
                </a:solidFill>
                <a:latin typeface="Arial"/>
                <a:cs typeface="Arial"/>
              </a:rPr>
              <a:t>Comercial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230" y="5435971"/>
            <a:ext cx="8673465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545454"/>
                </a:solidFill>
                <a:latin typeface="Arial"/>
                <a:cs typeface="Arial"/>
              </a:rPr>
              <a:t>Transición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procesos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legacy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8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un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ecosistema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datos</a:t>
            </a:r>
            <a:r>
              <a:rPr sz="18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centralizado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y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545454"/>
                </a:solidFill>
                <a:latin typeface="Arial"/>
                <a:cs typeface="Arial"/>
              </a:rPr>
              <a:t>automatizado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800" dirty="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Objetivo:</a:t>
            </a:r>
            <a:r>
              <a:rPr sz="1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Modernización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integral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la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gestión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spc="-15" dirty="0">
                <a:solidFill>
                  <a:srgbClr val="333333"/>
                </a:solidFill>
                <a:latin typeface="Arial"/>
                <a:cs typeface="Arial"/>
              </a:rPr>
              <a:t>Comercial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32003" y="0"/>
            <a:ext cx="3960495" cy="1800225"/>
            <a:chOff x="6732003" y="0"/>
            <a:chExt cx="3960495" cy="1800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126" y="252000"/>
              <a:ext cx="952500" cy="952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2003" y="0"/>
              <a:ext cx="3960495" cy="1800225"/>
            </a:xfrm>
            <a:custGeom>
              <a:avLst/>
              <a:gdLst/>
              <a:ahLst/>
              <a:cxnLst/>
              <a:rect l="l" t="t" r="r" b="b"/>
              <a:pathLst>
                <a:path w="3960495" h="1800225">
                  <a:moveTo>
                    <a:pt x="3960000" y="1800003"/>
                  </a:moveTo>
                  <a:lnTo>
                    <a:pt x="0" y="1800003"/>
                  </a:lnTo>
                  <a:lnTo>
                    <a:pt x="0" y="0"/>
                  </a:lnTo>
                  <a:lnTo>
                    <a:pt x="3960000" y="0"/>
                  </a:lnTo>
                  <a:lnTo>
                    <a:pt x="3960000" y="18000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825" y="1908000"/>
            <a:ext cx="2857499" cy="28575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586778"/>
            <a:ext cx="9963150" cy="4537795"/>
            <a:chOff x="539999" y="1586779"/>
            <a:chExt cx="9963150" cy="3594735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9963150" cy="3594735"/>
            </a:xfrm>
            <a:custGeom>
              <a:avLst/>
              <a:gdLst/>
              <a:ahLst/>
              <a:cxnLst/>
              <a:rect l="l" t="t" r="r" b="b"/>
              <a:pathLst>
                <a:path w="9963150" h="3594735">
                  <a:moveTo>
                    <a:pt x="9886922" y="3594735"/>
                  </a:moveTo>
                  <a:lnTo>
                    <a:pt x="76200" y="3594735"/>
                  </a:lnTo>
                  <a:lnTo>
                    <a:pt x="46612" y="3588722"/>
                  </a:lnTo>
                  <a:lnTo>
                    <a:pt x="22383" y="3572351"/>
                  </a:lnTo>
                  <a:lnTo>
                    <a:pt x="6012" y="3548122"/>
                  </a:lnTo>
                  <a:lnTo>
                    <a:pt x="0" y="351853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518535"/>
                  </a:lnTo>
                  <a:lnTo>
                    <a:pt x="9957110" y="3548122"/>
                  </a:lnTo>
                  <a:lnTo>
                    <a:pt x="9940738" y="3572351"/>
                  </a:lnTo>
                  <a:lnTo>
                    <a:pt x="9916509" y="3588722"/>
                  </a:lnTo>
                  <a:lnTo>
                    <a:pt x="9886922" y="359473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95250" cy="3594735"/>
            </a:xfrm>
            <a:custGeom>
              <a:avLst/>
              <a:gdLst/>
              <a:ahLst/>
              <a:cxnLst/>
              <a:rect l="l" t="t" r="r" b="b"/>
              <a:pathLst>
                <a:path w="95250" h="3594735">
                  <a:moveTo>
                    <a:pt x="95250" y="3594735"/>
                  </a:moveTo>
                  <a:lnTo>
                    <a:pt x="76200" y="3594735"/>
                  </a:lnTo>
                  <a:lnTo>
                    <a:pt x="46612" y="3588722"/>
                  </a:lnTo>
                  <a:lnTo>
                    <a:pt x="22383" y="3572351"/>
                  </a:lnTo>
                  <a:lnTo>
                    <a:pt x="6012" y="3548122"/>
                  </a:lnTo>
                  <a:lnTo>
                    <a:pt x="0" y="351853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5250" y="0"/>
                  </a:lnTo>
                  <a:lnTo>
                    <a:pt x="95250" y="3594735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85" dirty="0"/>
              <a:t> </a:t>
            </a:r>
            <a:r>
              <a:rPr dirty="0"/>
              <a:t>1:</a:t>
            </a:r>
            <a:r>
              <a:rPr spc="-85" dirty="0"/>
              <a:t> </a:t>
            </a:r>
            <a:r>
              <a:rPr dirty="0"/>
              <a:t>Diseño</a:t>
            </a:r>
            <a:r>
              <a:rPr spc="-80" dirty="0"/>
              <a:t> </a:t>
            </a:r>
            <a:r>
              <a:rPr dirty="0"/>
              <a:t>del</a:t>
            </a:r>
            <a:r>
              <a:rPr spc="-85" dirty="0"/>
              <a:t> </a:t>
            </a:r>
            <a:r>
              <a:rPr dirty="0"/>
              <a:t>Sistema</a:t>
            </a:r>
            <a:r>
              <a:rPr spc="-80" dirty="0"/>
              <a:t> </a:t>
            </a:r>
            <a:r>
              <a:rPr lang="es-MX" spc="-80" dirty="0"/>
              <a:t>- </a:t>
            </a:r>
            <a:r>
              <a:rPr dirty="0" err="1"/>
              <a:t>Alcance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908297" y="1870497"/>
            <a:ext cx="9295765" cy="4045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800" b="1" dirty="0">
                <a:solidFill>
                  <a:srgbClr val="0C46A1"/>
                </a:solidFill>
                <a:latin typeface="Arial"/>
                <a:cs typeface="Arial"/>
              </a:rPr>
              <a:t>Objetivo del Desarrollo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1115"/>
              </a:spcBef>
            </a:pP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Crear una herramienta capaz de ejecutar el FORECAST COMERCIAL de manera centralizada, usando una herramienta diseñada a medida, con tecnología moderna, segura y en la nube.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400" dirty="0">
              <a:latin typeface="Arial"/>
              <a:cs typeface="Arial"/>
            </a:endParaRPr>
          </a:p>
          <a:p>
            <a:pPr marL="203200" indent="-190500">
              <a:lnSpc>
                <a:spcPct val="200000"/>
              </a:lnSpc>
              <a:buAutoNum type="arabicPeriod"/>
              <a:tabLst>
                <a:tab pos="203200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PROYECTAR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rial"/>
                <a:cs typeface="Arial"/>
              </a:rPr>
              <a:t>Proyectar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spc="-10" dirty="0">
                <a:solidFill>
                  <a:srgbClr val="333333"/>
                </a:solidFill>
                <a:latin typeface="Arial"/>
                <a:cs typeface="Arial"/>
              </a:rPr>
              <a:t>Ventas y hacer un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P&amp;L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 a nivel GROSS MARGIN</a:t>
            </a:r>
            <a:r>
              <a:rPr sz="14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endParaRPr lang="es-MX" sz="1400" spc="-65" dirty="0">
              <a:solidFill>
                <a:srgbClr val="333333"/>
              </a:solidFill>
              <a:latin typeface="Arial"/>
              <a:cs typeface="Arial"/>
            </a:endParaRPr>
          </a:p>
          <a:p>
            <a:pPr marL="203200" indent="-190500">
              <a:lnSpc>
                <a:spcPct val="200000"/>
              </a:lnSpc>
              <a:buAutoNum type="arabicPeriod"/>
              <a:tabLst>
                <a:tab pos="203200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COTIZAR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Cotizar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viajes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fuera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contrato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estructurando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"paquetes"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que maximicen rentabilidad</a:t>
            </a:r>
            <a:endParaRPr sz="1400" dirty="0">
              <a:latin typeface="Arial"/>
              <a:cs typeface="Arial"/>
            </a:endParaRPr>
          </a:p>
          <a:p>
            <a:pPr marL="210185" indent="-197485">
              <a:lnSpc>
                <a:spcPct val="200000"/>
              </a:lnSpc>
              <a:spcBef>
                <a:spcPts val="560"/>
              </a:spcBef>
              <a:buAutoNum type="arabicPeriod"/>
              <a:tabLst>
                <a:tab pos="210185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MEDIR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Comparar las proyecciones comerciales con la ejecución real a lo largo del tiempo y medir la ejecución mediante una serie de </a:t>
            </a:r>
            <a:r>
              <a:rPr lang="es-MX" sz="1400" dirty="0" err="1">
                <a:solidFill>
                  <a:srgbClr val="333333"/>
                </a:solidFill>
                <a:latin typeface="Arial"/>
                <a:cs typeface="Arial"/>
              </a:rPr>
              <a:t>KPI´s</a:t>
            </a:r>
            <a:endParaRPr lang="es-MX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210185" indent="-197485">
              <a:lnSpc>
                <a:spcPct val="200000"/>
              </a:lnSpc>
              <a:spcBef>
                <a:spcPts val="560"/>
              </a:spcBef>
              <a:buAutoNum type="arabicPeriod"/>
              <a:tabLst>
                <a:tab pos="210185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MEJORAR: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Basados en los resultados medidos por cada KPI, proponer estrategias comerciales que permitan elevar las ventas y la rentabilidad</a:t>
            </a:r>
            <a:endParaRPr sz="1400" b="1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97291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9418" y="1034495"/>
            <a:ext cx="69145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Esquema</a:t>
            </a:r>
            <a:r>
              <a:rPr spc="-90" dirty="0"/>
              <a:t> </a:t>
            </a:r>
            <a:r>
              <a:rPr dirty="0"/>
              <a:t>Lógico</a:t>
            </a:r>
            <a:r>
              <a:rPr spc="-9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Pricing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621956"/>
            <a:ext cx="79444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Resumen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la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Estructura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Cobro: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Implantación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vs.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Tarifa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Recurrente.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9999" y="2059219"/>
            <a:ext cx="1822450" cy="1815464"/>
            <a:chOff x="539999" y="2059219"/>
            <a:chExt cx="1822450" cy="1815464"/>
          </a:xfrm>
        </p:grpSpPr>
        <p:sp>
          <p:nvSpPr>
            <p:cNvPr id="6" name="object 6"/>
            <p:cNvSpPr/>
            <p:nvPr/>
          </p:nvSpPr>
          <p:spPr>
            <a:xfrm>
              <a:off x="539999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3" y="0"/>
                  </a:lnTo>
                  <a:lnTo>
                    <a:pt x="1786983" y="4509"/>
                  </a:lnTo>
                  <a:lnTo>
                    <a:pt x="1805155" y="16787"/>
                  </a:lnTo>
                  <a:lnTo>
                    <a:pt x="1817433" y="34959"/>
                  </a:lnTo>
                  <a:lnTo>
                    <a:pt x="1821943" y="57150"/>
                  </a:lnTo>
                  <a:lnTo>
                    <a:pt x="1821943" y="1758315"/>
                  </a:lnTo>
                  <a:lnTo>
                    <a:pt x="1817433" y="1780505"/>
                  </a:lnTo>
                  <a:lnTo>
                    <a:pt x="1805155" y="1798677"/>
                  </a:lnTo>
                  <a:lnTo>
                    <a:pt x="1786983" y="1810955"/>
                  </a:lnTo>
                  <a:lnTo>
                    <a:pt x="1764793" y="1815465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1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65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3603" y="2129129"/>
            <a:ext cx="975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1: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Diseño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787" y="2421870"/>
            <a:ext cx="1469390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Pago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fijo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inicial.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787" y="2702536"/>
            <a:ext cx="1549400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Determinado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reportes</a:t>
            </a:r>
            <a:endParaRPr sz="850" dirty="0">
              <a:latin typeface="Verdana"/>
              <a:cs typeface="Verdana"/>
            </a:endParaRPr>
          </a:p>
          <a:p>
            <a:pPr marL="12700" marR="50800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 reproducir y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negocios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75302" y="2059219"/>
            <a:ext cx="1822450" cy="1815464"/>
            <a:chOff x="2575302" y="2059219"/>
            <a:chExt cx="1822450" cy="1815464"/>
          </a:xfrm>
        </p:grpSpPr>
        <p:sp>
          <p:nvSpPr>
            <p:cNvPr id="12" name="object 12"/>
            <p:cNvSpPr/>
            <p:nvPr/>
          </p:nvSpPr>
          <p:spPr>
            <a:xfrm>
              <a:off x="2575302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75293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85862" y="2129129"/>
            <a:ext cx="1202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2: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Desarrollo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3090" y="2400276"/>
            <a:ext cx="1660525" cy="303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entrega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hitos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funcionales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3090" y="3004797"/>
            <a:ext cx="1627505" cy="456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Vinculado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pantallas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25" dirty="0">
                <a:solidFill>
                  <a:srgbClr val="333333"/>
                </a:solidFill>
                <a:latin typeface="Verdana"/>
                <a:cs typeface="Verdana"/>
              </a:rPr>
              <a:t>SW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conectar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0605" y="2059219"/>
            <a:ext cx="1822450" cy="1815464"/>
            <a:chOff x="4610605" y="2059219"/>
            <a:chExt cx="1822450" cy="1815464"/>
          </a:xfrm>
        </p:grpSpPr>
        <p:sp>
          <p:nvSpPr>
            <p:cNvPr id="18" name="object 18"/>
            <p:cNvSpPr/>
            <p:nvPr/>
          </p:nvSpPr>
          <p:spPr>
            <a:xfrm>
              <a:off x="4610605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0595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0853" y="2129129"/>
            <a:ext cx="1301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3: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ETL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(Carga)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8392" y="2400276"/>
            <a:ext cx="1514475" cy="32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volumen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carga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datos.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8392" y="2853666"/>
            <a:ext cx="1661160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Relacionado</a:t>
            </a:r>
            <a:r>
              <a:rPr sz="850" spc="-6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con</a:t>
            </a:r>
            <a:endParaRPr sz="850" dirty="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años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viajes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flota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endParaRPr sz="8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que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se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deseen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10" dirty="0">
                <a:solidFill>
                  <a:srgbClr val="333333"/>
                </a:solidFill>
                <a:latin typeface="Verdana"/>
                <a:cs typeface="Verdana"/>
              </a:rPr>
              <a:t>cargar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45906" y="2059219"/>
            <a:ext cx="1822450" cy="1815464"/>
            <a:chOff x="6645906" y="2059219"/>
            <a:chExt cx="1822450" cy="1815464"/>
          </a:xfrm>
        </p:grpSpPr>
        <p:sp>
          <p:nvSpPr>
            <p:cNvPr id="24" name="object 24"/>
            <p:cNvSpPr/>
            <p:nvPr/>
          </p:nvSpPr>
          <p:spPr>
            <a:xfrm>
              <a:off x="6645906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8F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45897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13041" y="2129129"/>
            <a:ext cx="1287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4: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Onboarding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3694" y="2400276"/>
            <a:ext cx="1581785" cy="3276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implementación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sistema.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23694" y="2853666"/>
            <a:ext cx="165798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Medido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nivel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endParaRPr sz="850" dirty="0">
              <a:latin typeface="Verdana"/>
              <a:cs typeface="Verdana"/>
            </a:endParaRPr>
          </a:p>
          <a:p>
            <a:pPr marL="12700" marR="27305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entrenamiento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equipos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comerciales.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681208" y="2059219"/>
            <a:ext cx="1822450" cy="1815464"/>
            <a:chOff x="8681208" y="2059219"/>
            <a:chExt cx="1822450" cy="1815464"/>
          </a:xfrm>
        </p:grpSpPr>
        <p:sp>
          <p:nvSpPr>
            <p:cNvPr id="30" name="object 30"/>
            <p:cNvSpPr/>
            <p:nvPr/>
          </p:nvSpPr>
          <p:spPr>
            <a:xfrm>
              <a:off x="8681208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6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63" y="0"/>
                  </a:lnTo>
                  <a:lnTo>
                    <a:pt x="1786953" y="4509"/>
                  </a:lnTo>
                  <a:lnTo>
                    <a:pt x="1805125" y="16787"/>
                  </a:lnTo>
                  <a:lnTo>
                    <a:pt x="1817403" y="34959"/>
                  </a:lnTo>
                  <a:lnTo>
                    <a:pt x="1821913" y="57150"/>
                  </a:lnTo>
                  <a:lnTo>
                    <a:pt x="1821913" y="1758315"/>
                  </a:lnTo>
                  <a:lnTo>
                    <a:pt x="1817403" y="1780505"/>
                  </a:lnTo>
                  <a:lnTo>
                    <a:pt x="1805125" y="1798677"/>
                  </a:lnTo>
                  <a:lnTo>
                    <a:pt x="1786953" y="1810955"/>
                  </a:lnTo>
                  <a:lnTo>
                    <a:pt x="1764763" y="1815465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81199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16" y="57150"/>
                  </a:moveTo>
                  <a:lnTo>
                    <a:pt x="1817408" y="34950"/>
                  </a:lnTo>
                  <a:lnTo>
                    <a:pt x="1807629" y="20497"/>
                  </a:lnTo>
                  <a:lnTo>
                    <a:pt x="1807629" y="288607"/>
                  </a:lnTo>
                  <a:lnTo>
                    <a:pt x="1807629" y="1758315"/>
                  </a:lnTo>
                  <a:lnTo>
                    <a:pt x="1804250" y="1774952"/>
                  </a:lnTo>
                  <a:lnTo>
                    <a:pt x="1795056" y="1788579"/>
                  </a:lnTo>
                  <a:lnTo>
                    <a:pt x="1781429" y="1797786"/>
                  </a:lnTo>
                  <a:lnTo>
                    <a:pt x="1764766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29" y="288607"/>
                  </a:lnTo>
                  <a:lnTo>
                    <a:pt x="1807629" y="20497"/>
                  </a:lnTo>
                  <a:lnTo>
                    <a:pt x="1805127" y="16789"/>
                  </a:lnTo>
                  <a:lnTo>
                    <a:pt x="1801431" y="14287"/>
                  </a:lnTo>
                  <a:lnTo>
                    <a:pt x="1786953" y="4508"/>
                  </a:lnTo>
                  <a:lnTo>
                    <a:pt x="1764766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66" y="1815465"/>
                  </a:lnTo>
                  <a:lnTo>
                    <a:pt x="1801431" y="1801177"/>
                  </a:lnTo>
                  <a:lnTo>
                    <a:pt x="1821916" y="1758315"/>
                  </a:lnTo>
                  <a:lnTo>
                    <a:pt x="1821916" y="5715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105258" y="2129129"/>
            <a:ext cx="974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5: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Verdana"/>
                <a:cs typeface="Verdana"/>
              </a:rPr>
              <a:t>Situ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58996" y="2400276"/>
            <a:ext cx="1339850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días/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hombre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soporte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presencial.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58996" y="3004797"/>
            <a:ext cx="161734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Dependiente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analistas</a:t>
            </a:r>
            <a:endParaRPr sz="850">
              <a:latin typeface="Verdana"/>
              <a:cs typeface="Verdana"/>
            </a:endParaRPr>
          </a:p>
          <a:p>
            <a:pPr marL="12700" marR="56515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comerciales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capacitar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cara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horas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refinación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oficina.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9999" y="4065184"/>
            <a:ext cx="9963150" cy="1581326"/>
            <a:chOff x="539999" y="4065184"/>
            <a:chExt cx="9963150" cy="1290320"/>
          </a:xfrm>
        </p:grpSpPr>
        <p:sp>
          <p:nvSpPr>
            <p:cNvPr id="36" name="object 36"/>
            <p:cNvSpPr/>
            <p:nvPr/>
          </p:nvSpPr>
          <p:spPr>
            <a:xfrm>
              <a:off x="539999" y="4065184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886922" y="1290323"/>
                  </a:moveTo>
                  <a:lnTo>
                    <a:pt x="76200" y="1290323"/>
                  </a:lnTo>
                  <a:lnTo>
                    <a:pt x="46612" y="1284310"/>
                  </a:lnTo>
                  <a:lnTo>
                    <a:pt x="22383" y="1267939"/>
                  </a:lnTo>
                  <a:lnTo>
                    <a:pt x="6012" y="1243710"/>
                  </a:lnTo>
                  <a:lnTo>
                    <a:pt x="0" y="12141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1214123"/>
                  </a:lnTo>
                  <a:lnTo>
                    <a:pt x="9957110" y="1243710"/>
                  </a:lnTo>
                  <a:lnTo>
                    <a:pt x="9940738" y="1267939"/>
                  </a:lnTo>
                  <a:lnTo>
                    <a:pt x="9916509" y="1284310"/>
                  </a:lnTo>
                  <a:lnTo>
                    <a:pt x="9886922" y="1290323"/>
                  </a:lnTo>
                  <a:close/>
                </a:path>
              </a:pathLst>
            </a:custGeom>
            <a:solidFill>
              <a:srgbClr val="F2E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9991" y="4065193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963125" y="76200"/>
                  </a:moveTo>
                  <a:lnTo>
                    <a:pt x="9957117" y="46609"/>
                  </a:lnTo>
                  <a:lnTo>
                    <a:pt x="9944075" y="27305"/>
                  </a:lnTo>
                  <a:lnTo>
                    <a:pt x="9944075" y="367030"/>
                  </a:lnTo>
                  <a:lnTo>
                    <a:pt x="9944075" y="1214120"/>
                  </a:lnTo>
                  <a:lnTo>
                    <a:pt x="9939566" y="1236306"/>
                  </a:lnTo>
                  <a:lnTo>
                    <a:pt x="9927285" y="1254480"/>
                  </a:lnTo>
                  <a:lnTo>
                    <a:pt x="9909111" y="1266761"/>
                  </a:lnTo>
                  <a:lnTo>
                    <a:pt x="9886925" y="1271270"/>
                  </a:lnTo>
                  <a:lnTo>
                    <a:pt x="76200" y="1271270"/>
                  </a:lnTo>
                  <a:lnTo>
                    <a:pt x="54013" y="1266761"/>
                  </a:lnTo>
                  <a:lnTo>
                    <a:pt x="35839" y="1254480"/>
                  </a:lnTo>
                  <a:lnTo>
                    <a:pt x="23558" y="1236306"/>
                  </a:lnTo>
                  <a:lnTo>
                    <a:pt x="19050" y="1214120"/>
                  </a:lnTo>
                  <a:lnTo>
                    <a:pt x="19050" y="367030"/>
                  </a:lnTo>
                  <a:lnTo>
                    <a:pt x="9944075" y="367030"/>
                  </a:lnTo>
                  <a:lnTo>
                    <a:pt x="9944075" y="27305"/>
                  </a:lnTo>
                  <a:lnTo>
                    <a:pt x="9940747" y="22377"/>
                  </a:lnTo>
                  <a:lnTo>
                    <a:pt x="9935807" y="19050"/>
                  </a:lnTo>
                  <a:lnTo>
                    <a:pt x="9916516" y="6007"/>
                  </a:lnTo>
                  <a:lnTo>
                    <a:pt x="9886925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1214120"/>
                  </a:lnTo>
                  <a:lnTo>
                    <a:pt x="6019" y="1243711"/>
                  </a:lnTo>
                  <a:lnTo>
                    <a:pt x="22390" y="1267942"/>
                  </a:lnTo>
                  <a:lnTo>
                    <a:pt x="46609" y="1284312"/>
                  </a:lnTo>
                  <a:lnTo>
                    <a:pt x="76200" y="1290320"/>
                  </a:lnTo>
                  <a:lnTo>
                    <a:pt x="9886925" y="1290320"/>
                  </a:lnTo>
                  <a:lnTo>
                    <a:pt x="9916516" y="1284312"/>
                  </a:lnTo>
                  <a:lnTo>
                    <a:pt x="9935807" y="1271270"/>
                  </a:lnTo>
                  <a:lnTo>
                    <a:pt x="9940747" y="1267942"/>
                  </a:lnTo>
                  <a:lnTo>
                    <a:pt x="9957117" y="1243711"/>
                  </a:lnTo>
                  <a:lnTo>
                    <a:pt x="9963125" y="1214120"/>
                  </a:lnTo>
                  <a:lnTo>
                    <a:pt x="9963125" y="76200"/>
                  </a:lnTo>
                  <a:close/>
                </a:path>
              </a:pathLst>
            </a:custGeom>
            <a:solidFill>
              <a:srgbClr val="691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9224" y="4161392"/>
            <a:ext cx="6136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6: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Tarifa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Recurrente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Mensual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Soporte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Alojamiento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(Mantenimiento)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9224" y="4521475"/>
            <a:ext cx="9462770" cy="88479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290"/>
              </a:spcBef>
            </a:pP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Pago:</a:t>
            </a:r>
            <a:r>
              <a:rPr sz="95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Suscripción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mensual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posterior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despliegue.</a:t>
            </a:r>
            <a:endParaRPr sz="95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</a:pPr>
            <a:r>
              <a:rPr sz="950" b="1" spc="-10" dirty="0">
                <a:solidFill>
                  <a:srgbClr val="333333"/>
                </a:solidFill>
                <a:latin typeface="Verdana"/>
                <a:cs typeface="Verdana"/>
              </a:rPr>
              <a:t>Cobertura: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Asegura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acceso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seguro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software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web.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Incluye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costo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servidor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dedicado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nube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(VPS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Contabo),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el costo 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datos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centralizada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(Supabase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PostgreSQL),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respaldos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diarios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 err="1">
                <a:solidFill>
                  <a:srgbClr val="333333"/>
                </a:solidFill>
                <a:latin typeface="Verdana"/>
                <a:cs typeface="Verdana"/>
              </a:rPr>
              <a:t>seguridad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la base de datos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resolución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incidentes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mejoras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comercial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(mantenimiento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correctivo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evolutivo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 err="1">
                <a:solidFill>
                  <a:srgbClr val="333333"/>
                </a:solidFill>
                <a:latin typeface="Verdana"/>
                <a:cs typeface="Verdana"/>
              </a:rPr>
              <a:t>menor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).</a:t>
            </a:r>
            <a:r>
              <a:rPr lang="es-MX" sz="950" spc="-10" dirty="0">
                <a:solidFill>
                  <a:srgbClr val="333333"/>
                </a:solidFill>
                <a:latin typeface="Verdana"/>
                <a:cs typeface="Verdana"/>
              </a:rPr>
              <a:t> No incluye nuevos desarrollos</a:t>
            </a:r>
            <a:endParaRPr sz="950" dirty="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500" y="1000760"/>
            <a:ext cx="9668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Propuesta</a:t>
            </a:r>
            <a:r>
              <a:rPr spc="-35" dirty="0"/>
              <a:t> </a:t>
            </a:r>
            <a:r>
              <a:rPr dirty="0" err="1"/>
              <a:t>Comercial</a:t>
            </a:r>
            <a:r>
              <a:rPr spc="-35" dirty="0"/>
              <a:t> </a:t>
            </a:r>
            <a:r>
              <a:rPr dirty="0"/>
              <a:t>Modular</a:t>
            </a:r>
            <a:r>
              <a:rPr lang="es-MX" dirty="0"/>
              <a:t> PROYECTAR &amp; COTIZAR</a:t>
            </a:r>
            <a:r>
              <a:rPr spc="-3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35" dirty="0"/>
              <a:t> </a:t>
            </a:r>
            <a:r>
              <a:rPr dirty="0" err="1"/>
              <a:t>Petral</a:t>
            </a:r>
            <a:endParaRPr spc="-2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058216"/>
              </p:ext>
            </p:extLst>
          </p:nvPr>
        </p:nvGraphicFramePr>
        <p:xfrm>
          <a:off x="801280" y="1574482"/>
          <a:ext cx="9090024" cy="51914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25755" indent="0" algn="ctr" defTabSz="1260475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</a:t>
                      </a:r>
                      <a:r>
                        <a:rPr lang="es-MX" sz="105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(USD/</a:t>
                      </a:r>
                      <a:r>
                        <a:rPr lang="es-MX" sz="1050" b="1" spc="-10" dirty="0" err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hr</a:t>
                      </a:r>
                      <a:r>
                        <a:rPr lang="es-MX" sz="105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)</a:t>
                      </a:r>
                      <a:endParaRPr sz="1050" dirty="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1: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245745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Forecast: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proyectar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ventas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hacer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P&amp;L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nivel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Margin.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289560">
                        <a:lnSpc>
                          <a:spcPct val="133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Cotización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(Proformador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SPOT):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para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6258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estructurar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paquetes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viajes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maximicen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rentabilidad.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 marR="21526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 etapas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 marR="17081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</a:t>
                      </a:r>
                      <a:r>
                        <a:rPr sz="11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adicional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diseño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MEDIR &amp; MEJORAR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125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1,250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9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2: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Desarrollo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745" marR="135255" algn="just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Stack</a:t>
                      </a:r>
                      <a:r>
                        <a:rPr sz="1100" b="1" spc="-5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Tecnológico: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Construcción</a:t>
                      </a:r>
                      <a:r>
                        <a:rPr sz="11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conectando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(Supabase)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frontend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rápido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 algn="just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(Vite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React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Tailwind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ECharts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).</a:t>
                      </a:r>
                      <a:endParaRPr lang="es-MX" sz="1100" spc="-10" dirty="0">
                        <a:solidFill>
                          <a:srgbClr val="465469"/>
                        </a:solidFill>
                        <a:latin typeface="Verdana"/>
                        <a:cs typeface="Verdana"/>
                      </a:endParaRPr>
                    </a:p>
                    <a:p>
                      <a:pPr marL="118745" algn="just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PE" sz="1100" spc="-10" dirty="0">
                        <a:solidFill>
                          <a:srgbClr val="465469"/>
                        </a:solidFill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s-MX"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lang="es-MX"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Matemática:</a:t>
                      </a:r>
                      <a:r>
                        <a:rPr lang="es-MX"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Programación</a:t>
                      </a:r>
                      <a:endParaRPr lang="es-MX" sz="1100" dirty="0">
                        <a:latin typeface="Verdana"/>
                        <a:cs typeface="Verdana"/>
                      </a:endParaRPr>
                    </a:p>
                    <a:p>
                      <a:pPr marL="118745" marR="361315">
                        <a:lnSpc>
                          <a:spcPct val="133300"/>
                        </a:lnSpc>
                      </a:pP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lang="es-MX"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algoritmos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APIs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cálculos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avanzados</a:t>
                      </a:r>
                      <a:r>
                        <a:rPr lang="es-MX"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lang="es-MX"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creación</a:t>
                      </a:r>
                      <a:r>
                        <a:rPr lang="es-MX"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lang="es-MX"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pantallas.</a:t>
                      </a:r>
                      <a:endParaRPr lang="es-MX" sz="1100" dirty="0">
                        <a:latin typeface="Verdana"/>
                        <a:cs typeface="Verdana"/>
                      </a:endParaRPr>
                    </a:p>
                    <a:p>
                      <a:pPr marL="118745" algn="just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745" marR="215265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 etapas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lang="es-PE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equerirán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nuevos desarrollos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80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4,000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63813"/>
              </p:ext>
            </p:extLst>
          </p:nvPr>
        </p:nvGraphicFramePr>
        <p:xfrm>
          <a:off x="796200" y="895237"/>
          <a:ext cx="9090024" cy="5497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32384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desarrollos.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2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3:</a:t>
                      </a:r>
                      <a:r>
                        <a:rPr sz="11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ETL</a:t>
                      </a:r>
                      <a:r>
                        <a:rPr sz="1100" b="1" spc="-1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(Carga)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563880" algn="just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Alcance</a:t>
                      </a:r>
                      <a:r>
                        <a:rPr sz="1100" b="1" spc="-5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5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Carga: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Integración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exclusiva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comercial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Proceso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ETL: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Extracción,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Transformación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Supabase.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Solo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4226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cargarán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meses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236220">
                        <a:lnSpc>
                          <a:spcPct val="133300"/>
                        </a:lnSpc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transcurridos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9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4: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Onboarding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Entrenamiento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Operativo: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16065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Capacitación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web.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Clave: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Jorge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Neyra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Maria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Elena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Castro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Fernando</a:t>
                      </a:r>
                      <a:r>
                        <a:rPr sz="1100" spc="-8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Harten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Iosef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Zavala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66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241300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onboarding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será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66395">
                        <a:lnSpc>
                          <a:spcPct val="133300"/>
                        </a:lnSpc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mayoría presencial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elección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cliente.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4" y="5840464"/>
            <a:ext cx="8992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Comentarios</a:t>
            </a:r>
            <a:r>
              <a:rPr sz="11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del</a:t>
            </a:r>
            <a:r>
              <a:rPr sz="11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Consultor</a:t>
            </a:r>
            <a:r>
              <a:rPr sz="11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(Geeksoft):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mi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experiencia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implementando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este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tipo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transiciones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procesos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legacy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(herramientas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 basadas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íntegramente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Excel)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hacia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ecosistemas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centralizados,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adoptar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un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enfoque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modular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es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estrategia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más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segura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con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mayor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tasa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éxito.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Permitir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el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equipo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(especialmente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aquellos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perfiles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muy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habituados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sus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hojas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cálculo)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valide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el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sistema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paso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paso,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tener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una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etapa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96200" y="895237"/>
          <a:ext cx="9176385" cy="4479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5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5: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Situ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r>
                        <a:rPr sz="1100" b="1" spc="-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Presencial</a:t>
                      </a:r>
                      <a:r>
                        <a:rPr sz="1100" b="1" spc="-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(Go-Live):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168910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Acompañamiento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oficina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operando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real.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Convivencia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"Dos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Mundos":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Comparación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paralelo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27876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resultados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vs.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66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[Ingresar]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2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6: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Mantenimiento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313690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Suscripción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Mensual:</a:t>
                      </a:r>
                      <a:r>
                        <a:rPr sz="1100" b="1" spc="-2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Asegura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operatividad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24/7.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360680">
                        <a:lnSpc>
                          <a:spcPct val="133300"/>
                        </a:lnSpc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Cobertura: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nube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(Contabo),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(Supabase)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labores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evolutivo.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19621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Geeksoft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paga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directamente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220979" algn="just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asociados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[Fija</a:t>
                      </a:r>
                      <a:r>
                        <a:rPr sz="1100" b="1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N/A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33070" marR="309245" indent="-116205">
                        <a:lnSpc>
                          <a:spcPct val="133300"/>
                        </a:lnSpc>
                      </a:pPr>
                      <a:r>
                        <a:rPr sz="11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 </a:t>
                      </a:r>
                      <a:r>
                        <a:rPr sz="1100" b="1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/ </a:t>
                      </a:r>
                      <a:r>
                        <a:rPr sz="11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500" y="851907"/>
            <a:ext cx="8921750" cy="47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formal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convivencia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"dos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mundos",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reduce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drásticamente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resistencia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al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cambio.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Esto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asegura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herramienta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no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solo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sea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un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avance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tecnológico,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sino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genere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confianza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plena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números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arroja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frente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modelos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tradicionales.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1000</Words>
  <Application>Microsoft Office PowerPoint</Application>
  <PresentationFormat>Custom</PresentationFormat>
  <Paragraphs>286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Verdana</vt:lpstr>
      <vt:lpstr>Office Theme</vt:lpstr>
      <vt:lpstr>PowerPoint Presentation</vt:lpstr>
      <vt:lpstr>Fase 1: Diseño del Sistema - Alcance</vt:lpstr>
      <vt:lpstr>Esquema Lógico de Pricing</vt:lpstr>
      <vt:lpstr>Propuesta Comercial Modular PROYECTAR &amp; COTIZAR - Naviera Petral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Gutierrez</cp:lastModifiedBy>
  <cp:revision>2</cp:revision>
  <dcterms:created xsi:type="dcterms:W3CDTF">2026-06-22T21:52:18Z</dcterms:created>
  <dcterms:modified xsi:type="dcterms:W3CDTF">2026-06-22T22:00:48Z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2026-06-22T00:00:00Z</vt:filetime>
  </property>
  <property fmtid="{D5CDD505-2E9C-101B-9397-08002B2CF9AE}" pid="3" name="LastSaved">
    <vt:filetime>2026-06-22T00:00:00Z</vt:filetime>
  </property>
  <property fmtid="{D5CDD505-2E9C-101B-9397-08002B2CF9AE}" pid="4" name="Producer">
    <vt:lpwstr>3-Heights(TM) PDF Security Shell 4.8.25.2 (http://www.pdf-tools.com)</vt:lpwstr>
  </property>
</Properties>
</file>