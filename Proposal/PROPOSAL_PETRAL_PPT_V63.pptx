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349"/>
    <a:srgbClr val="F9A824"/>
    <a:srgbClr val="E650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>
      <p:cViewPr varScale="1">
        <p:scale>
          <a:sx n="69" d="100"/>
          <a:sy n="69" d="100"/>
        </p:scale>
        <p:origin x="62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299" y="1063710"/>
            <a:ext cx="929259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899" y="2045246"/>
            <a:ext cx="10039350" cy="3875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74869" y="6847461"/>
            <a:ext cx="434340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3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andes.geeksoft.tech/CRM_Cha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abase.com/dashboard/project/mancsrsbtzgctgorpogs/editor/17496?schema=publ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77" y="4811817"/>
            <a:ext cx="8765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Navigating</a:t>
            </a:r>
            <a:r>
              <a:rPr sz="32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Future: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Inteligencia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F2B59"/>
                </a:solidFill>
                <a:latin typeface="Arial"/>
                <a:cs typeface="Arial"/>
              </a:rPr>
              <a:t>Comercial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30" y="5435971"/>
            <a:ext cx="8673465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Transición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procesos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legacy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un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ecosistema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datos</a:t>
            </a:r>
            <a:r>
              <a:rPr sz="18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centralizado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45454"/>
                </a:solidFill>
                <a:latin typeface="Arial"/>
                <a:cs typeface="Arial"/>
              </a:rPr>
              <a:t>y</a:t>
            </a:r>
            <a:r>
              <a:rPr sz="1800" i="1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545454"/>
                </a:solidFill>
                <a:latin typeface="Arial"/>
                <a:cs typeface="Arial"/>
              </a:rPr>
              <a:t>automatizado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800" dirty="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Objetivo:</a:t>
            </a:r>
            <a:r>
              <a:rPr sz="1400" b="1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Modernización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integral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la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gestión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5" dirty="0">
                <a:solidFill>
                  <a:srgbClr val="333333"/>
                </a:solidFill>
                <a:latin typeface="Arial"/>
                <a:cs typeface="Arial"/>
              </a:rPr>
              <a:t>Comercial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2003" y="0"/>
            <a:ext cx="3960495" cy="1800225"/>
            <a:chOff x="6732003" y="0"/>
            <a:chExt cx="3960495" cy="180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126" y="252000"/>
              <a:ext cx="952500" cy="95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2003" y="0"/>
              <a:ext cx="3960495" cy="1800225"/>
            </a:xfrm>
            <a:custGeom>
              <a:avLst/>
              <a:gdLst/>
              <a:ahLst/>
              <a:cxnLst/>
              <a:rect l="l" t="t" r="r" b="b"/>
              <a:pathLst>
                <a:path w="3960495" h="1800225">
                  <a:moveTo>
                    <a:pt x="3960000" y="1800003"/>
                  </a:moveTo>
                  <a:lnTo>
                    <a:pt x="0" y="1800003"/>
                  </a:lnTo>
                  <a:lnTo>
                    <a:pt x="0" y="0"/>
                  </a:lnTo>
                  <a:lnTo>
                    <a:pt x="3960000" y="0"/>
                  </a:lnTo>
                  <a:lnTo>
                    <a:pt x="3960000" y="1800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825" y="1908000"/>
            <a:ext cx="2857499" cy="2857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1038895"/>
            <a:ext cx="7627120" cy="56321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object 22">
            <a:extLst>
              <a:ext uri="{FF2B5EF4-FFF2-40B4-BE49-F238E27FC236}">
                <a16:creationId xmlns:a16="http://schemas.microsoft.com/office/drawing/2014/main" id="{DFDF53EA-82F7-C2A6-8CDE-CCF036FAC664}"/>
              </a:ext>
            </a:extLst>
          </p:cNvPr>
          <p:cNvSpPr txBox="1">
            <a:spLocks/>
          </p:cNvSpPr>
          <p:nvPr/>
        </p:nvSpPr>
        <p:spPr>
          <a:xfrm>
            <a:off x="502786" y="547749"/>
            <a:ext cx="9292590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PE" sz="2600" b="1" dirty="0">
                <a:solidFill>
                  <a:srgbClr val="0F2B59"/>
                </a:solidFill>
                <a:latin typeface="Arial"/>
                <a:cs typeface="Arial"/>
              </a:rPr>
              <a:t>Lo que suele suceder en desarrollo de sistemas: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680323"/>
            <a:ext cx="1694180" cy="2036445"/>
            <a:chOff x="539999" y="1713776"/>
            <a:chExt cx="1694180" cy="2036445"/>
          </a:xfrm>
        </p:grpSpPr>
        <p:sp>
          <p:nvSpPr>
            <p:cNvPr id="3" name="object 3"/>
            <p:cNvSpPr/>
            <p:nvPr/>
          </p:nvSpPr>
          <p:spPr>
            <a:xfrm>
              <a:off x="539999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80" h="403860">
                  <a:moveTo>
                    <a:pt x="1693736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6" y="0"/>
                  </a:lnTo>
                  <a:lnTo>
                    <a:pt x="1647123" y="6012"/>
                  </a:lnTo>
                  <a:lnTo>
                    <a:pt x="1671352" y="22383"/>
                  </a:lnTo>
                  <a:lnTo>
                    <a:pt x="1687723" y="46612"/>
                  </a:lnTo>
                  <a:lnTo>
                    <a:pt x="1693736" y="76200"/>
                  </a:lnTo>
                  <a:lnTo>
                    <a:pt x="1693736" y="40386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80" h="1632585">
                  <a:moveTo>
                    <a:pt x="1617536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6" y="0"/>
                  </a:lnTo>
                  <a:lnTo>
                    <a:pt x="1693736" y="1555756"/>
                  </a:lnTo>
                  <a:lnTo>
                    <a:pt x="1687723" y="1585343"/>
                  </a:lnTo>
                  <a:lnTo>
                    <a:pt x="1671352" y="1609572"/>
                  </a:lnTo>
                  <a:lnTo>
                    <a:pt x="1647123" y="1625943"/>
                  </a:lnTo>
                  <a:lnTo>
                    <a:pt x="1617536" y="1631956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991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80" h="1632585">
                  <a:moveTo>
                    <a:pt x="1671358" y="1609585"/>
                  </a:moveTo>
                  <a:lnTo>
                    <a:pt x="1657896" y="1596123"/>
                  </a:lnTo>
                  <a:lnTo>
                    <a:pt x="1639735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19" y="1585353"/>
                  </a:lnTo>
                  <a:lnTo>
                    <a:pt x="22390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26" y="1625955"/>
                  </a:lnTo>
                  <a:lnTo>
                    <a:pt x="1666417" y="1612912"/>
                  </a:lnTo>
                  <a:lnTo>
                    <a:pt x="1671358" y="1609585"/>
                  </a:lnTo>
                  <a:close/>
                </a:path>
                <a:path w="1694180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58" y="1609572"/>
                  </a:lnTo>
                  <a:lnTo>
                    <a:pt x="1687728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07354" y="1680323"/>
            <a:ext cx="1694180" cy="2036445"/>
            <a:chOff x="2607354" y="1713776"/>
            <a:chExt cx="1694180" cy="2036445"/>
          </a:xfrm>
        </p:grpSpPr>
        <p:sp>
          <p:nvSpPr>
            <p:cNvPr id="7" name="object 7"/>
            <p:cNvSpPr/>
            <p:nvPr/>
          </p:nvSpPr>
          <p:spPr>
            <a:xfrm>
              <a:off x="2607354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7354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7348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58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90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26" y="1625955"/>
                  </a:lnTo>
                  <a:lnTo>
                    <a:pt x="1666417" y="1612912"/>
                  </a:lnTo>
                  <a:lnTo>
                    <a:pt x="1671358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58" y="1609572"/>
                  </a:lnTo>
                  <a:lnTo>
                    <a:pt x="1687728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674708" y="1680323"/>
            <a:ext cx="1694180" cy="2036445"/>
            <a:chOff x="4674708" y="1713776"/>
            <a:chExt cx="1694180" cy="2036445"/>
          </a:xfrm>
        </p:grpSpPr>
        <p:sp>
          <p:nvSpPr>
            <p:cNvPr id="11" name="object 11"/>
            <p:cNvSpPr/>
            <p:nvPr/>
          </p:nvSpPr>
          <p:spPr>
            <a:xfrm>
              <a:off x="4674708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74708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4704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35839" y="1596123"/>
                  </a:move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77" y="1609572"/>
                  </a:lnTo>
                  <a:lnTo>
                    <a:pt x="35839" y="1596123"/>
                  </a:lnTo>
                  <a:close/>
                </a:path>
                <a:path w="1694179" h="1632585">
                  <a:moveTo>
                    <a:pt x="1671345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2377" y="1609585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13" y="1625955"/>
                  </a:lnTo>
                  <a:lnTo>
                    <a:pt x="1666417" y="1612912"/>
                  </a:lnTo>
                  <a:lnTo>
                    <a:pt x="1671345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77" y="1577949"/>
                  </a:lnTo>
                  <a:lnTo>
                    <a:pt x="1657896" y="1596123"/>
                  </a:lnTo>
                  <a:lnTo>
                    <a:pt x="1671345" y="1609572"/>
                  </a:lnTo>
                  <a:lnTo>
                    <a:pt x="1687715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742062" y="1680323"/>
            <a:ext cx="1694180" cy="2036445"/>
            <a:chOff x="6742062" y="1713776"/>
            <a:chExt cx="1694180" cy="2036445"/>
          </a:xfrm>
        </p:grpSpPr>
        <p:sp>
          <p:nvSpPr>
            <p:cNvPr id="15" name="object 15"/>
            <p:cNvSpPr/>
            <p:nvPr/>
          </p:nvSpPr>
          <p:spPr>
            <a:xfrm>
              <a:off x="6742062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35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35" y="0"/>
                  </a:lnTo>
                  <a:lnTo>
                    <a:pt x="1647122" y="6012"/>
                  </a:lnTo>
                  <a:lnTo>
                    <a:pt x="1671351" y="22383"/>
                  </a:lnTo>
                  <a:lnTo>
                    <a:pt x="1687722" y="46612"/>
                  </a:lnTo>
                  <a:lnTo>
                    <a:pt x="1693735" y="76200"/>
                  </a:lnTo>
                  <a:lnTo>
                    <a:pt x="1693735" y="40386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42062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35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35" y="0"/>
                  </a:lnTo>
                  <a:lnTo>
                    <a:pt x="1693735" y="1555756"/>
                  </a:lnTo>
                  <a:lnTo>
                    <a:pt x="1687722" y="1585343"/>
                  </a:lnTo>
                  <a:lnTo>
                    <a:pt x="1671351" y="1609572"/>
                  </a:lnTo>
                  <a:lnTo>
                    <a:pt x="1647122" y="1625943"/>
                  </a:lnTo>
                  <a:lnTo>
                    <a:pt x="1617535" y="1631956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42062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45" y="1609585"/>
                  </a:moveTo>
                  <a:lnTo>
                    <a:pt x="1657896" y="1596123"/>
                  </a:lnTo>
                  <a:lnTo>
                    <a:pt x="1639722" y="1608404"/>
                  </a:lnTo>
                  <a:lnTo>
                    <a:pt x="1617535" y="1612912"/>
                  </a:lnTo>
                  <a:lnTo>
                    <a:pt x="76200" y="1612912"/>
                  </a:lnTo>
                  <a:lnTo>
                    <a:pt x="54000" y="1608404"/>
                  </a:lnTo>
                  <a:lnTo>
                    <a:pt x="35826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07" y="1585353"/>
                  </a:lnTo>
                  <a:lnTo>
                    <a:pt x="22377" y="1609572"/>
                  </a:lnTo>
                  <a:lnTo>
                    <a:pt x="46609" y="1625955"/>
                  </a:lnTo>
                  <a:lnTo>
                    <a:pt x="76200" y="1631962"/>
                  </a:lnTo>
                  <a:lnTo>
                    <a:pt x="1617535" y="1631962"/>
                  </a:lnTo>
                  <a:lnTo>
                    <a:pt x="1647113" y="1625955"/>
                  </a:lnTo>
                  <a:lnTo>
                    <a:pt x="1666417" y="1612912"/>
                  </a:lnTo>
                  <a:lnTo>
                    <a:pt x="1671345" y="1609585"/>
                  </a:lnTo>
                  <a:close/>
                </a:path>
                <a:path w="1694179" h="1632585">
                  <a:moveTo>
                    <a:pt x="1693735" y="0"/>
                  </a:moveTo>
                  <a:lnTo>
                    <a:pt x="1674685" y="0"/>
                  </a:lnTo>
                  <a:lnTo>
                    <a:pt x="1674685" y="1555762"/>
                  </a:lnTo>
                  <a:lnTo>
                    <a:pt x="1670164" y="1577949"/>
                  </a:lnTo>
                  <a:lnTo>
                    <a:pt x="1657896" y="1596123"/>
                  </a:lnTo>
                  <a:lnTo>
                    <a:pt x="1671345" y="1609572"/>
                  </a:lnTo>
                  <a:lnTo>
                    <a:pt x="1687715" y="1585353"/>
                  </a:lnTo>
                  <a:lnTo>
                    <a:pt x="1693735" y="1555762"/>
                  </a:lnTo>
                  <a:lnTo>
                    <a:pt x="1693735" y="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809415" y="1680323"/>
            <a:ext cx="1694180" cy="2036445"/>
            <a:chOff x="8809415" y="1713776"/>
            <a:chExt cx="1694180" cy="2036445"/>
          </a:xfrm>
        </p:grpSpPr>
        <p:sp>
          <p:nvSpPr>
            <p:cNvPr id="19" name="object 19"/>
            <p:cNvSpPr/>
            <p:nvPr/>
          </p:nvSpPr>
          <p:spPr>
            <a:xfrm>
              <a:off x="8809415" y="1713776"/>
              <a:ext cx="1694180" cy="403860"/>
            </a:xfrm>
            <a:custGeom>
              <a:avLst/>
              <a:gdLst/>
              <a:ahLst/>
              <a:cxnLst/>
              <a:rect l="l" t="t" r="r" b="b"/>
              <a:pathLst>
                <a:path w="1694179" h="403860">
                  <a:moveTo>
                    <a:pt x="1693706" y="403860"/>
                  </a:moveTo>
                  <a:lnTo>
                    <a:pt x="0" y="403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1617506" y="0"/>
                  </a:lnTo>
                  <a:lnTo>
                    <a:pt x="1647094" y="6012"/>
                  </a:lnTo>
                  <a:lnTo>
                    <a:pt x="1671323" y="22383"/>
                  </a:lnTo>
                  <a:lnTo>
                    <a:pt x="1687694" y="46612"/>
                  </a:lnTo>
                  <a:lnTo>
                    <a:pt x="1693706" y="76200"/>
                  </a:lnTo>
                  <a:lnTo>
                    <a:pt x="1693706" y="40386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09415" y="2117636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17506" y="1631956"/>
                  </a:moveTo>
                  <a:lnTo>
                    <a:pt x="76200" y="1631956"/>
                  </a:lnTo>
                  <a:lnTo>
                    <a:pt x="46612" y="1625943"/>
                  </a:lnTo>
                  <a:lnTo>
                    <a:pt x="22383" y="1609572"/>
                  </a:lnTo>
                  <a:lnTo>
                    <a:pt x="6012" y="1585343"/>
                  </a:lnTo>
                  <a:lnTo>
                    <a:pt x="0" y="1555756"/>
                  </a:lnTo>
                  <a:lnTo>
                    <a:pt x="0" y="0"/>
                  </a:lnTo>
                  <a:lnTo>
                    <a:pt x="1693706" y="0"/>
                  </a:lnTo>
                  <a:lnTo>
                    <a:pt x="1693706" y="1555756"/>
                  </a:lnTo>
                  <a:lnTo>
                    <a:pt x="1687694" y="1585343"/>
                  </a:lnTo>
                  <a:lnTo>
                    <a:pt x="1671323" y="1609572"/>
                  </a:lnTo>
                  <a:lnTo>
                    <a:pt x="1647094" y="1625943"/>
                  </a:lnTo>
                  <a:lnTo>
                    <a:pt x="1617506" y="1631956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09406" y="2117635"/>
              <a:ext cx="1694180" cy="1632585"/>
            </a:xfrm>
            <a:custGeom>
              <a:avLst/>
              <a:gdLst/>
              <a:ahLst/>
              <a:cxnLst/>
              <a:rect l="l" t="t" r="r" b="b"/>
              <a:pathLst>
                <a:path w="1694179" h="1632585">
                  <a:moveTo>
                    <a:pt x="1671332" y="1609585"/>
                  </a:moveTo>
                  <a:lnTo>
                    <a:pt x="1657870" y="1596123"/>
                  </a:lnTo>
                  <a:lnTo>
                    <a:pt x="1639697" y="1608404"/>
                  </a:lnTo>
                  <a:lnTo>
                    <a:pt x="1617510" y="1612912"/>
                  </a:lnTo>
                  <a:lnTo>
                    <a:pt x="76200" y="1612912"/>
                  </a:lnTo>
                  <a:lnTo>
                    <a:pt x="54013" y="1608404"/>
                  </a:lnTo>
                  <a:lnTo>
                    <a:pt x="35839" y="1596123"/>
                  </a:lnTo>
                  <a:lnTo>
                    <a:pt x="23558" y="1577949"/>
                  </a:lnTo>
                  <a:lnTo>
                    <a:pt x="19050" y="1555762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555762"/>
                  </a:lnTo>
                  <a:lnTo>
                    <a:pt x="6019" y="1585353"/>
                  </a:lnTo>
                  <a:lnTo>
                    <a:pt x="22390" y="1609572"/>
                  </a:lnTo>
                  <a:lnTo>
                    <a:pt x="46621" y="1625955"/>
                  </a:lnTo>
                  <a:lnTo>
                    <a:pt x="76200" y="1631962"/>
                  </a:lnTo>
                  <a:lnTo>
                    <a:pt x="1617510" y="1631962"/>
                  </a:lnTo>
                  <a:lnTo>
                    <a:pt x="1647101" y="1625955"/>
                  </a:lnTo>
                  <a:lnTo>
                    <a:pt x="1666392" y="1612912"/>
                  </a:lnTo>
                  <a:lnTo>
                    <a:pt x="1671332" y="1609585"/>
                  </a:lnTo>
                  <a:close/>
                </a:path>
                <a:path w="1694179" h="1632585">
                  <a:moveTo>
                    <a:pt x="1693710" y="0"/>
                  </a:moveTo>
                  <a:lnTo>
                    <a:pt x="1674660" y="0"/>
                  </a:lnTo>
                  <a:lnTo>
                    <a:pt x="1674660" y="1555762"/>
                  </a:lnTo>
                  <a:lnTo>
                    <a:pt x="1670151" y="1577949"/>
                  </a:lnTo>
                  <a:lnTo>
                    <a:pt x="1657870" y="1596123"/>
                  </a:lnTo>
                  <a:lnTo>
                    <a:pt x="1671332" y="1609572"/>
                  </a:lnTo>
                  <a:lnTo>
                    <a:pt x="1687703" y="1585353"/>
                  </a:lnTo>
                  <a:lnTo>
                    <a:pt x="1693710" y="1555762"/>
                  </a:lnTo>
                  <a:lnTo>
                    <a:pt x="1693710" y="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Roadmap:</a:t>
            </a:r>
            <a:r>
              <a:rPr spc="-130" dirty="0"/>
              <a:t> </a:t>
            </a:r>
            <a:r>
              <a:rPr spc="-10" dirty="0"/>
              <a:t>Enfoque</a:t>
            </a:r>
            <a:r>
              <a:rPr spc="-175" dirty="0"/>
              <a:t> </a:t>
            </a:r>
            <a:r>
              <a:rPr dirty="0"/>
              <a:t>AGILE</a:t>
            </a:r>
            <a:r>
              <a:rPr spc="-95" dirty="0"/>
              <a:t> </a:t>
            </a:r>
            <a:r>
              <a:rPr dirty="0"/>
              <a:t>(Proceso</a:t>
            </a:r>
            <a:r>
              <a:rPr spc="-100" dirty="0"/>
              <a:t> </a:t>
            </a:r>
            <a:r>
              <a:rPr spc="-10" dirty="0"/>
              <a:t>Iterativo)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00017" y="1769988"/>
            <a:ext cx="774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Alcance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1033" y="2258782"/>
            <a:ext cx="11322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0F2B59"/>
                </a:solidFill>
                <a:latin typeface="Arial"/>
                <a:cs typeface="Arial"/>
              </a:rPr>
              <a:t>Diseño del </a:t>
            </a:r>
            <a:r>
              <a:rPr sz="950" b="1" spc="-10" dirty="0">
                <a:solidFill>
                  <a:srgbClr val="0F2B59"/>
                </a:solidFill>
                <a:latin typeface="Arial"/>
                <a:cs typeface="Arial"/>
              </a:rPr>
              <a:t>Sistema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4182" y="2821386"/>
            <a:ext cx="865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Llegar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al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mejor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9939" y="3105866"/>
            <a:ext cx="1134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entendimiento</a:t>
            </a:r>
            <a:r>
              <a:rPr sz="1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la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7035" y="3390346"/>
            <a:ext cx="6400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necesidad.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93540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F2B59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79893" y="1769988"/>
            <a:ext cx="949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2.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Desarrollo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78318" y="2258782"/>
            <a:ext cx="11518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1564BF"/>
                </a:solidFill>
                <a:latin typeface="Arial"/>
                <a:cs typeface="Arial"/>
              </a:rPr>
              <a:t>Escribir</a:t>
            </a:r>
            <a:r>
              <a:rPr sz="950" b="1" spc="-20" dirty="0">
                <a:solidFill>
                  <a:srgbClr val="1564B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564BF"/>
                </a:solidFill>
                <a:latin typeface="Arial"/>
                <a:cs typeface="Arial"/>
              </a:rPr>
              <a:t>el</a:t>
            </a:r>
            <a:r>
              <a:rPr sz="950" b="1" spc="-15" dirty="0">
                <a:solidFill>
                  <a:srgbClr val="1564BF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564BF"/>
                </a:solidFill>
                <a:latin typeface="Arial"/>
                <a:cs typeface="Arial"/>
              </a:rPr>
              <a:t>Software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35538" y="2821386"/>
            <a:ext cx="14376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Stack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tecnológico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que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2756" y="3105866"/>
            <a:ext cx="1423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usará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para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construir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SW.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60894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564BF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80237" y="1769988"/>
            <a:ext cx="4832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3.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ETL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66391" y="2258782"/>
            <a:ext cx="9105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9A824"/>
                </a:solidFill>
                <a:latin typeface="Arial"/>
                <a:cs typeface="Arial"/>
              </a:rPr>
              <a:t>Carga</a:t>
            </a:r>
            <a:r>
              <a:rPr sz="950" b="1" spc="-15" dirty="0">
                <a:solidFill>
                  <a:srgbClr val="F9A8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9A824"/>
                </a:solidFill>
                <a:latin typeface="Arial"/>
                <a:cs typeface="Arial"/>
              </a:rPr>
              <a:t>de</a:t>
            </a:r>
            <a:r>
              <a:rPr sz="950" b="1" spc="-10" dirty="0">
                <a:solidFill>
                  <a:srgbClr val="F9A824"/>
                </a:solidFill>
                <a:latin typeface="Arial"/>
                <a:cs typeface="Arial"/>
              </a:rPr>
              <a:t> Datos</a:t>
            </a:r>
            <a:endParaRPr sz="9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0768" y="2821386"/>
            <a:ext cx="12820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Extraer,</a:t>
            </a:r>
            <a:r>
              <a:rPr sz="1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Transformar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8225" y="3105866"/>
            <a:ext cx="1007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Cargar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la data 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61675" y="3390346"/>
            <a:ext cx="11201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ejecución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del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2026.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28247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9A824"/>
                </a:solidFill>
                <a:latin typeface="MS Gothic"/>
                <a:cs typeface="MS Gothic"/>
              </a:rPr>
              <a:t>➔</a:t>
            </a:r>
            <a:endParaRPr sz="1800" dirty="0">
              <a:latin typeface="MS Gothic"/>
              <a:cs typeface="MS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59755" y="1769988"/>
            <a:ext cx="1059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4.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Onboarding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7019" y="2258782"/>
            <a:ext cx="94424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1D8349"/>
                </a:solidFill>
                <a:latin typeface="Arial"/>
                <a:cs typeface="Arial"/>
              </a:rPr>
              <a:t>Implementación</a:t>
            </a:r>
            <a:endParaRPr sz="9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09126" y="2821386"/>
            <a:ext cx="759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Despliegue</a:t>
            </a:r>
            <a:r>
              <a:rPr sz="10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33"/>
                </a:solidFill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26733" y="3105866"/>
            <a:ext cx="13246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capacitación</a:t>
            </a:r>
            <a:r>
              <a:rPr sz="10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operativa.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95601" y="25376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1D8349"/>
                </a:solidFill>
                <a:latin typeface="MS Gothic"/>
                <a:cs typeface="MS Gothic"/>
              </a:rPr>
              <a:t>➔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26057" y="1769988"/>
            <a:ext cx="661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Situ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37472" y="2258782"/>
            <a:ext cx="1038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E65000"/>
                </a:solidFill>
                <a:latin typeface="Arial"/>
                <a:cs typeface="Arial"/>
              </a:rPr>
              <a:t>Acompañamiento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91783" y="2821386"/>
            <a:ext cx="929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Mejora</a:t>
            </a:r>
            <a:r>
              <a:rPr sz="10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continua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85813" y="3105866"/>
            <a:ext cx="1141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operando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en</a:t>
            </a:r>
            <a:r>
              <a:rPr sz="10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Petral.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237320" y="3675365"/>
            <a:ext cx="2192342" cy="525077"/>
            <a:chOff x="1237320" y="3675365"/>
            <a:chExt cx="2192342" cy="525077"/>
          </a:xfrm>
        </p:grpSpPr>
        <p:sp>
          <p:nvSpPr>
            <p:cNvPr id="50" name="object 50"/>
            <p:cNvSpPr/>
            <p:nvPr/>
          </p:nvSpPr>
          <p:spPr>
            <a:xfrm>
              <a:off x="1386867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2" y="491930"/>
                  </a:lnTo>
                  <a:lnTo>
                    <a:pt x="24907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0F2B5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237320" y="367536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29865" y="4297019"/>
            <a:ext cx="114681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0F2B59"/>
                </a:solidFill>
                <a:latin typeface="Verdana"/>
                <a:cs typeface="Verdana"/>
              </a:rPr>
              <a:t>Modifica</a:t>
            </a:r>
            <a:r>
              <a:rPr sz="950" b="1" spc="-6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0F2B59"/>
                </a:solidFill>
                <a:latin typeface="Verdana"/>
                <a:cs typeface="Verdana"/>
              </a:rPr>
              <a:t>Alcance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291017" y="3687713"/>
            <a:ext cx="2181091" cy="512729"/>
            <a:chOff x="3291017" y="3687713"/>
            <a:chExt cx="2181091" cy="512729"/>
          </a:xfrm>
        </p:grpSpPr>
        <p:sp>
          <p:nvSpPr>
            <p:cNvPr id="54" name="object 54"/>
            <p:cNvSpPr/>
            <p:nvPr/>
          </p:nvSpPr>
          <p:spPr>
            <a:xfrm>
              <a:off x="3429313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1564B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91017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892830" y="4297019"/>
            <a:ext cx="1105535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1564BF"/>
                </a:solidFill>
                <a:latin typeface="Verdana"/>
                <a:cs typeface="Verdana"/>
              </a:rPr>
              <a:t>Ajusta</a:t>
            </a:r>
            <a:r>
              <a:rPr sz="950" b="1" spc="-60" dirty="0">
                <a:solidFill>
                  <a:srgbClr val="1564BF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1564BF"/>
                </a:solidFill>
                <a:latin typeface="Verdana"/>
                <a:cs typeface="Verdana"/>
              </a:rPr>
              <a:t>Software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30754" y="3688141"/>
            <a:ext cx="2183800" cy="512301"/>
            <a:chOff x="5330754" y="3688141"/>
            <a:chExt cx="2183800" cy="512301"/>
          </a:xfrm>
        </p:grpSpPr>
        <p:sp>
          <p:nvSpPr>
            <p:cNvPr id="58" name="object 58"/>
            <p:cNvSpPr/>
            <p:nvPr/>
          </p:nvSpPr>
          <p:spPr>
            <a:xfrm>
              <a:off x="5471759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F9A82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30754" y="368814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871644" y="4297019"/>
            <a:ext cx="123317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F9A824"/>
                </a:solidFill>
                <a:latin typeface="Verdana"/>
                <a:cs typeface="Verdana"/>
              </a:rPr>
              <a:t>Mejora</a:t>
            </a:r>
            <a:r>
              <a:rPr sz="950" b="1" spc="-55" dirty="0">
                <a:solidFill>
                  <a:srgbClr val="F9A824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F9A824"/>
                </a:solidFill>
                <a:latin typeface="Verdana"/>
                <a:cs typeface="Verdana"/>
              </a:rPr>
              <a:t>Extracción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364757" y="3687713"/>
            <a:ext cx="2192242" cy="512729"/>
            <a:chOff x="7364757" y="3687713"/>
            <a:chExt cx="2192242" cy="512729"/>
          </a:xfrm>
        </p:grpSpPr>
        <p:sp>
          <p:nvSpPr>
            <p:cNvPr id="62" name="object 62"/>
            <p:cNvSpPr/>
            <p:nvPr/>
          </p:nvSpPr>
          <p:spPr>
            <a:xfrm>
              <a:off x="7514204" y="3701967"/>
              <a:ext cx="2042795" cy="498475"/>
            </a:xfrm>
            <a:custGeom>
              <a:avLst/>
              <a:gdLst/>
              <a:ahLst/>
              <a:cxnLst/>
              <a:rect l="l" t="t" r="r" b="b"/>
              <a:pathLst>
                <a:path w="2042795" h="498475">
                  <a:moveTo>
                    <a:pt x="2042445" y="0"/>
                  </a:moveTo>
                  <a:lnTo>
                    <a:pt x="2042445" y="398526"/>
                  </a:lnTo>
                  <a:lnTo>
                    <a:pt x="2036219" y="442114"/>
                  </a:lnTo>
                  <a:lnTo>
                    <a:pt x="2017539" y="473249"/>
                  </a:lnTo>
                  <a:lnTo>
                    <a:pt x="1986404" y="491930"/>
                  </a:lnTo>
                  <a:lnTo>
                    <a:pt x="1942814" y="498157"/>
                  </a:lnTo>
                  <a:lnTo>
                    <a:pt x="99631" y="498157"/>
                  </a:lnTo>
                  <a:lnTo>
                    <a:pt x="56041" y="491930"/>
                  </a:lnTo>
                  <a:lnTo>
                    <a:pt x="24906" y="473249"/>
                  </a:lnTo>
                  <a:lnTo>
                    <a:pt x="6226" y="442114"/>
                  </a:lnTo>
                  <a:lnTo>
                    <a:pt x="0" y="398526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1D834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64757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869314" y="4297019"/>
            <a:ext cx="1322705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1D8349"/>
                </a:solidFill>
                <a:latin typeface="Verdana"/>
                <a:cs typeface="Verdana"/>
              </a:rPr>
              <a:t>Calibra</a:t>
            </a:r>
            <a:r>
              <a:rPr sz="950" b="1" spc="-60" dirty="0">
                <a:solidFill>
                  <a:srgbClr val="1D8349"/>
                </a:solidFill>
                <a:latin typeface="Verdana"/>
                <a:cs typeface="Verdana"/>
              </a:rPr>
              <a:t> </a:t>
            </a:r>
            <a:r>
              <a:rPr sz="950" b="1" spc="-10" dirty="0">
                <a:solidFill>
                  <a:srgbClr val="1D8349"/>
                </a:solidFill>
                <a:latin typeface="Verdana"/>
                <a:cs typeface="Verdana"/>
              </a:rPr>
              <a:t>Onboarding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82402" y="3687713"/>
            <a:ext cx="8756516" cy="949888"/>
            <a:chOff x="982402" y="3687713"/>
            <a:chExt cx="8756516" cy="949888"/>
          </a:xfrm>
        </p:grpSpPr>
        <p:sp>
          <p:nvSpPr>
            <p:cNvPr id="66" name="object 66"/>
            <p:cNvSpPr/>
            <p:nvPr/>
          </p:nvSpPr>
          <p:spPr>
            <a:xfrm>
              <a:off x="1120698" y="3690816"/>
              <a:ext cx="8618220" cy="946785"/>
            </a:xfrm>
            <a:custGeom>
              <a:avLst/>
              <a:gdLst/>
              <a:ahLst/>
              <a:cxnLst/>
              <a:rect l="l" t="t" r="r" b="b"/>
              <a:pathLst>
                <a:path w="8618220" h="946785">
                  <a:moveTo>
                    <a:pt x="8618124" y="0"/>
                  </a:moveTo>
                  <a:lnTo>
                    <a:pt x="8618124" y="846867"/>
                  </a:lnTo>
                  <a:lnTo>
                    <a:pt x="8611898" y="890456"/>
                  </a:lnTo>
                  <a:lnTo>
                    <a:pt x="8593218" y="921591"/>
                  </a:lnTo>
                  <a:lnTo>
                    <a:pt x="8562083" y="940272"/>
                  </a:lnTo>
                  <a:lnTo>
                    <a:pt x="8518493" y="946499"/>
                  </a:lnTo>
                  <a:lnTo>
                    <a:pt x="99631" y="946499"/>
                  </a:lnTo>
                  <a:lnTo>
                    <a:pt x="56042" y="940272"/>
                  </a:lnTo>
                  <a:lnTo>
                    <a:pt x="24907" y="921591"/>
                  </a:lnTo>
                  <a:lnTo>
                    <a:pt x="6226" y="890456"/>
                  </a:lnTo>
                  <a:lnTo>
                    <a:pt x="0" y="846867"/>
                  </a:lnTo>
                  <a:lnTo>
                    <a:pt x="0" y="149447"/>
                  </a:lnTo>
                </a:path>
              </a:pathLst>
            </a:custGeom>
            <a:ln w="29889">
              <a:solidFill>
                <a:srgbClr val="E65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402" y="368771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298894" y="298894"/>
                  </a:moveTo>
                  <a:lnTo>
                    <a:pt x="0" y="298894"/>
                  </a:lnTo>
                  <a:lnTo>
                    <a:pt x="149447" y="0"/>
                  </a:lnTo>
                  <a:lnTo>
                    <a:pt x="298894" y="29889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39999" y="5211841"/>
            <a:ext cx="9963150" cy="802005"/>
            <a:chOff x="539999" y="5211841"/>
            <a:chExt cx="9963150" cy="802005"/>
          </a:xfrm>
        </p:grpSpPr>
        <p:sp>
          <p:nvSpPr>
            <p:cNvPr id="69" name="object 69"/>
            <p:cNvSpPr/>
            <p:nvPr/>
          </p:nvSpPr>
          <p:spPr>
            <a:xfrm>
              <a:off x="539999" y="5211841"/>
              <a:ext cx="9963150" cy="802005"/>
            </a:xfrm>
            <a:custGeom>
              <a:avLst/>
              <a:gdLst/>
              <a:ahLst/>
              <a:cxnLst/>
              <a:rect l="l" t="t" r="r" b="b"/>
              <a:pathLst>
                <a:path w="9963150" h="802004">
                  <a:moveTo>
                    <a:pt x="9886922" y="802005"/>
                  </a:moveTo>
                  <a:lnTo>
                    <a:pt x="76200" y="802005"/>
                  </a:lnTo>
                  <a:lnTo>
                    <a:pt x="46612" y="795992"/>
                  </a:lnTo>
                  <a:lnTo>
                    <a:pt x="22383" y="779621"/>
                  </a:lnTo>
                  <a:lnTo>
                    <a:pt x="6012" y="755392"/>
                  </a:lnTo>
                  <a:lnTo>
                    <a:pt x="0" y="72580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725805"/>
                  </a:lnTo>
                  <a:lnTo>
                    <a:pt x="9957110" y="755392"/>
                  </a:lnTo>
                  <a:lnTo>
                    <a:pt x="9940738" y="779621"/>
                  </a:lnTo>
                  <a:lnTo>
                    <a:pt x="9916509" y="795992"/>
                  </a:lnTo>
                  <a:lnTo>
                    <a:pt x="9886922" y="802005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9991" y="5211851"/>
              <a:ext cx="9963150" cy="802005"/>
            </a:xfrm>
            <a:custGeom>
              <a:avLst/>
              <a:gdLst/>
              <a:ahLst/>
              <a:cxnLst/>
              <a:rect l="l" t="t" r="r" b="b"/>
              <a:pathLst>
                <a:path w="9963150" h="802004">
                  <a:moveTo>
                    <a:pt x="9963125" y="76200"/>
                  </a:moveTo>
                  <a:lnTo>
                    <a:pt x="9957117" y="46609"/>
                  </a:lnTo>
                  <a:lnTo>
                    <a:pt x="9941712" y="23812"/>
                  </a:lnTo>
                  <a:lnTo>
                    <a:pt x="9940747" y="22377"/>
                  </a:lnTo>
                  <a:lnTo>
                    <a:pt x="9939312" y="21412"/>
                  </a:lnTo>
                  <a:lnTo>
                    <a:pt x="9939312" y="371792"/>
                  </a:lnTo>
                  <a:lnTo>
                    <a:pt x="9939312" y="725805"/>
                  </a:lnTo>
                  <a:lnTo>
                    <a:pt x="9935185" y="746137"/>
                  </a:lnTo>
                  <a:lnTo>
                    <a:pt x="9923945" y="762800"/>
                  </a:lnTo>
                  <a:lnTo>
                    <a:pt x="9907283" y="774052"/>
                  </a:lnTo>
                  <a:lnTo>
                    <a:pt x="9886925" y="778192"/>
                  </a:lnTo>
                  <a:lnTo>
                    <a:pt x="76200" y="778192"/>
                  </a:lnTo>
                  <a:lnTo>
                    <a:pt x="55867" y="774052"/>
                  </a:lnTo>
                  <a:lnTo>
                    <a:pt x="39204" y="762800"/>
                  </a:lnTo>
                  <a:lnTo>
                    <a:pt x="27952" y="746137"/>
                  </a:lnTo>
                  <a:lnTo>
                    <a:pt x="23812" y="725805"/>
                  </a:lnTo>
                  <a:lnTo>
                    <a:pt x="23812" y="371792"/>
                  </a:lnTo>
                  <a:lnTo>
                    <a:pt x="9939312" y="371792"/>
                  </a:lnTo>
                  <a:lnTo>
                    <a:pt x="9939312" y="21412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725805"/>
                  </a:lnTo>
                  <a:lnTo>
                    <a:pt x="6019" y="755383"/>
                  </a:lnTo>
                  <a:lnTo>
                    <a:pt x="22390" y="779614"/>
                  </a:lnTo>
                  <a:lnTo>
                    <a:pt x="46609" y="795985"/>
                  </a:lnTo>
                  <a:lnTo>
                    <a:pt x="76200" y="802005"/>
                  </a:lnTo>
                  <a:lnTo>
                    <a:pt x="9886925" y="802005"/>
                  </a:lnTo>
                  <a:lnTo>
                    <a:pt x="9940747" y="779614"/>
                  </a:lnTo>
                  <a:lnTo>
                    <a:pt x="9963125" y="725805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93987" y="4705508"/>
            <a:ext cx="9394190" cy="1163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algn="ctr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E65000"/>
                </a:solidFill>
                <a:latin typeface="Verdana"/>
                <a:cs typeface="Verdana"/>
              </a:rPr>
              <a:t>Feedback Constante (El campo</a:t>
            </a:r>
            <a:r>
              <a:rPr sz="1250" b="1" spc="5" dirty="0">
                <a:solidFill>
                  <a:srgbClr val="E65000"/>
                </a:solidFill>
                <a:latin typeface="Verdana"/>
                <a:cs typeface="Verdana"/>
              </a:rPr>
              <a:t> </a:t>
            </a:r>
            <a:r>
              <a:rPr sz="1250" b="1" dirty="0">
                <a:solidFill>
                  <a:srgbClr val="E65000"/>
                </a:solidFill>
                <a:latin typeface="Verdana"/>
                <a:cs typeface="Verdana"/>
              </a:rPr>
              <a:t>mejora el </a:t>
            </a:r>
            <a:r>
              <a:rPr sz="1250" b="1" spc="-10" dirty="0">
                <a:solidFill>
                  <a:srgbClr val="E65000"/>
                </a:solidFill>
                <a:latin typeface="Verdana"/>
                <a:cs typeface="Verdana"/>
              </a:rPr>
              <a:t>sistema)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Fase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6: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Soporte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Mantenimiento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Recurrente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El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sistema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es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un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organismo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vivo,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necesita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supervisión,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correcciones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periódicas,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crecimiento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nuevas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funcionalidades,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chequeos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salud,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lo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largo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toda</a:t>
            </a:r>
            <a:r>
              <a:rPr sz="10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33"/>
                </a:solidFill>
                <a:latin typeface="Arial"/>
                <a:cs typeface="Arial"/>
              </a:rPr>
              <a:t>su</a:t>
            </a:r>
            <a:r>
              <a:rPr sz="1000" spc="-10" dirty="0">
                <a:solidFill>
                  <a:srgbClr val="333333"/>
                </a:solidFill>
                <a:latin typeface="Arial"/>
                <a:cs typeface="Arial"/>
              </a:rPr>
              <a:t> vida.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2" name="object 7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8"/>
            <a:ext cx="9963150" cy="4537795"/>
            <a:chOff x="539999" y="1586779"/>
            <a:chExt cx="9963150" cy="3594735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9963150" cy="3594735"/>
            </a:xfrm>
            <a:custGeom>
              <a:avLst/>
              <a:gdLst/>
              <a:ahLst/>
              <a:cxnLst/>
              <a:rect l="l" t="t" r="r" b="b"/>
              <a:pathLst>
                <a:path w="9963150" h="3594735">
                  <a:moveTo>
                    <a:pt x="9886922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518535"/>
                  </a:lnTo>
                  <a:lnTo>
                    <a:pt x="9957110" y="3548122"/>
                  </a:lnTo>
                  <a:lnTo>
                    <a:pt x="9940738" y="3572351"/>
                  </a:lnTo>
                  <a:lnTo>
                    <a:pt x="9916509" y="3588722"/>
                  </a:lnTo>
                  <a:lnTo>
                    <a:pt x="9886922" y="359473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95250" cy="3594735"/>
            </a:xfrm>
            <a:custGeom>
              <a:avLst/>
              <a:gdLst/>
              <a:ahLst/>
              <a:cxnLst/>
              <a:rect l="l" t="t" r="r" b="b"/>
              <a:pathLst>
                <a:path w="95250" h="3594735">
                  <a:moveTo>
                    <a:pt x="95250" y="3594735"/>
                  </a:moveTo>
                  <a:lnTo>
                    <a:pt x="76200" y="3594735"/>
                  </a:lnTo>
                  <a:lnTo>
                    <a:pt x="46612" y="3588722"/>
                  </a:lnTo>
                  <a:lnTo>
                    <a:pt x="22383" y="3572351"/>
                  </a:lnTo>
                  <a:lnTo>
                    <a:pt x="6012" y="3548122"/>
                  </a:lnTo>
                  <a:lnTo>
                    <a:pt x="0" y="351853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5250" y="0"/>
                  </a:lnTo>
                  <a:lnTo>
                    <a:pt x="95250" y="3594735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Diseño</a:t>
            </a:r>
            <a:r>
              <a:rPr spc="-80" dirty="0"/>
              <a:t> </a:t>
            </a:r>
            <a:r>
              <a:rPr dirty="0"/>
              <a:t>del</a:t>
            </a:r>
            <a:r>
              <a:rPr spc="-85" dirty="0"/>
              <a:t> </a:t>
            </a:r>
            <a:r>
              <a:rPr dirty="0"/>
              <a:t>Sistema</a:t>
            </a:r>
            <a:r>
              <a:rPr spc="-80" dirty="0"/>
              <a:t> </a:t>
            </a:r>
            <a:r>
              <a:rPr lang="es-MX" spc="-80" dirty="0"/>
              <a:t>- </a:t>
            </a:r>
            <a:r>
              <a:rPr dirty="0" err="1"/>
              <a:t>Alcance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908297" y="1870497"/>
            <a:ext cx="9295765" cy="4045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800" b="1" dirty="0">
                <a:solidFill>
                  <a:srgbClr val="0C46A1"/>
                </a:solidFill>
                <a:latin typeface="Arial"/>
                <a:cs typeface="Arial"/>
              </a:rPr>
              <a:t>Objetivo del Desarrollo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1115"/>
              </a:spcBef>
            </a:pP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Crear una herramienta capaz de ejecutar el FORECAST COMERCIAL de manera centralizada, usando una herramienta diseñada a medida, con tecnología moderna, segura y en la nube.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400" dirty="0"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Arial"/>
                <a:cs typeface="Arial"/>
              </a:rPr>
              <a:t>Proyectar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spc="-10" dirty="0">
                <a:solidFill>
                  <a:srgbClr val="333333"/>
                </a:solidFill>
                <a:latin typeface="Arial"/>
                <a:cs typeface="Arial"/>
              </a:rPr>
              <a:t>Ventas y hacer un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P&amp;L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 a nivel GROSS MARGIN</a:t>
            </a:r>
            <a:r>
              <a:rPr sz="14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endParaRPr lang="es-MX" sz="1400" spc="-65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03200" indent="-190500">
              <a:lnSpc>
                <a:spcPct val="200000"/>
              </a:lnSpc>
              <a:buAutoNum type="arabicPeriod"/>
              <a:tabLst>
                <a:tab pos="203200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Cotizar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viajes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fuera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de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contrato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estructurando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33"/>
                </a:solidFill>
                <a:latin typeface="Arial"/>
                <a:cs typeface="Arial"/>
              </a:rPr>
              <a:t>"paquetes"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que maximicen rentabilidad</a:t>
            </a:r>
            <a:endParaRPr sz="1400" dirty="0"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MEDIR</a:t>
            </a:r>
            <a:r>
              <a:rPr sz="1400" b="1" dirty="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sz="1400" b="1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Comparar las proyecciones comerciales con la ejecución real a lo largo del tiempo y medir la ejecución mediante una serie de </a:t>
            </a:r>
            <a:r>
              <a:rPr lang="es-MX" sz="1400" dirty="0" err="1">
                <a:solidFill>
                  <a:srgbClr val="333333"/>
                </a:solidFill>
                <a:latin typeface="Arial"/>
                <a:cs typeface="Arial"/>
              </a:rPr>
              <a:t>KPI´s</a:t>
            </a:r>
            <a:endParaRPr lang="es-MX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210185" indent="-197485">
              <a:lnSpc>
                <a:spcPct val="200000"/>
              </a:lnSpc>
              <a:spcBef>
                <a:spcPts val="560"/>
              </a:spcBef>
              <a:buAutoNum type="arabicPeriod"/>
              <a:tabLst>
                <a:tab pos="210185" algn="l"/>
              </a:tabLst>
            </a:pPr>
            <a:r>
              <a:rPr lang="es-MX" sz="1400" b="1" dirty="0">
                <a:solidFill>
                  <a:srgbClr val="333333"/>
                </a:solidFill>
                <a:latin typeface="Arial"/>
                <a:cs typeface="Arial"/>
              </a:rPr>
              <a:t>MEJORAR: </a:t>
            </a:r>
            <a:r>
              <a:rPr lang="es-MX" sz="1400" dirty="0">
                <a:solidFill>
                  <a:srgbClr val="333333"/>
                </a:solidFill>
                <a:latin typeface="Arial"/>
                <a:cs typeface="Arial"/>
              </a:rPr>
              <a:t>Basados en los resultados medidos por cada KPI, proponer estrategias comerciales que permitan elevar las ventas y la rentabilidad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29940"/>
              </p:ext>
            </p:extLst>
          </p:nvPr>
        </p:nvGraphicFramePr>
        <p:xfrm>
          <a:off x="539999" y="2137962"/>
          <a:ext cx="9953624" cy="420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8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5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9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475615">
                        <a:lnSpc>
                          <a:spcPct val="1167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A: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Commercial Forecast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096645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Usar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"VOYAGE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CALCULATIONS"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como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estática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determinar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ruta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asegurar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margen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operativo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 requerido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328930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Sistematizar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Maestros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centralizada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automatizar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5" dirty="0">
                          <a:latin typeface="Arial"/>
                          <a:cs typeface="Arial"/>
                        </a:rPr>
                        <a:t>Proyecciones de Ventas y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75" dirty="0">
                          <a:latin typeface="Arial"/>
                          <a:cs typeface="Arial"/>
                        </a:rPr>
                        <a:t>a nivel GROSS MARGIN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POR RUTA/VIAJE/BARCO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401320">
                        <a:lnSpc>
                          <a:spcPct val="1167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B: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Proformador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SPOT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9C26AF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725170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Simular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cotizar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viajes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fuera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contrato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(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VOYAGE CHARTER - VCH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agilidad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precisión.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532130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Traer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ruta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/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viaje/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barco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mover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tarifas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cotizar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propuestas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 err="1">
                          <a:latin typeface="Arial"/>
                          <a:cs typeface="Arial"/>
                        </a:rPr>
                        <a:t>VCHs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(paquetes de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viajes).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80645" marR="615950">
                        <a:lnSpc>
                          <a:spcPct val="1167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Pilar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C: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6500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39395">
                        <a:lnSpc>
                          <a:spcPct val="1167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Objetivo: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Medir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precisión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e las proyecciones comerciales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vs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spc="-20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ejecución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operativa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real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que hoy se lleva centralizada en una herramienta a medida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80645" marR="558165">
                        <a:lnSpc>
                          <a:spcPct val="1167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Alcance:</a:t>
                      </a:r>
                      <a:r>
                        <a:rPr sz="16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Interfaz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ingreso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fletes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gastos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reales.</a:t>
                      </a:r>
                      <a:r>
                        <a:rPr sz="16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latin typeface="Arial"/>
                          <a:cs typeface="Arial"/>
                        </a:rPr>
                        <a:t>Permitirá ajusta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VOYAGE CALCULATIONS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latin typeface="Arial"/>
                          <a:cs typeface="Arial"/>
                        </a:rPr>
                        <a:t>futuros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 err="1">
                          <a:latin typeface="Arial"/>
                          <a:cs typeface="Arial"/>
                        </a:rPr>
                        <a:t>contratos</a:t>
                      </a:r>
                      <a:r>
                        <a:rPr lang="es-MX" sz="1600" spc="-10" dirty="0">
                          <a:latin typeface="Arial"/>
                          <a:cs typeface="Arial"/>
                        </a:rPr>
                        <a:t> si los márgenes REALES lo requieren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1:</a:t>
            </a:r>
            <a:r>
              <a:rPr spc="-85" dirty="0"/>
              <a:t> </a:t>
            </a:r>
            <a:r>
              <a:rPr dirty="0"/>
              <a:t>Los</a:t>
            </a:r>
            <a:r>
              <a:rPr spc="-85" dirty="0"/>
              <a:t> </a:t>
            </a:r>
            <a:r>
              <a:rPr spc="-10" dirty="0"/>
              <a:t>Tres</a:t>
            </a:r>
            <a:r>
              <a:rPr spc="-85" dirty="0"/>
              <a:t> </a:t>
            </a:r>
            <a:r>
              <a:rPr dirty="0"/>
              <a:t>Pilares</a:t>
            </a:r>
            <a:r>
              <a:rPr spc="-85" dirty="0"/>
              <a:t> </a:t>
            </a:r>
            <a:r>
              <a:rPr spc="-10" dirty="0"/>
              <a:t>Lógicos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723269"/>
            <a:ext cx="93319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Para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materializar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este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nivel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diseñaremos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herramienta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sobre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pilares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complementarios: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700270"/>
            <a:chOff x="339974" y="2045245"/>
            <a:chExt cx="10352405" cy="4700270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700270"/>
            </a:xfrm>
            <a:custGeom>
              <a:avLst/>
              <a:gdLst/>
              <a:ahLst/>
              <a:cxnLst/>
              <a:rect l="l" t="t" r="r" b="b"/>
              <a:pathLst>
                <a:path w="10352405" h="4700270">
                  <a:moveTo>
                    <a:pt x="10248872" y="4700168"/>
                  </a:moveTo>
                  <a:lnTo>
                    <a:pt x="114300" y="4700168"/>
                  </a:lnTo>
                  <a:lnTo>
                    <a:pt x="69919" y="4691149"/>
                  </a:lnTo>
                  <a:lnTo>
                    <a:pt x="33575" y="4666592"/>
                  </a:lnTo>
                  <a:lnTo>
                    <a:pt x="9018" y="4630249"/>
                  </a:lnTo>
                  <a:lnTo>
                    <a:pt x="0" y="4585868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633394"/>
                  </a:lnTo>
                  <a:lnTo>
                    <a:pt x="10329597" y="4666592"/>
                  </a:lnTo>
                  <a:lnTo>
                    <a:pt x="10293253" y="4691149"/>
                  </a:lnTo>
                  <a:lnTo>
                    <a:pt x="10248872" y="4700168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700270"/>
            </a:xfrm>
            <a:custGeom>
              <a:avLst/>
              <a:gdLst/>
              <a:ahLst/>
              <a:cxnLst/>
              <a:rect l="l" t="t" r="r" b="b"/>
              <a:pathLst>
                <a:path w="10352405" h="4700270">
                  <a:moveTo>
                    <a:pt x="10248872" y="4700168"/>
                  </a:moveTo>
                  <a:lnTo>
                    <a:pt x="114300" y="4700168"/>
                  </a:lnTo>
                  <a:lnTo>
                    <a:pt x="69919" y="4691149"/>
                  </a:lnTo>
                  <a:lnTo>
                    <a:pt x="33575" y="4666593"/>
                  </a:lnTo>
                  <a:lnTo>
                    <a:pt x="9018" y="4630249"/>
                  </a:lnTo>
                  <a:lnTo>
                    <a:pt x="0" y="4585868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585868"/>
                  </a:lnTo>
                  <a:lnTo>
                    <a:pt x="17792" y="4626550"/>
                  </a:lnTo>
                  <a:lnTo>
                    <a:pt x="40302" y="4659866"/>
                  </a:lnTo>
                  <a:lnTo>
                    <a:pt x="73617" y="4682376"/>
                  </a:lnTo>
                  <a:lnTo>
                    <a:pt x="114300" y="4690643"/>
                  </a:lnTo>
                  <a:lnTo>
                    <a:pt x="10294002" y="4690643"/>
                  </a:lnTo>
                  <a:lnTo>
                    <a:pt x="10293253" y="4691149"/>
                  </a:lnTo>
                  <a:lnTo>
                    <a:pt x="10248872" y="4700168"/>
                  </a:lnTo>
                  <a:close/>
                </a:path>
                <a:path w="10352405" h="4700270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700270">
                  <a:moveTo>
                    <a:pt x="10294002" y="4690643"/>
                  </a:moveTo>
                  <a:lnTo>
                    <a:pt x="10248872" y="4690643"/>
                  </a:lnTo>
                  <a:lnTo>
                    <a:pt x="10289555" y="4682376"/>
                  </a:lnTo>
                  <a:lnTo>
                    <a:pt x="10322870" y="4659866"/>
                  </a:lnTo>
                  <a:lnTo>
                    <a:pt x="10345380" y="4626550"/>
                  </a:lnTo>
                  <a:lnTo>
                    <a:pt x="10352028" y="4593835"/>
                  </a:lnTo>
                  <a:lnTo>
                    <a:pt x="10352028" y="4633394"/>
                  </a:lnTo>
                  <a:lnTo>
                    <a:pt x="10329597" y="4666593"/>
                  </a:lnTo>
                  <a:lnTo>
                    <a:pt x="10294002" y="46906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723004"/>
            </a:xfrm>
            <a:custGeom>
              <a:avLst/>
              <a:gdLst/>
              <a:ahLst/>
              <a:cxnLst/>
              <a:rect l="l" t="t" r="r" b="b"/>
              <a:pathLst>
                <a:path w="9963150" h="3723004">
                  <a:moveTo>
                    <a:pt x="9886922" y="3722846"/>
                  </a:moveTo>
                  <a:lnTo>
                    <a:pt x="76200" y="3722846"/>
                  </a:lnTo>
                  <a:lnTo>
                    <a:pt x="46612" y="3716833"/>
                  </a:lnTo>
                  <a:lnTo>
                    <a:pt x="22383" y="3700462"/>
                  </a:lnTo>
                  <a:lnTo>
                    <a:pt x="6012" y="3676233"/>
                  </a:lnTo>
                  <a:lnTo>
                    <a:pt x="0" y="364664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646646"/>
                  </a:lnTo>
                  <a:lnTo>
                    <a:pt x="9957110" y="3676233"/>
                  </a:lnTo>
                  <a:lnTo>
                    <a:pt x="9940738" y="3700462"/>
                  </a:lnTo>
                  <a:lnTo>
                    <a:pt x="9916509" y="3716833"/>
                  </a:lnTo>
                  <a:lnTo>
                    <a:pt x="9886922" y="3722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723004"/>
            </a:xfrm>
            <a:custGeom>
              <a:avLst/>
              <a:gdLst/>
              <a:ahLst/>
              <a:cxnLst/>
              <a:rect l="l" t="t" r="r" b="b"/>
              <a:pathLst>
                <a:path w="9963150" h="3723004">
                  <a:moveTo>
                    <a:pt x="9886922" y="3722846"/>
                  </a:moveTo>
                  <a:lnTo>
                    <a:pt x="76200" y="3722846"/>
                  </a:lnTo>
                  <a:lnTo>
                    <a:pt x="46612" y="3716833"/>
                  </a:lnTo>
                  <a:lnTo>
                    <a:pt x="22383" y="3700462"/>
                  </a:lnTo>
                  <a:lnTo>
                    <a:pt x="6012" y="3676233"/>
                  </a:lnTo>
                  <a:lnTo>
                    <a:pt x="0" y="364664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646646"/>
                  </a:lnTo>
                  <a:lnTo>
                    <a:pt x="14786" y="3672535"/>
                  </a:lnTo>
                  <a:lnTo>
                    <a:pt x="29110" y="3693735"/>
                  </a:lnTo>
                  <a:lnTo>
                    <a:pt x="50311" y="3708060"/>
                  </a:lnTo>
                  <a:lnTo>
                    <a:pt x="76200" y="3713321"/>
                  </a:lnTo>
                  <a:lnTo>
                    <a:pt x="9921707" y="3713321"/>
                  </a:lnTo>
                  <a:lnTo>
                    <a:pt x="9916509" y="3716833"/>
                  </a:lnTo>
                  <a:lnTo>
                    <a:pt x="9886922" y="3722846"/>
                  </a:lnTo>
                  <a:close/>
                </a:path>
                <a:path w="9963150" h="3723004">
                  <a:moveTo>
                    <a:pt x="9921707" y="3713321"/>
                  </a:moveTo>
                  <a:lnTo>
                    <a:pt x="9886922" y="3713321"/>
                  </a:lnTo>
                  <a:lnTo>
                    <a:pt x="9912811" y="3708060"/>
                  </a:lnTo>
                  <a:lnTo>
                    <a:pt x="9934011" y="3693735"/>
                  </a:lnTo>
                  <a:lnTo>
                    <a:pt x="9948336" y="3672535"/>
                  </a:lnTo>
                  <a:lnTo>
                    <a:pt x="9953597" y="3646646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646646"/>
                  </a:lnTo>
                  <a:lnTo>
                    <a:pt x="9957110" y="3676233"/>
                  </a:lnTo>
                  <a:lnTo>
                    <a:pt x="9940738" y="3700462"/>
                  </a:lnTo>
                  <a:lnTo>
                    <a:pt x="9921707" y="371332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6015742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6015742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53447"/>
                  </a:lnTo>
                  <a:lnTo>
                    <a:pt x="14786" y="479335"/>
                  </a:lnTo>
                  <a:lnTo>
                    <a:pt x="29110" y="500536"/>
                  </a:lnTo>
                  <a:lnTo>
                    <a:pt x="50311" y="514861"/>
                  </a:lnTo>
                  <a:lnTo>
                    <a:pt x="76200" y="520122"/>
                  </a:lnTo>
                  <a:lnTo>
                    <a:pt x="9921707" y="520122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  <a:path w="9963150" h="530225">
                  <a:moveTo>
                    <a:pt x="9921707" y="520122"/>
                  </a:moveTo>
                  <a:lnTo>
                    <a:pt x="9886922" y="520122"/>
                  </a:lnTo>
                  <a:lnTo>
                    <a:pt x="9912811" y="514861"/>
                  </a:lnTo>
                  <a:lnTo>
                    <a:pt x="9934011" y="500536"/>
                  </a:lnTo>
                  <a:lnTo>
                    <a:pt x="9948336" y="479335"/>
                  </a:lnTo>
                  <a:lnTo>
                    <a:pt x="9953597" y="453447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21707" y="52012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19" y="6114811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2081" y="6114811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696" y="6114811"/>
              <a:ext cx="952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0212" y="6114811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1863" y="6114811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1751" y="6114811"/>
              <a:ext cx="95250" cy="952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62414" y="6332010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70" h="133350">
                  <a:moveTo>
                    <a:pt x="32889" y="133350"/>
                  </a:moveTo>
                  <a:lnTo>
                    <a:pt x="19050" y="133350"/>
                  </a:lnTo>
                  <a:lnTo>
                    <a:pt x="11653" y="131846"/>
                  </a:lnTo>
                  <a:lnTo>
                    <a:pt x="5595" y="127754"/>
                  </a:lnTo>
                  <a:lnTo>
                    <a:pt x="1503" y="121696"/>
                  </a:lnTo>
                  <a:lnTo>
                    <a:pt x="0" y="114300"/>
                  </a:lnTo>
                  <a:lnTo>
                    <a:pt x="0" y="19050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50" y="0"/>
                  </a:lnTo>
                  <a:lnTo>
                    <a:pt x="32889" y="0"/>
                  </a:lnTo>
                  <a:lnTo>
                    <a:pt x="40286" y="1503"/>
                  </a:lnTo>
                  <a:lnTo>
                    <a:pt x="46343" y="5595"/>
                  </a:lnTo>
                  <a:lnTo>
                    <a:pt x="50436" y="11653"/>
                  </a:lnTo>
                  <a:lnTo>
                    <a:pt x="51939" y="19050"/>
                  </a:lnTo>
                  <a:lnTo>
                    <a:pt x="51939" y="114300"/>
                  </a:lnTo>
                  <a:lnTo>
                    <a:pt x="50436" y="121696"/>
                  </a:lnTo>
                  <a:lnTo>
                    <a:pt x="46343" y="127754"/>
                  </a:lnTo>
                  <a:lnTo>
                    <a:pt x="40286" y="131846"/>
                  </a:lnTo>
                  <a:lnTo>
                    <a:pt x="32889" y="13335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9321" y="6332010"/>
              <a:ext cx="72218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7705" y="6332010"/>
              <a:ext cx="89230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33526" y="6332010"/>
              <a:ext cx="63807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95" dirty="0"/>
              <a:t> </a:t>
            </a:r>
            <a:r>
              <a:rPr dirty="0"/>
              <a:t>Visual:</a:t>
            </a:r>
            <a:r>
              <a:rPr spc="-95" dirty="0"/>
              <a:t> </a:t>
            </a:r>
            <a:r>
              <a:rPr dirty="0"/>
              <a:t>Pilar</a:t>
            </a:r>
            <a:r>
              <a:rPr spc="-180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dirty="0"/>
              <a:t>Commercial</a:t>
            </a:r>
            <a:r>
              <a:rPr spc="-90" dirty="0"/>
              <a:t> </a:t>
            </a:r>
            <a:r>
              <a:rPr spc="-10" dirty="0"/>
              <a:t>Forecast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7299" y="1582376"/>
            <a:ext cx="5292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Impacto</a:t>
            </a:r>
            <a:r>
              <a:rPr sz="14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Pilar</a:t>
            </a:r>
            <a:r>
              <a:rPr sz="1400" b="1" spc="-6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A: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Visibilidad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predictiva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barco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y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 ruta.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72340" y="2447486"/>
            <a:ext cx="309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Ventas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Mensuales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y</a:t>
            </a:r>
            <a:r>
              <a:rPr sz="12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F2B59"/>
                </a:solidFill>
                <a:latin typeface="Verdana"/>
                <a:cs typeface="Verdana"/>
              </a:rPr>
              <a:t>Buque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4255" y="6080880"/>
            <a:ext cx="697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5870" y="6092367"/>
            <a:ext cx="17221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485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91348" y="6092367"/>
            <a:ext cx="2237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694" algn="l"/>
                <a:tab pos="1653539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2400" y="6092367"/>
            <a:ext cx="4838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79827" y="6317129"/>
            <a:ext cx="1518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dirty="0">
                <a:solidFill>
                  <a:srgbClr val="334154"/>
                </a:solidFill>
                <a:latin typeface="Verdana"/>
                <a:cs typeface="Verdana"/>
              </a:rPr>
              <a:t>BARCOS:</a:t>
            </a:r>
            <a:r>
              <a:rPr sz="900" b="1" spc="27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endParaRPr sz="1125" baseline="3703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31221" y="6328616"/>
            <a:ext cx="21380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="1" baseline="4629" dirty="0">
                <a:latin typeface="Verdana"/>
                <a:cs typeface="Verdana"/>
              </a:rPr>
              <a:t>M</a:t>
            </a:r>
            <a:r>
              <a:rPr sz="900" b="1" spc="104" baseline="4629" dirty="0"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750" spc="140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750" b="1" baseline="11111" dirty="0">
                <a:latin typeface="Verdana"/>
                <a:cs typeface="Verdana"/>
              </a:rPr>
              <a:t>CT</a:t>
            </a:r>
            <a:r>
              <a:rPr sz="750" b="1" spc="179" baseline="11111" dirty="0"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750" spc="-15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750" spc="140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4629" dirty="0">
                <a:latin typeface="Verdana"/>
                <a:cs typeface="Verdana"/>
              </a:rPr>
              <a:t>H</a:t>
            </a:r>
            <a:r>
              <a:rPr sz="900" b="1" spc="120" baseline="4629" dirty="0">
                <a:latin typeface="Verdana"/>
                <a:cs typeface="Verdana"/>
              </a:rPr>
              <a:t> 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92512" y="3034893"/>
            <a:ext cx="9525" cy="1533525"/>
            <a:chOff x="1592512" y="3034893"/>
            <a:chExt cx="9525" cy="1533525"/>
          </a:xfrm>
        </p:grpSpPr>
        <p:sp>
          <p:nvSpPr>
            <p:cNvPr id="30" name="object 30"/>
            <p:cNvSpPr/>
            <p:nvPr/>
          </p:nvSpPr>
          <p:spPr>
            <a:xfrm>
              <a:off x="159727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727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482450" y="44938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78767" y="41890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8767" y="38842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500,000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8767" y="35794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750,000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079" y="32746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3079" y="29698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6813" y="3212084"/>
            <a:ext cx="141605" cy="1179195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Ventas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por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Buque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92512" y="3034893"/>
            <a:ext cx="5248275" cy="1533525"/>
            <a:chOff x="1592512" y="3034893"/>
            <a:chExt cx="5248275" cy="1533525"/>
          </a:xfrm>
        </p:grpSpPr>
        <p:sp>
          <p:nvSpPr>
            <p:cNvPr id="40" name="object 40"/>
            <p:cNvSpPr/>
            <p:nvPr/>
          </p:nvSpPr>
          <p:spPr>
            <a:xfrm>
              <a:off x="1597274" y="42588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323850" y="0"/>
                  </a:lnTo>
                </a:path>
                <a:path w="5238750">
                  <a:moveTo>
                    <a:pt x="514350" y="0"/>
                  </a:moveTo>
                  <a:lnTo>
                    <a:pt x="552450" y="0"/>
                  </a:lnTo>
                </a:path>
                <a:path w="5238750">
                  <a:moveTo>
                    <a:pt x="742950" y="0"/>
                  </a:moveTo>
                  <a:lnTo>
                    <a:pt x="952500" y="0"/>
                  </a:lnTo>
                </a:path>
                <a:path w="5238750">
                  <a:moveTo>
                    <a:pt x="1143000" y="0"/>
                  </a:moveTo>
                  <a:lnTo>
                    <a:pt x="1181100" y="0"/>
                  </a:lnTo>
                </a:path>
                <a:path w="5238750">
                  <a:moveTo>
                    <a:pt x="137160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038350" y="0"/>
                  </a:lnTo>
                </a:path>
                <a:path w="5238750">
                  <a:moveTo>
                    <a:pt x="2228850" y="0"/>
                  </a:moveTo>
                  <a:lnTo>
                    <a:pt x="2667000" y="0"/>
                  </a:lnTo>
                </a:path>
                <a:path w="5238750">
                  <a:moveTo>
                    <a:pt x="285750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124200" y="0"/>
                  </a:lnTo>
                </a:path>
                <a:path w="5238750">
                  <a:moveTo>
                    <a:pt x="33147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3981450" y="0"/>
                  </a:lnTo>
                </a:path>
                <a:path w="5238750">
                  <a:moveTo>
                    <a:pt x="4171950" y="0"/>
                  </a:moveTo>
                  <a:lnTo>
                    <a:pt x="4381500" y="0"/>
                  </a:lnTo>
                </a:path>
                <a:path w="5238750">
                  <a:moveTo>
                    <a:pt x="4572000" y="0"/>
                  </a:moveTo>
                  <a:lnTo>
                    <a:pt x="4610100" y="0"/>
                  </a:lnTo>
                </a:path>
                <a:path w="5238750">
                  <a:moveTo>
                    <a:pt x="4800600" y="0"/>
                  </a:moveTo>
                  <a:lnTo>
                    <a:pt x="4838700" y="0"/>
                  </a:lnTo>
                </a:path>
                <a:path w="5238750">
                  <a:moveTo>
                    <a:pt x="502920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97274" y="39540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95250" y="0"/>
                  </a:lnTo>
                </a:path>
                <a:path w="5238750">
                  <a:moveTo>
                    <a:pt x="285750" y="0"/>
                  </a:moveTo>
                  <a:lnTo>
                    <a:pt x="323850" y="0"/>
                  </a:lnTo>
                </a:path>
                <a:path w="5238750">
                  <a:moveTo>
                    <a:pt x="514350" y="0"/>
                  </a:moveTo>
                  <a:lnTo>
                    <a:pt x="552450" y="0"/>
                  </a:lnTo>
                </a:path>
                <a:path w="5238750">
                  <a:moveTo>
                    <a:pt x="742950" y="0"/>
                  </a:moveTo>
                  <a:lnTo>
                    <a:pt x="952500" y="0"/>
                  </a:lnTo>
                </a:path>
                <a:path w="5238750">
                  <a:moveTo>
                    <a:pt x="1143000" y="0"/>
                  </a:moveTo>
                  <a:lnTo>
                    <a:pt x="1181100" y="0"/>
                  </a:lnTo>
                </a:path>
                <a:path w="5238750">
                  <a:moveTo>
                    <a:pt x="137160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038350" y="0"/>
                  </a:lnTo>
                </a:path>
                <a:path w="5238750">
                  <a:moveTo>
                    <a:pt x="2228850" y="0"/>
                  </a:moveTo>
                  <a:lnTo>
                    <a:pt x="2266950" y="0"/>
                  </a:lnTo>
                </a:path>
                <a:path w="5238750">
                  <a:moveTo>
                    <a:pt x="2457450" y="0"/>
                  </a:moveTo>
                  <a:lnTo>
                    <a:pt x="2667000" y="0"/>
                  </a:lnTo>
                </a:path>
                <a:path w="5238750">
                  <a:moveTo>
                    <a:pt x="285750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124200" y="0"/>
                  </a:lnTo>
                </a:path>
                <a:path w="5238750">
                  <a:moveTo>
                    <a:pt x="33147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3981450" y="0"/>
                  </a:lnTo>
                </a:path>
                <a:path w="5238750">
                  <a:moveTo>
                    <a:pt x="4171950" y="0"/>
                  </a:moveTo>
                  <a:lnTo>
                    <a:pt x="4381500" y="0"/>
                  </a:lnTo>
                </a:path>
                <a:path w="5238750">
                  <a:moveTo>
                    <a:pt x="4572000" y="0"/>
                  </a:moveTo>
                  <a:lnTo>
                    <a:pt x="4610100" y="0"/>
                  </a:lnTo>
                </a:path>
                <a:path w="5238750">
                  <a:moveTo>
                    <a:pt x="4800600" y="0"/>
                  </a:moveTo>
                  <a:lnTo>
                    <a:pt x="4838700" y="0"/>
                  </a:lnTo>
                </a:path>
                <a:path w="5238750">
                  <a:moveTo>
                    <a:pt x="502920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97274" y="36492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1409700" y="0"/>
                  </a:lnTo>
                </a:path>
                <a:path w="5238750">
                  <a:moveTo>
                    <a:pt x="1600200" y="0"/>
                  </a:moveTo>
                  <a:lnTo>
                    <a:pt x="1809750" y="0"/>
                  </a:lnTo>
                </a:path>
                <a:path w="5238750">
                  <a:moveTo>
                    <a:pt x="2000250" y="0"/>
                  </a:moveTo>
                  <a:lnTo>
                    <a:pt x="2266950" y="0"/>
                  </a:lnTo>
                </a:path>
                <a:path w="5238750">
                  <a:moveTo>
                    <a:pt x="2457450" y="0"/>
                  </a:moveTo>
                  <a:lnTo>
                    <a:pt x="2895600" y="0"/>
                  </a:lnTo>
                </a:path>
                <a:path w="5238750">
                  <a:moveTo>
                    <a:pt x="3086100" y="0"/>
                  </a:moveTo>
                  <a:lnTo>
                    <a:pt x="3524250" y="0"/>
                  </a:lnTo>
                </a:path>
                <a:path w="5238750">
                  <a:moveTo>
                    <a:pt x="3714750" y="0"/>
                  </a:moveTo>
                  <a:lnTo>
                    <a:pt x="3752850" y="0"/>
                  </a:lnTo>
                </a:path>
                <a:path w="5238750">
                  <a:moveTo>
                    <a:pt x="394335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97274" y="33444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97274" y="3039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5238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97274" y="3039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3602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36024" y="30396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870949" y="44938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EF4444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70949" y="41890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600,000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870949" y="38842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1,200,000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70949" y="35794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1,800,000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70949" y="32746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2,400,000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70949" y="29698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3,000,000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46688" y="3230851"/>
            <a:ext cx="141605" cy="114173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Total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Ventas</a:t>
            </a:r>
            <a:r>
              <a:rPr sz="750" b="1" spc="-15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Mes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EF444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592512" y="4255211"/>
            <a:ext cx="5248275" cy="316230"/>
            <a:chOff x="1592512" y="4255211"/>
            <a:chExt cx="5248275" cy="316230"/>
          </a:xfrm>
        </p:grpSpPr>
        <p:sp>
          <p:nvSpPr>
            <p:cNvPr id="56" name="object 56"/>
            <p:cNvSpPr/>
            <p:nvPr/>
          </p:nvSpPr>
          <p:spPr>
            <a:xfrm>
              <a:off x="1597274" y="4563656"/>
              <a:ext cx="5238750" cy="0"/>
            </a:xfrm>
            <a:custGeom>
              <a:avLst/>
              <a:gdLst/>
              <a:ahLst/>
              <a:cxnLst/>
              <a:rect l="l" t="t" r="r" b="b"/>
              <a:pathLst>
                <a:path w="5238750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92524" y="426251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499" y="0"/>
                  </a:lnTo>
                  <a:lnTo>
                    <a:pt x="19049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840643" y="53129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984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92524" y="4262513"/>
            <a:ext cx="190500" cy="301625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685222" y="3890670"/>
            <a:ext cx="205104" cy="379730"/>
            <a:chOff x="1685222" y="3890670"/>
            <a:chExt cx="205104" cy="379730"/>
          </a:xfrm>
        </p:grpSpPr>
        <p:sp>
          <p:nvSpPr>
            <p:cNvPr id="62" name="object 62"/>
            <p:cNvSpPr/>
            <p:nvPr/>
          </p:nvSpPr>
          <p:spPr>
            <a:xfrm>
              <a:off x="1692524" y="3897972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499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645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92524" y="3897972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499" y="0"/>
                  </a:lnTo>
                  <a:lnTo>
                    <a:pt x="190499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699668" y="3917457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27065" y="4646205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921124" y="4230814"/>
            <a:ext cx="190500" cy="333375"/>
          </a:xfrm>
          <a:custGeom>
            <a:avLst/>
            <a:gdLst/>
            <a:ahLst/>
            <a:cxnLst/>
            <a:rect l="l" t="t" r="r" b="b"/>
            <a:pathLst>
              <a:path w="190500" h="333375">
                <a:moveTo>
                  <a:pt x="0" y="0"/>
                </a:moveTo>
                <a:lnTo>
                  <a:pt x="190499" y="0"/>
                </a:lnTo>
                <a:lnTo>
                  <a:pt x="190499" y="332841"/>
                </a:lnTo>
                <a:lnTo>
                  <a:pt x="0" y="332841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909218" y="4265999"/>
            <a:ext cx="214629" cy="290830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2413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90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913822" y="3906520"/>
            <a:ext cx="205104" cy="332105"/>
            <a:chOff x="1913822" y="3906520"/>
            <a:chExt cx="205104" cy="332105"/>
          </a:xfrm>
        </p:grpSpPr>
        <p:sp>
          <p:nvSpPr>
            <p:cNvPr id="69" name="object 69"/>
            <p:cNvSpPr/>
            <p:nvPr/>
          </p:nvSpPr>
          <p:spPr>
            <a:xfrm>
              <a:off x="1921124" y="391382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190499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169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921124" y="391382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0" y="0"/>
                  </a:moveTo>
                  <a:lnTo>
                    <a:pt x="190499" y="0"/>
                  </a:lnTo>
                  <a:lnTo>
                    <a:pt x="190499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909218" y="3951795"/>
            <a:ext cx="214629" cy="235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00" dirty="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 dirty="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556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142422" y="4112564"/>
            <a:ext cx="205104" cy="458470"/>
            <a:chOff x="2142422" y="4112564"/>
            <a:chExt cx="205104" cy="458470"/>
          </a:xfrm>
        </p:grpSpPr>
        <p:sp>
          <p:nvSpPr>
            <p:cNvPr id="74" name="object 74"/>
            <p:cNvSpPr/>
            <p:nvPr/>
          </p:nvSpPr>
          <p:spPr>
            <a:xfrm>
              <a:off x="2149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49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4437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149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499" y="0"/>
                  </a:lnTo>
                  <a:lnTo>
                    <a:pt x="19049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13781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142422" y="3811422"/>
            <a:ext cx="205104" cy="316230"/>
            <a:chOff x="2142422" y="3811422"/>
            <a:chExt cx="205104" cy="316230"/>
          </a:xfrm>
        </p:grpSpPr>
        <p:sp>
          <p:nvSpPr>
            <p:cNvPr id="78" name="object 78"/>
            <p:cNvSpPr/>
            <p:nvPr/>
          </p:nvSpPr>
          <p:spPr>
            <a:xfrm>
              <a:off x="2149724" y="3818724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49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0114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149724" y="3818724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499" y="0"/>
                  </a:lnTo>
                  <a:lnTo>
                    <a:pt x="19049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137818" y="3852735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700078" y="53129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557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542472" y="4207662"/>
            <a:ext cx="205104" cy="363855"/>
            <a:chOff x="2542472" y="4207662"/>
            <a:chExt cx="205104" cy="363855"/>
          </a:xfrm>
        </p:grpSpPr>
        <p:sp>
          <p:nvSpPr>
            <p:cNvPr id="84" name="object 84"/>
            <p:cNvSpPr/>
            <p:nvPr/>
          </p:nvSpPr>
          <p:spPr>
            <a:xfrm>
              <a:off x="25497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49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5497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499" y="0"/>
                  </a:lnTo>
                  <a:lnTo>
                    <a:pt x="19049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556918" y="4231801"/>
            <a:ext cx="195580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542472" y="3779723"/>
            <a:ext cx="205104" cy="442595"/>
            <a:chOff x="2542472" y="3779723"/>
            <a:chExt cx="205104" cy="442595"/>
          </a:xfrm>
        </p:grpSpPr>
        <p:sp>
          <p:nvSpPr>
            <p:cNvPr id="88" name="object 88"/>
            <p:cNvSpPr/>
            <p:nvPr/>
          </p:nvSpPr>
          <p:spPr>
            <a:xfrm>
              <a:off x="2549774" y="3787025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499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49774" y="3787025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499" y="0"/>
                  </a:lnTo>
                  <a:lnTo>
                    <a:pt x="190499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2556918" y="3817073"/>
            <a:ext cx="195580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78431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2771072" y="4128414"/>
            <a:ext cx="205104" cy="442595"/>
            <a:chOff x="2771072" y="4128414"/>
            <a:chExt cx="205104" cy="442595"/>
          </a:xfrm>
        </p:grpSpPr>
        <p:sp>
          <p:nvSpPr>
            <p:cNvPr id="93" name="object 93"/>
            <p:cNvSpPr/>
            <p:nvPr/>
          </p:nvSpPr>
          <p:spPr>
            <a:xfrm>
              <a:off x="27783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50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2793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783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500" y="0"/>
                  </a:lnTo>
                  <a:lnTo>
                    <a:pt x="19050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766468" y="4165765"/>
            <a:ext cx="214629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771072" y="3652926"/>
            <a:ext cx="205104" cy="490220"/>
            <a:chOff x="2771072" y="3652926"/>
            <a:chExt cx="205104" cy="490220"/>
          </a:xfrm>
        </p:grpSpPr>
        <p:sp>
          <p:nvSpPr>
            <p:cNvPr id="97" name="object 97"/>
            <p:cNvSpPr/>
            <p:nvPr/>
          </p:nvSpPr>
          <p:spPr>
            <a:xfrm>
              <a:off x="2778374" y="3660228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19050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778374" y="3660228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0" y="0"/>
                  </a:moveTo>
                  <a:lnTo>
                    <a:pt x="190500" y="0"/>
                  </a:lnTo>
                  <a:lnTo>
                    <a:pt x="19050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2766468" y="3678389"/>
            <a:ext cx="214629" cy="433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0129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2999672" y="4207662"/>
            <a:ext cx="205104" cy="363855"/>
            <a:chOff x="2999672" y="4207662"/>
            <a:chExt cx="205104" cy="363855"/>
          </a:xfrm>
        </p:grpSpPr>
        <p:sp>
          <p:nvSpPr>
            <p:cNvPr id="102" name="object 102"/>
            <p:cNvSpPr/>
            <p:nvPr/>
          </p:nvSpPr>
          <p:spPr>
            <a:xfrm>
              <a:off x="30069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50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486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00697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500" y="0"/>
                  </a:lnTo>
                  <a:lnTo>
                    <a:pt x="19050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2995068" y="4231801"/>
            <a:ext cx="195580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54199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999672" y="3763873"/>
            <a:ext cx="205104" cy="458470"/>
            <a:chOff x="2999672" y="3763873"/>
            <a:chExt cx="205104" cy="458470"/>
          </a:xfrm>
        </p:grpSpPr>
        <p:sp>
          <p:nvSpPr>
            <p:cNvPr id="106" name="object 106"/>
            <p:cNvSpPr/>
            <p:nvPr/>
          </p:nvSpPr>
          <p:spPr>
            <a:xfrm>
              <a:off x="3006974" y="3771176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006974" y="3771176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995068" y="3803862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999672" y="3462731"/>
            <a:ext cx="205104" cy="316230"/>
            <a:chOff x="2999672" y="3462731"/>
            <a:chExt cx="205104" cy="316230"/>
          </a:xfrm>
        </p:grpSpPr>
        <p:sp>
          <p:nvSpPr>
            <p:cNvPr id="110" name="object 110"/>
            <p:cNvSpPr/>
            <p:nvPr/>
          </p:nvSpPr>
          <p:spPr>
            <a:xfrm>
              <a:off x="3006974" y="347003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006974" y="3470033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995068" y="3504044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552608" y="53129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4129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3399722" y="4175963"/>
            <a:ext cx="205104" cy="395605"/>
            <a:chOff x="3399722" y="4175963"/>
            <a:chExt cx="205104" cy="395605"/>
          </a:xfrm>
        </p:grpSpPr>
        <p:sp>
          <p:nvSpPr>
            <p:cNvPr id="116" name="object 116"/>
            <p:cNvSpPr/>
            <p:nvPr/>
          </p:nvSpPr>
          <p:spPr>
            <a:xfrm>
              <a:off x="340702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40702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3414168" y="4205389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3399722" y="3843121"/>
            <a:ext cx="205104" cy="347980"/>
            <a:chOff x="3399722" y="3843121"/>
            <a:chExt cx="205104" cy="347980"/>
          </a:xfrm>
        </p:grpSpPr>
        <p:sp>
          <p:nvSpPr>
            <p:cNvPr id="120" name="object 120"/>
            <p:cNvSpPr/>
            <p:nvPr/>
          </p:nvSpPr>
          <p:spPr>
            <a:xfrm>
              <a:off x="3407024" y="3850424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407024" y="3850424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3414168" y="3892359"/>
            <a:ext cx="195580" cy="243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399722" y="3462731"/>
            <a:ext cx="205104" cy="395605"/>
            <a:chOff x="3399722" y="3462731"/>
            <a:chExt cx="205104" cy="395605"/>
          </a:xfrm>
        </p:grpSpPr>
        <p:sp>
          <p:nvSpPr>
            <p:cNvPr id="124" name="object 124"/>
            <p:cNvSpPr/>
            <p:nvPr/>
          </p:nvSpPr>
          <p:spPr>
            <a:xfrm>
              <a:off x="3407024" y="3470033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407024" y="3470033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3414168" y="3492156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64156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3628322" y="4160113"/>
            <a:ext cx="205104" cy="410845"/>
            <a:chOff x="3628322" y="4160113"/>
            <a:chExt cx="205104" cy="410845"/>
          </a:xfrm>
        </p:grpSpPr>
        <p:sp>
          <p:nvSpPr>
            <p:cNvPr id="129" name="object 129"/>
            <p:cNvSpPr/>
            <p:nvPr/>
          </p:nvSpPr>
          <p:spPr>
            <a:xfrm>
              <a:off x="3635624" y="4167416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190500" y="396239"/>
                  </a:moveTo>
                  <a:lnTo>
                    <a:pt x="0" y="3962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9623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5624" y="4167416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0" y="0"/>
                  </a:moveTo>
                  <a:lnTo>
                    <a:pt x="190500" y="0"/>
                  </a:lnTo>
                  <a:lnTo>
                    <a:pt x="190500" y="396239"/>
                  </a:lnTo>
                  <a:lnTo>
                    <a:pt x="0" y="3962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3623718" y="4192177"/>
            <a:ext cx="214629" cy="3416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628322" y="3779723"/>
            <a:ext cx="205104" cy="395605"/>
            <a:chOff x="3628322" y="3779723"/>
            <a:chExt cx="205104" cy="395605"/>
          </a:xfrm>
        </p:grpSpPr>
        <p:sp>
          <p:nvSpPr>
            <p:cNvPr id="133" name="object 133"/>
            <p:cNvSpPr/>
            <p:nvPr/>
          </p:nvSpPr>
          <p:spPr>
            <a:xfrm>
              <a:off x="3635624" y="378702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635624" y="378702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3623718" y="3809149"/>
            <a:ext cx="214629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8701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3864224" y="4262513"/>
            <a:ext cx="190500" cy="301625"/>
          </a:xfrm>
          <a:custGeom>
            <a:avLst/>
            <a:gdLst/>
            <a:ahLst/>
            <a:cxnLst/>
            <a:rect l="l" t="t" r="r" b="b"/>
            <a:pathLst>
              <a:path w="190500" h="301625">
                <a:moveTo>
                  <a:pt x="0" y="0"/>
                </a:moveTo>
                <a:lnTo>
                  <a:pt x="190500" y="0"/>
                </a:lnTo>
                <a:lnTo>
                  <a:pt x="190500" y="301142"/>
                </a:lnTo>
                <a:lnTo>
                  <a:pt x="0" y="301142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3864224" y="4262513"/>
            <a:ext cx="190500" cy="301625"/>
          </a:xfrm>
          <a:prstGeom prst="rect">
            <a:avLst/>
          </a:prstGeom>
          <a:solidFill>
            <a:srgbClr val="05B5D4"/>
          </a:solidFill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0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2667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3856922" y="3843121"/>
            <a:ext cx="205104" cy="426720"/>
            <a:chOff x="3856922" y="3843121"/>
            <a:chExt cx="205104" cy="426720"/>
          </a:xfrm>
        </p:grpSpPr>
        <p:sp>
          <p:nvSpPr>
            <p:cNvPr id="140" name="object 140"/>
            <p:cNvSpPr/>
            <p:nvPr/>
          </p:nvSpPr>
          <p:spPr>
            <a:xfrm>
              <a:off x="3864224" y="3850424"/>
              <a:ext cx="190500" cy="412115"/>
            </a:xfrm>
            <a:custGeom>
              <a:avLst/>
              <a:gdLst/>
              <a:ahLst/>
              <a:cxnLst/>
              <a:rect l="l" t="t" r="r" b="b"/>
              <a:pathLst>
                <a:path w="190500" h="412114">
                  <a:moveTo>
                    <a:pt x="19050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1208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864224" y="3850424"/>
              <a:ext cx="190500" cy="412115"/>
            </a:xfrm>
            <a:custGeom>
              <a:avLst/>
              <a:gdLst/>
              <a:ahLst/>
              <a:cxnLst/>
              <a:rect l="l" t="t" r="r" b="b"/>
              <a:pathLst>
                <a:path w="190500" h="412114">
                  <a:moveTo>
                    <a:pt x="0" y="0"/>
                  </a:moveTo>
                  <a:lnTo>
                    <a:pt x="190500" y="0"/>
                  </a:lnTo>
                  <a:lnTo>
                    <a:pt x="19050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3852318" y="3877833"/>
            <a:ext cx="19558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004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3856922" y="3526129"/>
            <a:ext cx="205104" cy="332105"/>
            <a:chOff x="3856922" y="3526129"/>
            <a:chExt cx="205104" cy="332105"/>
          </a:xfrm>
        </p:grpSpPr>
        <p:sp>
          <p:nvSpPr>
            <p:cNvPr id="144" name="object 144"/>
            <p:cNvSpPr/>
            <p:nvPr/>
          </p:nvSpPr>
          <p:spPr>
            <a:xfrm>
              <a:off x="3864224" y="353343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19050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1699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864224" y="3533432"/>
              <a:ext cx="190500" cy="317500"/>
            </a:xfrm>
            <a:custGeom>
              <a:avLst/>
              <a:gdLst/>
              <a:ahLst/>
              <a:cxnLst/>
              <a:rect l="l" t="t" r="r" b="b"/>
              <a:pathLst>
                <a:path w="190500" h="317500">
                  <a:moveTo>
                    <a:pt x="0" y="0"/>
                  </a:moveTo>
                  <a:lnTo>
                    <a:pt x="190500" y="0"/>
                  </a:lnTo>
                  <a:lnTo>
                    <a:pt x="19050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3845174" y="3571405"/>
            <a:ext cx="202565" cy="235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300">
              <a:latin typeface="Verdana"/>
              <a:cs typeface="Verdana"/>
            </a:endParaRPr>
          </a:p>
          <a:p>
            <a:pPr marL="4572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4416532" y="53129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42702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4256972" y="4128414"/>
            <a:ext cx="205104" cy="442595"/>
            <a:chOff x="4256972" y="4128414"/>
            <a:chExt cx="205104" cy="442595"/>
          </a:xfrm>
        </p:grpSpPr>
        <p:sp>
          <p:nvSpPr>
            <p:cNvPr id="150" name="object 150"/>
            <p:cNvSpPr/>
            <p:nvPr/>
          </p:nvSpPr>
          <p:spPr>
            <a:xfrm>
              <a:off x="42642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19050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27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264274" y="4135716"/>
              <a:ext cx="190500" cy="427990"/>
            </a:xfrm>
            <a:custGeom>
              <a:avLst/>
              <a:gdLst/>
              <a:ahLst/>
              <a:cxnLst/>
              <a:rect l="l" t="t" r="r" b="b"/>
              <a:pathLst>
                <a:path w="190500" h="427989">
                  <a:moveTo>
                    <a:pt x="0" y="0"/>
                  </a:moveTo>
                  <a:lnTo>
                    <a:pt x="190500" y="0"/>
                  </a:lnTo>
                  <a:lnTo>
                    <a:pt x="19050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4271418" y="4165765"/>
            <a:ext cx="195580" cy="362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53" name="object 153"/>
          <p:cNvGrpSpPr/>
          <p:nvPr/>
        </p:nvGrpSpPr>
        <p:grpSpPr>
          <a:xfrm>
            <a:off x="4256972" y="3668776"/>
            <a:ext cx="205104" cy="474345"/>
            <a:chOff x="4256972" y="3668776"/>
            <a:chExt cx="205104" cy="474345"/>
          </a:xfrm>
        </p:grpSpPr>
        <p:sp>
          <p:nvSpPr>
            <p:cNvPr id="154" name="object 154"/>
            <p:cNvSpPr/>
            <p:nvPr/>
          </p:nvSpPr>
          <p:spPr>
            <a:xfrm>
              <a:off x="4264274" y="3676078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264274" y="3676078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4271418" y="3692258"/>
            <a:ext cx="195580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49881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4485572" y="4112564"/>
            <a:ext cx="205104" cy="458470"/>
            <a:chOff x="4485572" y="4112564"/>
            <a:chExt cx="205104" cy="458470"/>
          </a:xfrm>
        </p:grpSpPr>
        <p:sp>
          <p:nvSpPr>
            <p:cNvPr id="159" name="object 159"/>
            <p:cNvSpPr/>
            <p:nvPr/>
          </p:nvSpPr>
          <p:spPr>
            <a:xfrm>
              <a:off x="449287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49287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448096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485572" y="3637076"/>
            <a:ext cx="205104" cy="490220"/>
            <a:chOff x="4485572" y="3637076"/>
            <a:chExt cx="205104" cy="490220"/>
          </a:xfrm>
        </p:grpSpPr>
        <p:sp>
          <p:nvSpPr>
            <p:cNvPr id="163" name="object 163"/>
            <p:cNvSpPr/>
            <p:nvPr/>
          </p:nvSpPr>
          <p:spPr>
            <a:xfrm>
              <a:off x="4492874" y="3644379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19050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754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492874" y="3644379"/>
              <a:ext cx="190500" cy="475615"/>
            </a:xfrm>
            <a:custGeom>
              <a:avLst/>
              <a:gdLst/>
              <a:ahLst/>
              <a:cxnLst/>
              <a:rect l="l" t="t" r="r" b="b"/>
              <a:pathLst>
                <a:path w="190500" h="475614">
                  <a:moveTo>
                    <a:pt x="0" y="0"/>
                  </a:moveTo>
                  <a:lnTo>
                    <a:pt x="190500" y="0"/>
                  </a:lnTo>
                  <a:lnTo>
                    <a:pt x="19050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480968" y="3662540"/>
            <a:ext cx="195580" cy="433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4485572" y="3335934"/>
            <a:ext cx="205104" cy="316230"/>
            <a:chOff x="4485572" y="3335934"/>
            <a:chExt cx="205104" cy="316230"/>
          </a:xfrm>
        </p:grpSpPr>
        <p:sp>
          <p:nvSpPr>
            <p:cNvPr id="167" name="object 167"/>
            <p:cNvSpPr/>
            <p:nvPr/>
          </p:nvSpPr>
          <p:spPr>
            <a:xfrm>
              <a:off x="4492874" y="3343236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492874" y="3343236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4480968" y="3377247"/>
            <a:ext cx="195580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47274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4721474" y="4199115"/>
            <a:ext cx="190500" cy="365125"/>
          </a:xfrm>
          <a:custGeom>
            <a:avLst/>
            <a:gdLst/>
            <a:ahLst/>
            <a:cxnLst/>
            <a:rect l="l" t="t" r="r" b="b"/>
            <a:pathLst>
              <a:path w="190500" h="365125">
                <a:moveTo>
                  <a:pt x="190500" y="364540"/>
                </a:moveTo>
                <a:lnTo>
                  <a:pt x="0" y="364540"/>
                </a:lnTo>
                <a:lnTo>
                  <a:pt x="0" y="0"/>
                </a:lnTo>
                <a:lnTo>
                  <a:pt x="190500" y="0"/>
                </a:lnTo>
                <a:lnTo>
                  <a:pt x="190500" y="364540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4683374" y="4207535"/>
            <a:ext cx="228600" cy="356235"/>
          </a:xfrm>
          <a:prstGeom prst="rect">
            <a:avLst/>
          </a:prstGeom>
          <a:ln w="14287">
            <a:solidFill>
              <a:srgbClr val="FFFFFF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2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64769" marR="19050">
              <a:lnSpc>
                <a:spcPct val="2658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4721474" y="3850424"/>
            <a:ext cx="190500" cy="349250"/>
          </a:xfrm>
          <a:custGeom>
            <a:avLst/>
            <a:gdLst/>
            <a:ahLst/>
            <a:cxnLst/>
            <a:rect l="l" t="t" r="r" b="b"/>
            <a:pathLst>
              <a:path w="190500" h="349250">
                <a:moveTo>
                  <a:pt x="190500" y="348691"/>
                </a:moveTo>
                <a:lnTo>
                  <a:pt x="0" y="348691"/>
                </a:lnTo>
                <a:lnTo>
                  <a:pt x="0" y="0"/>
                </a:lnTo>
                <a:lnTo>
                  <a:pt x="190500" y="0"/>
                </a:lnTo>
                <a:lnTo>
                  <a:pt x="190500" y="348691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 txBox="1"/>
          <p:nvPr/>
        </p:nvSpPr>
        <p:spPr>
          <a:xfrm>
            <a:off x="4683374" y="3850424"/>
            <a:ext cx="228600" cy="357505"/>
          </a:xfrm>
          <a:prstGeom prst="rect">
            <a:avLst/>
          </a:prstGeom>
          <a:ln w="14287">
            <a:solidFill>
              <a:srgbClr val="FFFFFF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270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64769" marR="19050">
              <a:lnSpc>
                <a:spcPct val="254199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259782" y="53129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12746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114222" y="4191812"/>
            <a:ext cx="205104" cy="379730"/>
            <a:chOff x="5114222" y="4191812"/>
            <a:chExt cx="205104" cy="379730"/>
          </a:xfrm>
        </p:grpSpPr>
        <p:sp>
          <p:nvSpPr>
            <p:cNvPr id="178" name="object 178"/>
            <p:cNvSpPr/>
            <p:nvPr/>
          </p:nvSpPr>
          <p:spPr>
            <a:xfrm>
              <a:off x="5121524" y="4199115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121524" y="4199115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5128668" y="4218600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114222" y="3732174"/>
            <a:ext cx="205104" cy="474345"/>
            <a:chOff x="5114222" y="3732174"/>
            <a:chExt cx="205104" cy="474345"/>
          </a:xfrm>
        </p:grpSpPr>
        <p:sp>
          <p:nvSpPr>
            <p:cNvPr id="182" name="object 182"/>
            <p:cNvSpPr/>
            <p:nvPr/>
          </p:nvSpPr>
          <p:spPr>
            <a:xfrm>
              <a:off x="5121524" y="373947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121524" y="373947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5128668" y="3755656"/>
            <a:ext cx="195580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114222" y="3399332"/>
            <a:ext cx="205104" cy="347980"/>
            <a:chOff x="5114222" y="3399332"/>
            <a:chExt cx="205104" cy="347980"/>
          </a:xfrm>
        </p:grpSpPr>
        <p:sp>
          <p:nvSpPr>
            <p:cNvPr id="186" name="object 186"/>
            <p:cNvSpPr/>
            <p:nvPr/>
          </p:nvSpPr>
          <p:spPr>
            <a:xfrm>
              <a:off x="5121524" y="340663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121524" y="340663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5145664" y="3448570"/>
            <a:ext cx="142240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5145664" y="3614991"/>
            <a:ext cx="142240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5356065" y="4646206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342822" y="4207662"/>
            <a:ext cx="205104" cy="363855"/>
            <a:chOff x="5342822" y="4207662"/>
            <a:chExt cx="205104" cy="363855"/>
          </a:xfrm>
        </p:grpSpPr>
        <p:sp>
          <p:nvSpPr>
            <p:cNvPr id="192" name="object 192"/>
            <p:cNvSpPr/>
            <p:nvPr/>
          </p:nvSpPr>
          <p:spPr>
            <a:xfrm>
              <a:off x="535012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19050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350124" y="4214965"/>
              <a:ext cx="190500" cy="349250"/>
            </a:xfrm>
            <a:custGeom>
              <a:avLst/>
              <a:gdLst/>
              <a:ahLst/>
              <a:cxnLst/>
              <a:rect l="l" t="t" r="r" b="b"/>
              <a:pathLst>
                <a:path w="190500" h="349250">
                  <a:moveTo>
                    <a:pt x="0" y="0"/>
                  </a:moveTo>
                  <a:lnTo>
                    <a:pt x="190500" y="0"/>
                  </a:lnTo>
                  <a:lnTo>
                    <a:pt x="19050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5338218" y="4231801"/>
            <a:ext cx="214629" cy="309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5342822" y="3843121"/>
            <a:ext cx="205104" cy="379730"/>
            <a:chOff x="5342822" y="3843121"/>
            <a:chExt cx="205104" cy="379730"/>
          </a:xfrm>
        </p:grpSpPr>
        <p:sp>
          <p:nvSpPr>
            <p:cNvPr id="196" name="object 196"/>
            <p:cNvSpPr/>
            <p:nvPr/>
          </p:nvSpPr>
          <p:spPr>
            <a:xfrm>
              <a:off x="5350124" y="38504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350124" y="38504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5338218" y="3869909"/>
            <a:ext cx="214629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  <a:spcBef>
                <a:spcPts val="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342822" y="3383483"/>
            <a:ext cx="205104" cy="474345"/>
            <a:chOff x="5342822" y="3383483"/>
            <a:chExt cx="205104" cy="474345"/>
          </a:xfrm>
        </p:grpSpPr>
        <p:sp>
          <p:nvSpPr>
            <p:cNvPr id="200" name="object 200"/>
            <p:cNvSpPr/>
            <p:nvPr/>
          </p:nvSpPr>
          <p:spPr>
            <a:xfrm>
              <a:off x="5350124" y="3390785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350124" y="3390785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2" name="object 202"/>
          <p:cNvSpPr txBox="1"/>
          <p:nvPr/>
        </p:nvSpPr>
        <p:spPr>
          <a:xfrm>
            <a:off x="5379966" y="3406965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379966" y="352187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5379966" y="363678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5379966" y="3751694"/>
            <a:ext cx="131445" cy="7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58466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5571422" y="4112564"/>
            <a:ext cx="205104" cy="458470"/>
            <a:chOff x="5571422" y="4112564"/>
            <a:chExt cx="205104" cy="458470"/>
          </a:xfrm>
        </p:grpSpPr>
        <p:sp>
          <p:nvSpPr>
            <p:cNvPr id="208" name="object 208"/>
            <p:cNvSpPr/>
            <p:nvPr/>
          </p:nvSpPr>
          <p:spPr>
            <a:xfrm>
              <a:off x="5578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19050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437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578724" y="4119867"/>
              <a:ext cx="190500" cy="443865"/>
            </a:xfrm>
            <a:custGeom>
              <a:avLst/>
              <a:gdLst/>
              <a:ahLst/>
              <a:cxnLst/>
              <a:rect l="l" t="t" r="r" b="b"/>
              <a:pathLst>
                <a:path w="190500" h="443864">
                  <a:moveTo>
                    <a:pt x="0" y="0"/>
                  </a:moveTo>
                  <a:lnTo>
                    <a:pt x="190500" y="0"/>
                  </a:lnTo>
                  <a:lnTo>
                    <a:pt x="19050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5566818" y="4152553"/>
            <a:ext cx="195580" cy="372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3236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5571422" y="3779723"/>
            <a:ext cx="205104" cy="347980"/>
            <a:chOff x="5571422" y="3779723"/>
            <a:chExt cx="205104" cy="347980"/>
          </a:xfrm>
        </p:grpSpPr>
        <p:sp>
          <p:nvSpPr>
            <p:cNvPr id="212" name="object 212"/>
            <p:cNvSpPr/>
            <p:nvPr/>
          </p:nvSpPr>
          <p:spPr>
            <a:xfrm>
              <a:off x="5578724" y="378702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19050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3284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578724" y="3787025"/>
              <a:ext cx="190500" cy="333375"/>
            </a:xfrm>
            <a:custGeom>
              <a:avLst/>
              <a:gdLst/>
              <a:ahLst/>
              <a:cxnLst/>
              <a:rect l="l" t="t" r="r" b="b"/>
              <a:pathLst>
                <a:path w="190500" h="333375">
                  <a:moveTo>
                    <a:pt x="0" y="0"/>
                  </a:moveTo>
                  <a:lnTo>
                    <a:pt x="190500" y="0"/>
                  </a:lnTo>
                  <a:lnTo>
                    <a:pt x="19050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4" name="object 214"/>
          <p:cNvSpPr txBox="1"/>
          <p:nvPr/>
        </p:nvSpPr>
        <p:spPr>
          <a:xfrm>
            <a:off x="5566818" y="3828961"/>
            <a:ext cx="195580" cy="2438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3873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130683" y="53129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5984715" y="4646205"/>
            <a:ext cx="118110" cy="46672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7" name="object 217"/>
          <p:cNvSpPr/>
          <p:nvPr/>
        </p:nvSpPr>
        <p:spPr>
          <a:xfrm>
            <a:off x="5978774" y="4230814"/>
            <a:ext cx="190500" cy="333375"/>
          </a:xfrm>
          <a:custGeom>
            <a:avLst/>
            <a:gdLst/>
            <a:ahLst/>
            <a:cxnLst/>
            <a:rect l="l" t="t" r="r" b="b"/>
            <a:pathLst>
              <a:path w="190500" h="333375">
                <a:moveTo>
                  <a:pt x="0" y="0"/>
                </a:moveTo>
                <a:lnTo>
                  <a:pt x="190500" y="0"/>
                </a:lnTo>
                <a:lnTo>
                  <a:pt x="190500" y="332841"/>
                </a:lnTo>
                <a:lnTo>
                  <a:pt x="0" y="332841"/>
                </a:lnTo>
                <a:lnTo>
                  <a:pt x="0" y="0"/>
                </a:lnTo>
                <a:close/>
              </a:path>
            </a:pathLst>
          </a:custGeom>
          <a:ln w="14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5978774" y="4230814"/>
            <a:ext cx="190500" cy="333375"/>
          </a:xfrm>
          <a:prstGeom prst="rect">
            <a:avLst/>
          </a:prstGeom>
          <a:solidFill>
            <a:srgbClr val="EF4444"/>
          </a:solidFill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3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00">
              <a:latin typeface="Verdana"/>
              <a:cs typeface="Verdana"/>
            </a:endParaRPr>
          </a:p>
          <a:p>
            <a:pPr marL="36830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19" name="object 219"/>
          <p:cNvGrpSpPr/>
          <p:nvPr/>
        </p:nvGrpSpPr>
        <p:grpSpPr>
          <a:xfrm>
            <a:off x="5971472" y="3827272"/>
            <a:ext cx="205104" cy="410845"/>
            <a:chOff x="5971472" y="3827272"/>
            <a:chExt cx="205104" cy="410845"/>
          </a:xfrm>
        </p:grpSpPr>
        <p:sp>
          <p:nvSpPr>
            <p:cNvPr id="220" name="object 220"/>
            <p:cNvSpPr/>
            <p:nvPr/>
          </p:nvSpPr>
          <p:spPr>
            <a:xfrm>
              <a:off x="5978774" y="3834574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19050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962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978774" y="3834574"/>
              <a:ext cx="190500" cy="396240"/>
            </a:xfrm>
            <a:custGeom>
              <a:avLst/>
              <a:gdLst/>
              <a:ahLst/>
              <a:cxnLst/>
              <a:rect l="l" t="t" r="r" b="b"/>
              <a:pathLst>
                <a:path w="190500" h="396239">
                  <a:moveTo>
                    <a:pt x="0" y="0"/>
                  </a:moveTo>
                  <a:lnTo>
                    <a:pt x="190500" y="0"/>
                  </a:lnTo>
                  <a:lnTo>
                    <a:pt x="1905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2" name="object 222"/>
          <p:cNvSpPr txBox="1"/>
          <p:nvPr/>
        </p:nvSpPr>
        <p:spPr>
          <a:xfrm>
            <a:off x="5985918" y="3859336"/>
            <a:ext cx="195580" cy="340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3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M</a:t>
            </a:r>
            <a:r>
              <a:rPr sz="300" b="1" spc="200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M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6213315" y="4646205"/>
            <a:ext cx="118110" cy="410209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6200072" y="4096715"/>
            <a:ext cx="205104" cy="474345"/>
            <a:chOff x="6200072" y="4096715"/>
            <a:chExt cx="205104" cy="474345"/>
          </a:xfrm>
        </p:grpSpPr>
        <p:sp>
          <p:nvSpPr>
            <p:cNvPr id="225" name="object 225"/>
            <p:cNvSpPr/>
            <p:nvPr/>
          </p:nvSpPr>
          <p:spPr>
            <a:xfrm>
              <a:off x="6207374" y="410401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19050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6207374" y="4104017"/>
              <a:ext cx="190500" cy="459740"/>
            </a:xfrm>
            <a:custGeom>
              <a:avLst/>
              <a:gdLst/>
              <a:ahLst/>
              <a:cxnLst/>
              <a:rect l="l" t="t" r="r" b="b"/>
              <a:pathLst>
                <a:path w="190500" h="459739">
                  <a:moveTo>
                    <a:pt x="0" y="0"/>
                  </a:moveTo>
                  <a:lnTo>
                    <a:pt x="190500" y="0"/>
                  </a:lnTo>
                  <a:lnTo>
                    <a:pt x="19050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6195468" y="4120197"/>
            <a:ext cx="214629" cy="42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6200072" y="3795572"/>
            <a:ext cx="205104" cy="316230"/>
            <a:chOff x="6200072" y="3795572"/>
            <a:chExt cx="205104" cy="316230"/>
          </a:xfrm>
        </p:grpSpPr>
        <p:sp>
          <p:nvSpPr>
            <p:cNvPr id="229" name="object 229"/>
            <p:cNvSpPr/>
            <p:nvPr/>
          </p:nvSpPr>
          <p:spPr>
            <a:xfrm>
              <a:off x="6207374" y="3802875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19050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6207374" y="3802875"/>
              <a:ext cx="190500" cy="301625"/>
            </a:xfrm>
            <a:custGeom>
              <a:avLst/>
              <a:gdLst/>
              <a:ahLst/>
              <a:cxnLst/>
              <a:rect l="l" t="t" r="r" b="b"/>
              <a:pathLst>
                <a:path w="190500" h="301625">
                  <a:moveTo>
                    <a:pt x="0" y="0"/>
                  </a:moveTo>
                  <a:lnTo>
                    <a:pt x="190500" y="0"/>
                  </a:lnTo>
                  <a:lnTo>
                    <a:pt x="19050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1" name="object 231"/>
          <p:cNvSpPr txBox="1"/>
          <p:nvPr/>
        </p:nvSpPr>
        <p:spPr>
          <a:xfrm>
            <a:off x="6195468" y="3836885"/>
            <a:ext cx="214629" cy="227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300" b="1" dirty="0">
                <a:latin typeface="Verdana"/>
                <a:cs typeface="Verdana"/>
              </a:rPr>
              <a:t>T</a:t>
            </a:r>
            <a:r>
              <a:rPr sz="300" b="1" spc="285" dirty="0">
                <a:latin typeface="Verdana"/>
                <a:cs typeface="Verdana"/>
              </a:rPr>
              <a:t> </a:t>
            </a:r>
            <a:r>
              <a:rPr sz="300" b="1" spc="-50" dirty="0">
                <a:latin typeface="Verdana"/>
                <a:cs typeface="Verdana"/>
              </a:rPr>
              <a:t>T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6441915" y="4646205"/>
            <a:ext cx="118110" cy="4445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600" b="1" spc="-1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6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6428672" y="4175963"/>
            <a:ext cx="205104" cy="395605"/>
            <a:chOff x="6428672" y="4175963"/>
            <a:chExt cx="205104" cy="395605"/>
          </a:xfrm>
        </p:grpSpPr>
        <p:sp>
          <p:nvSpPr>
            <p:cNvPr id="234" name="object 234"/>
            <p:cNvSpPr/>
            <p:nvPr/>
          </p:nvSpPr>
          <p:spPr>
            <a:xfrm>
              <a:off x="643597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19050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803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6435974" y="4183265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0" y="0"/>
                  </a:moveTo>
                  <a:lnTo>
                    <a:pt x="190500" y="0"/>
                  </a:lnTo>
                  <a:lnTo>
                    <a:pt x="19050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6424068" y="4205389"/>
            <a:ext cx="195580" cy="330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773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6428672" y="3811422"/>
            <a:ext cx="205104" cy="379730"/>
            <a:chOff x="6428672" y="3811422"/>
            <a:chExt cx="205104" cy="379730"/>
          </a:xfrm>
        </p:grpSpPr>
        <p:sp>
          <p:nvSpPr>
            <p:cNvPr id="238" name="object 238"/>
            <p:cNvSpPr/>
            <p:nvPr/>
          </p:nvSpPr>
          <p:spPr>
            <a:xfrm>
              <a:off x="6435974" y="38187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19050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90500" y="0"/>
                  </a:lnTo>
                  <a:lnTo>
                    <a:pt x="190500" y="36454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435974" y="3818724"/>
              <a:ext cx="190500" cy="365125"/>
            </a:xfrm>
            <a:custGeom>
              <a:avLst/>
              <a:gdLst/>
              <a:ahLst/>
              <a:cxnLst/>
              <a:rect l="l" t="t" r="r" b="b"/>
              <a:pathLst>
                <a:path w="190500" h="365125">
                  <a:moveTo>
                    <a:pt x="0" y="0"/>
                  </a:moveTo>
                  <a:lnTo>
                    <a:pt x="190500" y="0"/>
                  </a:lnTo>
                  <a:lnTo>
                    <a:pt x="19050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0" name="object 240"/>
          <p:cNvSpPr txBox="1"/>
          <p:nvPr/>
        </p:nvSpPr>
        <p:spPr>
          <a:xfrm>
            <a:off x="6424068" y="3838209"/>
            <a:ext cx="195580" cy="320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35"/>
              </a:spcBef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  <a:p>
            <a:pPr marL="38735" marR="12065">
              <a:lnSpc>
                <a:spcPct val="265800"/>
              </a:lnSpc>
            </a:pP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r>
              <a:rPr sz="300" b="1" spc="500" dirty="0">
                <a:latin typeface="Verdana"/>
                <a:cs typeface="Verdana"/>
              </a:rPr>
              <a:t> </a:t>
            </a:r>
            <a:r>
              <a:rPr sz="300" b="1" dirty="0">
                <a:latin typeface="Verdana"/>
                <a:cs typeface="Verdana"/>
              </a:rPr>
              <a:t>CT</a:t>
            </a:r>
            <a:r>
              <a:rPr sz="300" b="1" spc="75" dirty="0">
                <a:latin typeface="Verdana"/>
                <a:cs typeface="Verdana"/>
              </a:rPr>
              <a:t> </a:t>
            </a:r>
            <a:r>
              <a:rPr sz="300" b="1" spc="-35" dirty="0">
                <a:latin typeface="Verdana"/>
                <a:cs typeface="Verdana"/>
              </a:rPr>
              <a:t>CT</a:t>
            </a:r>
            <a:endParaRPr sz="300">
              <a:latin typeface="Verdana"/>
              <a:cs typeface="Verdana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539999" y="3231172"/>
            <a:ext cx="9611995" cy="3563620"/>
            <a:chOff x="539999" y="3231172"/>
            <a:chExt cx="9611995" cy="3563620"/>
          </a:xfrm>
        </p:grpSpPr>
        <p:sp>
          <p:nvSpPr>
            <p:cNvPr id="242" name="object 242"/>
            <p:cNvSpPr/>
            <p:nvPr/>
          </p:nvSpPr>
          <p:spPr>
            <a:xfrm>
              <a:off x="2035424" y="3269272"/>
              <a:ext cx="4286250" cy="436245"/>
            </a:xfrm>
            <a:custGeom>
              <a:avLst/>
              <a:gdLst/>
              <a:ahLst/>
              <a:cxnLst/>
              <a:rect l="l" t="t" r="r" b="b"/>
              <a:pathLst>
                <a:path w="4286250" h="436245">
                  <a:moveTo>
                    <a:pt x="0" y="435864"/>
                  </a:moveTo>
                  <a:lnTo>
                    <a:pt x="857249" y="138684"/>
                  </a:lnTo>
                  <a:lnTo>
                    <a:pt x="1714500" y="85851"/>
                  </a:lnTo>
                  <a:lnTo>
                    <a:pt x="2571750" y="118872"/>
                  </a:lnTo>
                  <a:lnTo>
                    <a:pt x="3429000" y="0"/>
                  </a:lnTo>
                  <a:lnTo>
                    <a:pt x="4286250" y="363219"/>
                  </a:lnTo>
                </a:path>
              </a:pathLst>
            </a:custGeom>
            <a:ln w="2857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3" name="object 2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7324" y="3667036"/>
              <a:ext cx="76200" cy="76200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4574" y="3369856"/>
              <a:ext cx="76200" cy="76200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11824" y="3317024"/>
              <a:ext cx="76200" cy="76200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69074" y="3350044"/>
              <a:ext cx="76200" cy="76200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26324" y="3231172"/>
              <a:ext cx="76200" cy="76200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3574" y="3594392"/>
              <a:ext cx="76200" cy="7620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539999" y="6785048"/>
              <a:ext cx="9611995" cy="9525"/>
            </a:xfrm>
            <a:custGeom>
              <a:avLst/>
              <a:gdLst/>
              <a:ahLst/>
              <a:cxnLst/>
              <a:rect l="l" t="t" r="r" b="b"/>
              <a:pathLst>
                <a:path w="9611995" h="9525">
                  <a:moveTo>
                    <a:pt x="9611963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9611963" y="0"/>
                  </a:lnTo>
                  <a:lnTo>
                    <a:pt x="9611963" y="9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0" name="object 2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251" name="object 2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366895"/>
            <a:chOff x="339974" y="2045245"/>
            <a:chExt cx="10352405" cy="4366895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366895"/>
            </a:xfrm>
            <a:custGeom>
              <a:avLst/>
              <a:gdLst/>
              <a:ahLst/>
              <a:cxnLst/>
              <a:rect l="l" t="t" r="r" b="b"/>
              <a:pathLst>
                <a:path w="10352405" h="4366895">
                  <a:moveTo>
                    <a:pt x="10248872" y="4366793"/>
                  </a:moveTo>
                  <a:lnTo>
                    <a:pt x="114300" y="4366793"/>
                  </a:lnTo>
                  <a:lnTo>
                    <a:pt x="69919" y="4357774"/>
                  </a:lnTo>
                  <a:lnTo>
                    <a:pt x="33575" y="4333217"/>
                  </a:lnTo>
                  <a:lnTo>
                    <a:pt x="9018" y="4296874"/>
                  </a:lnTo>
                  <a:lnTo>
                    <a:pt x="0" y="4252493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300019"/>
                  </a:lnTo>
                  <a:lnTo>
                    <a:pt x="10329597" y="4333217"/>
                  </a:lnTo>
                  <a:lnTo>
                    <a:pt x="10293253" y="4357774"/>
                  </a:lnTo>
                  <a:lnTo>
                    <a:pt x="10248872" y="436679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366895"/>
            </a:xfrm>
            <a:custGeom>
              <a:avLst/>
              <a:gdLst/>
              <a:ahLst/>
              <a:cxnLst/>
              <a:rect l="l" t="t" r="r" b="b"/>
              <a:pathLst>
                <a:path w="10352405" h="4366895">
                  <a:moveTo>
                    <a:pt x="10248872" y="4366793"/>
                  </a:moveTo>
                  <a:lnTo>
                    <a:pt x="114300" y="4366793"/>
                  </a:lnTo>
                  <a:lnTo>
                    <a:pt x="69919" y="4357774"/>
                  </a:lnTo>
                  <a:lnTo>
                    <a:pt x="33575" y="4333218"/>
                  </a:lnTo>
                  <a:lnTo>
                    <a:pt x="9018" y="4296874"/>
                  </a:lnTo>
                  <a:lnTo>
                    <a:pt x="0" y="4252493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252493"/>
                  </a:lnTo>
                  <a:lnTo>
                    <a:pt x="17792" y="4293175"/>
                  </a:lnTo>
                  <a:lnTo>
                    <a:pt x="40302" y="4326491"/>
                  </a:lnTo>
                  <a:lnTo>
                    <a:pt x="73617" y="4349001"/>
                  </a:lnTo>
                  <a:lnTo>
                    <a:pt x="114300" y="4357268"/>
                  </a:lnTo>
                  <a:lnTo>
                    <a:pt x="10294002" y="4357268"/>
                  </a:lnTo>
                  <a:lnTo>
                    <a:pt x="10293253" y="4357774"/>
                  </a:lnTo>
                  <a:lnTo>
                    <a:pt x="10248872" y="4366793"/>
                  </a:lnTo>
                  <a:close/>
                </a:path>
                <a:path w="10352405" h="4366895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366895">
                  <a:moveTo>
                    <a:pt x="10294002" y="4357268"/>
                  </a:moveTo>
                  <a:lnTo>
                    <a:pt x="10248872" y="4357268"/>
                  </a:lnTo>
                  <a:lnTo>
                    <a:pt x="10289555" y="4349001"/>
                  </a:lnTo>
                  <a:lnTo>
                    <a:pt x="10322870" y="4326491"/>
                  </a:lnTo>
                  <a:lnTo>
                    <a:pt x="10345380" y="4293175"/>
                  </a:lnTo>
                  <a:lnTo>
                    <a:pt x="10352028" y="4260460"/>
                  </a:lnTo>
                  <a:lnTo>
                    <a:pt x="10352028" y="4300019"/>
                  </a:lnTo>
                  <a:lnTo>
                    <a:pt x="10329597" y="4333218"/>
                  </a:lnTo>
                  <a:lnTo>
                    <a:pt x="10294002" y="435726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389629"/>
            </a:xfrm>
            <a:custGeom>
              <a:avLst/>
              <a:gdLst/>
              <a:ahLst/>
              <a:cxnLst/>
              <a:rect l="l" t="t" r="r" b="b"/>
              <a:pathLst>
                <a:path w="9963150" h="3389629">
                  <a:moveTo>
                    <a:pt x="9886922" y="3389471"/>
                  </a:moveTo>
                  <a:lnTo>
                    <a:pt x="76200" y="3389471"/>
                  </a:lnTo>
                  <a:lnTo>
                    <a:pt x="46612" y="3383458"/>
                  </a:lnTo>
                  <a:lnTo>
                    <a:pt x="22383" y="3367087"/>
                  </a:lnTo>
                  <a:lnTo>
                    <a:pt x="6012" y="3342858"/>
                  </a:lnTo>
                  <a:lnTo>
                    <a:pt x="0" y="331327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313271"/>
                  </a:lnTo>
                  <a:lnTo>
                    <a:pt x="9957110" y="3342858"/>
                  </a:lnTo>
                  <a:lnTo>
                    <a:pt x="9940738" y="3367087"/>
                  </a:lnTo>
                  <a:lnTo>
                    <a:pt x="9916509" y="3383458"/>
                  </a:lnTo>
                  <a:lnTo>
                    <a:pt x="9886922" y="3389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389629"/>
            </a:xfrm>
            <a:custGeom>
              <a:avLst/>
              <a:gdLst/>
              <a:ahLst/>
              <a:cxnLst/>
              <a:rect l="l" t="t" r="r" b="b"/>
              <a:pathLst>
                <a:path w="9963150" h="3389629">
                  <a:moveTo>
                    <a:pt x="9886922" y="3389471"/>
                  </a:moveTo>
                  <a:lnTo>
                    <a:pt x="76200" y="3389471"/>
                  </a:lnTo>
                  <a:lnTo>
                    <a:pt x="46612" y="3383458"/>
                  </a:lnTo>
                  <a:lnTo>
                    <a:pt x="22383" y="3367087"/>
                  </a:lnTo>
                  <a:lnTo>
                    <a:pt x="6012" y="3342858"/>
                  </a:lnTo>
                  <a:lnTo>
                    <a:pt x="0" y="331327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313271"/>
                  </a:lnTo>
                  <a:lnTo>
                    <a:pt x="14786" y="3339160"/>
                  </a:lnTo>
                  <a:lnTo>
                    <a:pt x="29110" y="3360360"/>
                  </a:lnTo>
                  <a:lnTo>
                    <a:pt x="50311" y="3374685"/>
                  </a:lnTo>
                  <a:lnTo>
                    <a:pt x="76200" y="3379946"/>
                  </a:lnTo>
                  <a:lnTo>
                    <a:pt x="9921707" y="3379946"/>
                  </a:lnTo>
                  <a:lnTo>
                    <a:pt x="9916509" y="3383458"/>
                  </a:lnTo>
                  <a:lnTo>
                    <a:pt x="9886922" y="3389471"/>
                  </a:lnTo>
                  <a:close/>
                </a:path>
                <a:path w="9963150" h="3389629">
                  <a:moveTo>
                    <a:pt x="9921707" y="3379946"/>
                  </a:moveTo>
                  <a:lnTo>
                    <a:pt x="9886922" y="3379946"/>
                  </a:lnTo>
                  <a:lnTo>
                    <a:pt x="9912811" y="3374685"/>
                  </a:lnTo>
                  <a:lnTo>
                    <a:pt x="9934011" y="3360360"/>
                  </a:lnTo>
                  <a:lnTo>
                    <a:pt x="9948336" y="3339160"/>
                  </a:lnTo>
                  <a:lnTo>
                    <a:pt x="9953597" y="3313271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313271"/>
                  </a:lnTo>
                  <a:lnTo>
                    <a:pt x="9957110" y="3342858"/>
                  </a:lnTo>
                  <a:lnTo>
                    <a:pt x="9940738" y="3367087"/>
                  </a:lnTo>
                  <a:lnTo>
                    <a:pt x="9921707" y="337994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5682367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5682367"/>
              <a:ext cx="9963150" cy="530225"/>
            </a:xfrm>
            <a:custGeom>
              <a:avLst/>
              <a:gdLst/>
              <a:ahLst/>
              <a:cxnLst/>
              <a:rect l="l" t="t" r="r" b="b"/>
              <a:pathLst>
                <a:path w="9963150" h="530225">
                  <a:moveTo>
                    <a:pt x="9886922" y="529647"/>
                  </a:moveTo>
                  <a:lnTo>
                    <a:pt x="76200" y="529647"/>
                  </a:lnTo>
                  <a:lnTo>
                    <a:pt x="46612" y="523634"/>
                  </a:lnTo>
                  <a:lnTo>
                    <a:pt x="22383" y="507263"/>
                  </a:lnTo>
                  <a:lnTo>
                    <a:pt x="6012" y="483034"/>
                  </a:lnTo>
                  <a:lnTo>
                    <a:pt x="0" y="453447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53447"/>
                  </a:lnTo>
                  <a:lnTo>
                    <a:pt x="14786" y="479335"/>
                  </a:lnTo>
                  <a:lnTo>
                    <a:pt x="29110" y="500536"/>
                  </a:lnTo>
                  <a:lnTo>
                    <a:pt x="50311" y="514861"/>
                  </a:lnTo>
                  <a:lnTo>
                    <a:pt x="76200" y="520122"/>
                  </a:lnTo>
                  <a:lnTo>
                    <a:pt x="9921707" y="520122"/>
                  </a:lnTo>
                  <a:lnTo>
                    <a:pt x="9916509" y="523634"/>
                  </a:lnTo>
                  <a:lnTo>
                    <a:pt x="9886922" y="529647"/>
                  </a:lnTo>
                  <a:close/>
                </a:path>
                <a:path w="9963150" h="530225">
                  <a:moveTo>
                    <a:pt x="9921707" y="520122"/>
                  </a:moveTo>
                  <a:lnTo>
                    <a:pt x="9886922" y="520122"/>
                  </a:lnTo>
                  <a:lnTo>
                    <a:pt x="9912811" y="514861"/>
                  </a:lnTo>
                  <a:lnTo>
                    <a:pt x="9934011" y="500536"/>
                  </a:lnTo>
                  <a:lnTo>
                    <a:pt x="9948336" y="479335"/>
                  </a:lnTo>
                  <a:lnTo>
                    <a:pt x="9953597" y="453447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453447"/>
                  </a:lnTo>
                  <a:lnTo>
                    <a:pt x="9957110" y="483034"/>
                  </a:lnTo>
                  <a:lnTo>
                    <a:pt x="9940738" y="507263"/>
                  </a:lnTo>
                  <a:lnTo>
                    <a:pt x="9921707" y="52012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19" y="5781436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2081" y="5781436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696" y="5781436"/>
              <a:ext cx="95250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0212" y="5781436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1863" y="5781436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1751" y="5781436"/>
              <a:ext cx="95250" cy="952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62414" y="5998635"/>
              <a:ext cx="52069" cy="133350"/>
            </a:xfrm>
            <a:custGeom>
              <a:avLst/>
              <a:gdLst/>
              <a:ahLst/>
              <a:cxnLst/>
              <a:rect l="l" t="t" r="r" b="b"/>
              <a:pathLst>
                <a:path w="52070" h="133350">
                  <a:moveTo>
                    <a:pt x="32889" y="133350"/>
                  </a:moveTo>
                  <a:lnTo>
                    <a:pt x="19050" y="133350"/>
                  </a:lnTo>
                  <a:lnTo>
                    <a:pt x="11653" y="131846"/>
                  </a:lnTo>
                  <a:lnTo>
                    <a:pt x="5595" y="127754"/>
                  </a:lnTo>
                  <a:lnTo>
                    <a:pt x="1503" y="121696"/>
                  </a:lnTo>
                  <a:lnTo>
                    <a:pt x="0" y="114300"/>
                  </a:lnTo>
                  <a:lnTo>
                    <a:pt x="0" y="19050"/>
                  </a:lnTo>
                  <a:lnTo>
                    <a:pt x="1503" y="11653"/>
                  </a:lnTo>
                  <a:lnTo>
                    <a:pt x="5595" y="5595"/>
                  </a:lnTo>
                  <a:lnTo>
                    <a:pt x="11653" y="1503"/>
                  </a:lnTo>
                  <a:lnTo>
                    <a:pt x="19050" y="0"/>
                  </a:lnTo>
                  <a:lnTo>
                    <a:pt x="32889" y="0"/>
                  </a:lnTo>
                  <a:lnTo>
                    <a:pt x="40286" y="1503"/>
                  </a:lnTo>
                  <a:lnTo>
                    <a:pt x="46343" y="5595"/>
                  </a:lnTo>
                  <a:lnTo>
                    <a:pt x="50436" y="11653"/>
                  </a:lnTo>
                  <a:lnTo>
                    <a:pt x="51939" y="19050"/>
                  </a:lnTo>
                  <a:lnTo>
                    <a:pt x="51939" y="114300"/>
                  </a:lnTo>
                  <a:lnTo>
                    <a:pt x="50436" y="121696"/>
                  </a:lnTo>
                  <a:lnTo>
                    <a:pt x="46343" y="127754"/>
                  </a:lnTo>
                  <a:lnTo>
                    <a:pt x="40286" y="131846"/>
                  </a:lnTo>
                  <a:lnTo>
                    <a:pt x="32889" y="13335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9321" y="5998635"/>
              <a:ext cx="72218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7705" y="5998635"/>
              <a:ext cx="89230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33526" y="5998635"/>
              <a:ext cx="63807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Variante:</a:t>
            </a:r>
            <a:r>
              <a:rPr spc="-80" dirty="0"/>
              <a:t> </a:t>
            </a:r>
            <a:r>
              <a:rPr dirty="0"/>
              <a:t>Forecast</a:t>
            </a:r>
            <a:r>
              <a:rPr spc="-75" dirty="0"/>
              <a:t> </a:t>
            </a:r>
            <a:r>
              <a:rPr dirty="0"/>
              <a:t>por</a:t>
            </a:r>
            <a:r>
              <a:rPr spc="-75" dirty="0"/>
              <a:t> </a:t>
            </a:r>
            <a:r>
              <a:rPr dirty="0"/>
              <a:t>Rutas</a:t>
            </a:r>
            <a:r>
              <a:rPr spc="-75" dirty="0"/>
              <a:t> </a:t>
            </a:r>
            <a:r>
              <a:rPr dirty="0"/>
              <a:t>(Drill-down</a:t>
            </a:r>
            <a:r>
              <a:rPr spc="-75" dirty="0"/>
              <a:t> </a:t>
            </a:r>
            <a:r>
              <a:rPr spc="-10" dirty="0"/>
              <a:t>Barcos)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7299" y="1582376"/>
            <a:ext cx="6464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Impacto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Pilar</a:t>
            </a:r>
            <a:r>
              <a:rPr sz="1400" b="1" spc="-6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A:</a:t>
            </a:r>
            <a:r>
              <a:rPr sz="1400" b="1" spc="-5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Agrupación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Rutas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con volumen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aportado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2B59"/>
                </a:solidFill>
                <a:latin typeface="Arial"/>
                <a:cs typeface="Arial"/>
              </a:rPr>
              <a:t>por</a:t>
            </a:r>
            <a:r>
              <a:rPr sz="1400" b="1" spc="-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Arial"/>
                <a:cs typeface="Arial"/>
              </a:rPr>
              <a:t>barco.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27189" y="2447486"/>
            <a:ext cx="4587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Ventas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Mensuales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(Composición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0F2B59"/>
                </a:solidFill>
                <a:latin typeface="Verdana"/>
                <a:cs typeface="Verdana"/>
              </a:rPr>
              <a:t>Buque)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04255" y="5747505"/>
            <a:ext cx="697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00" spc="4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5870" y="5758992"/>
            <a:ext cx="172212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485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Callao-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91348" y="5758992"/>
            <a:ext cx="2237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694" algn="l"/>
                <a:tab pos="1653539" algn="l"/>
              </a:tabLst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	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2400" y="5758992"/>
            <a:ext cx="4838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7127" y="5983754"/>
            <a:ext cx="3714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00" spc="40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00" b="1" dirty="0">
                <a:solidFill>
                  <a:srgbClr val="334154"/>
                </a:solidFill>
                <a:latin typeface="Verdana"/>
                <a:cs typeface="Verdana"/>
              </a:rPr>
              <a:t>BARCOS:</a:t>
            </a:r>
            <a:r>
              <a:rPr sz="900" b="1" spc="26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12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r>
              <a:rPr sz="1125" spc="209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9259" dirty="0">
                <a:latin typeface="Verdana"/>
                <a:cs typeface="Verdana"/>
              </a:rPr>
              <a:t>M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1125" spc="209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750" b="1" baseline="16666" dirty="0">
                <a:latin typeface="Verdana"/>
                <a:cs typeface="Verdana"/>
              </a:rPr>
              <a:t>CT</a:t>
            </a:r>
            <a:r>
              <a:rPr sz="750" b="1" spc="179" baseline="16666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1125" spc="-22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1125" spc="217" baseline="3703" dirty="0">
                <a:solidFill>
                  <a:srgbClr val="465469"/>
                </a:solidFill>
                <a:latin typeface="Verdana"/>
                <a:cs typeface="Verdana"/>
              </a:rPr>
              <a:t>  </a:t>
            </a:r>
            <a:r>
              <a:rPr sz="900" b="1" baseline="9259" dirty="0">
                <a:latin typeface="Verdana"/>
                <a:cs typeface="Verdana"/>
              </a:rPr>
              <a:t>H</a:t>
            </a:r>
            <a:r>
              <a:rPr sz="900" b="1" spc="104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1125" baseline="3703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97262" y="3225393"/>
            <a:ext cx="9525" cy="1533525"/>
            <a:chOff x="1497262" y="3225393"/>
            <a:chExt cx="9525" cy="1533525"/>
          </a:xfrm>
        </p:grpSpPr>
        <p:sp>
          <p:nvSpPr>
            <p:cNvPr id="29" name="object 29"/>
            <p:cNvSpPr/>
            <p:nvPr/>
          </p:nvSpPr>
          <p:spPr>
            <a:xfrm>
              <a:off x="15020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020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87200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3517" y="4379506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3517" y="40747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500,000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3517" y="37699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750,000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7829" y="34651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7829" y="31603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1,250,000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188" y="3446953"/>
            <a:ext cx="141605" cy="109093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Ventas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por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Ruta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97262" y="3225393"/>
            <a:ext cx="7058025" cy="1533525"/>
            <a:chOff x="1497262" y="3225393"/>
            <a:chExt cx="7058025" cy="1533525"/>
          </a:xfrm>
        </p:grpSpPr>
        <p:sp>
          <p:nvSpPr>
            <p:cNvPr id="39" name="object 39"/>
            <p:cNvSpPr/>
            <p:nvPr/>
          </p:nvSpPr>
          <p:spPr>
            <a:xfrm>
              <a:off x="1502024" y="44493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76225" y="0"/>
                  </a:lnTo>
                </a:path>
                <a:path w="7048500">
                  <a:moveTo>
                    <a:pt x="409575" y="0"/>
                  </a:moveTo>
                  <a:lnTo>
                    <a:pt x="438150" y="0"/>
                  </a:lnTo>
                </a:path>
                <a:path w="7048500">
                  <a:moveTo>
                    <a:pt x="571500" y="0"/>
                  </a:moveTo>
                  <a:lnTo>
                    <a:pt x="762000" y="0"/>
                  </a:lnTo>
                </a:path>
                <a:path w="7048500">
                  <a:moveTo>
                    <a:pt x="89535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771650" y="0"/>
                  </a:lnTo>
                </a:path>
                <a:path w="7048500">
                  <a:moveTo>
                    <a:pt x="1905000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2457450" y="0"/>
                  </a:lnTo>
                </a:path>
                <a:path w="7048500">
                  <a:moveTo>
                    <a:pt x="2590800" y="0"/>
                  </a:moveTo>
                  <a:lnTo>
                    <a:pt x="2619375" y="0"/>
                  </a:lnTo>
                </a:path>
                <a:path w="7048500">
                  <a:moveTo>
                    <a:pt x="2752725" y="0"/>
                  </a:moveTo>
                  <a:lnTo>
                    <a:pt x="2781300" y="0"/>
                  </a:lnTo>
                </a:path>
                <a:path w="7048500">
                  <a:moveTo>
                    <a:pt x="2914650" y="0"/>
                  </a:moveTo>
                  <a:lnTo>
                    <a:pt x="2943225" y="0"/>
                  </a:lnTo>
                </a:path>
                <a:path w="7048500">
                  <a:moveTo>
                    <a:pt x="3076575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790950" y="0"/>
                  </a:lnTo>
                </a:path>
                <a:path w="7048500">
                  <a:moveTo>
                    <a:pt x="3924300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114800" y="0"/>
                  </a:lnTo>
                </a:path>
                <a:path w="7048500">
                  <a:moveTo>
                    <a:pt x="4248150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800600" y="0"/>
                  </a:lnTo>
                </a:path>
                <a:path w="7048500">
                  <a:moveTo>
                    <a:pt x="493395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124450" y="0"/>
                  </a:lnTo>
                </a:path>
                <a:path w="7048500">
                  <a:moveTo>
                    <a:pt x="5257800" y="0"/>
                  </a:moveTo>
                  <a:lnTo>
                    <a:pt x="5286375" y="0"/>
                  </a:lnTo>
                </a:path>
                <a:path w="7048500">
                  <a:moveTo>
                    <a:pt x="5419725" y="0"/>
                  </a:moveTo>
                  <a:lnTo>
                    <a:pt x="5448300" y="0"/>
                  </a:lnTo>
                </a:path>
                <a:path w="7048500">
                  <a:moveTo>
                    <a:pt x="5581650" y="0"/>
                  </a:moveTo>
                  <a:lnTo>
                    <a:pt x="5610225" y="0"/>
                  </a:lnTo>
                </a:path>
                <a:path w="7048500">
                  <a:moveTo>
                    <a:pt x="57435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457950" y="0"/>
                  </a:lnTo>
                </a:path>
                <a:path w="7048500">
                  <a:moveTo>
                    <a:pt x="6591300" y="0"/>
                  </a:moveTo>
                  <a:lnTo>
                    <a:pt x="6619875" y="0"/>
                  </a:lnTo>
                </a:path>
                <a:path w="7048500">
                  <a:moveTo>
                    <a:pt x="6753225" y="0"/>
                  </a:moveTo>
                  <a:lnTo>
                    <a:pt x="67818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02024" y="41445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76225" y="0"/>
                  </a:lnTo>
                </a:path>
                <a:path w="7048500">
                  <a:moveTo>
                    <a:pt x="409575" y="0"/>
                  </a:moveTo>
                  <a:lnTo>
                    <a:pt x="762000" y="0"/>
                  </a:lnTo>
                </a:path>
                <a:path w="7048500">
                  <a:moveTo>
                    <a:pt x="89535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2619375" y="0"/>
                  </a:lnTo>
                </a:path>
                <a:path w="7048500">
                  <a:moveTo>
                    <a:pt x="2752725" y="0"/>
                  </a:moveTo>
                  <a:lnTo>
                    <a:pt x="2781300" y="0"/>
                  </a:lnTo>
                </a:path>
                <a:path w="7048500">
                  <a:moveTo>
                    <a:pt x="2914650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4800600" y="0"/>
                  </a:lnTo>
                </a:path>
                <a:path w="7048500">
                  <a:moveTo>
                    <a:pt x="493395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610225" y="0"/>
                  </a:lnTo>
                </a:path>
                <a:path w="7048500">
                  <a:moveTo>
                    <a:pt x="57435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296025" y="0"/>
                  </a:lnTo>
                </a:path>
                <a:path w="7048500">
                  <a:moveTo>
                    <a:pt x="6429375" y="0"/>
                  </a:moveTo>
                  <a:lnTo>
                    <a:pt x="67818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02024" y="38397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285875" y="0"/>
                  </a:lnTo>
                </a:path>
                <a:path w="7048500">
                  <a:moveTo>
                    <a:pt x="141922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1933575" y="0"/>
                  </a:lnTo>
                </a:path>
                <a:path w="7048500">
                  <a:moveTo>
                    <a:pt x="2066925" y="0"/>
                  </a:moveTo>
                  <a:lnTo>
                    <a:pt x="2095500" y="0"/>
                  </a:lnTo>
                </a:path>
                <a:path w="7048500">
                  <a:moveTo>
                    <a:pt x="2228850" y="0"/>
                  </a:moveTo>
                  <a:lnTo>
                    <a:pt x="3105150" y="0"/>
                  </a:lnTo>
                </a:path>
                <a:path w="7048500">
                  <a:moveTo>
                    <a:pt x="323850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276725" y="0"/>
                  </a:lnTo>
                </a:path>
                <a:path w="7048500">
                  <a:moveTo>
                    <a:pt x="441007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4962525" y="0"/>
                  </a:lnTo>
                </a:path>
                <a:path w="7048500">
                  <a:moveTo>
                    <a:pt x="5095875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6296025" y="0"/>
                  </a:lnTo>
                </a:path>
                <a:path w="7048500">
                  <a:moveTo>
                    <a:pt x="6429375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0202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447800" y="0"/>
                  </a:lnTo>
                </a:path>
                <a:path w="7048500">
                  <a:moveTo>
                    <a:pt x="1581150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629025" y="0"/>
                  </a:lnTo>
                </a:path>
                <a:path w="7048500">
                  <a:moveTo>
                    <a:pt x="376237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5972175" y="0"/>
                  </a:lnTo>
                </a:path>
                <a:path w="7048500">
                  <a:moveTo>
                    <a:pt x="6105525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0202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923925" y="0"/>
                  </a:lnTo>
                </a:path>
                <a:path w="7048500">
                  <a:moveTo>
                    <a:pt x="1057275" y="0"/>
                  </a:moveTo>
                  <a:lnTo>
                    <a:pt x="1609725" y="0"/>
                  </a:lnTo>
                </a:path>
                <a:path w="7048500">
                  <a:moveTo>
                    <a:pt x="1743075" y="0"/>
                  </a:moveTo>
                  <a:lnTo>
                    <a:pt x="3267075" y="0"/>
                  </a:lnTo>
                </a:path>
                <a:path w="7048500">
                  <a:moveTo>
                    <a:pt x="3400425" y="0"/>
                  </a:moveTo>
                  <a:lnTo>
                    <a:pt x="3952875" y="0"/>
                  </a:lnTo>
                </a:path>
                <a:path w="7048500">
                  <a:moveTo>
                    <a:pt x="4086225" y="0"/>
                  </a:moveTo>
                  <a:lnTo>
                    <a:pt x="4438650" y="0"/>
                  </a:lnTo>
                </a:path>
                <a:path w="7048500">
                  <a:moveTo>
                    <a:pt x="4572000" y="0"/>
                  </a:moveTo>
                  <a:lnTo>
                    <a:pt x="6134100" y="0"/>
                  </a:lnTo>
                </a:path>
                <a:path w="7048500">
                  <a:moveTo>
                    <a:pt x="62674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5505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55052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585449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EF4444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85449" y="4379506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2,000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85449" y="40747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4,000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585449" y="37699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6,000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85449" y="34651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8,000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85449" y="3160305"/>
            <a:ext cx="27495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10,00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497262" y="4448251"/>
            <a:ext cx="7058025" cy="311150"/>
            <a:chOff x="1497262" y="4448251"/>
            <a:chExt cx="7058025" cy="311150"/>
          </a:xfrm>
        </p:grpSpPr>
        <p:sp>
          <p:nvSpPr>
            <p:cNvPr id="53" name="object 53"/>
            <p:cNvSpPr/>
            <p:nvPr/>
          </p:nvSpPr>
          <p:spPr>
            <a:xfrm>
              <a:off x="1502024" y="4754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1632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1632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88268" y="51224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1279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36836" y="448702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636836" y="463759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7471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773487" y="4400702"/>
            <a:ext cx="142875" cy="358775"/>
            <a:chOff x="1773487" y="4400702"/>
            <a:chExt cx="142875" cy="358775"/>
          </a:xfrm>
        </p:grpSpPr>
        <p:sp>
          <p:nvSpPr>
            <p:cNvPr id="62" name="object 62"/>
            <p:cNvSpPr/>
            <p:nvPr/>
          </p:nvSpPr>
          <p:spPr>
            <a:xfrm>
              <a:off x="17782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782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815993" y="445136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15993" y="462570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773487" y="3925214"/>
            <a:ext cx="142875" cy="485140"/>
            <a:chOff x="1773487" y="3925214"/>
            <a:chExt cx="142875" cy="485140"/>
          </a:xfrm>
        </p:grpSpPr>
        <p:sp>
          <p:nvSpPr>
            <p:cNvPr id="67" name="object 67"/>
            <p:cNvSpPr/>
            <p:nvPr/>
          </p:nvSpPr>
          <p:spPr>
            <a:xfrm>
              <a:off x="1778249" y="392997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49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7548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778249" y="392997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49" y="0"/>
                  </a:lnTo>
                  <a:lnTo>
                    <a:pt x="133349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809654" y="3967950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809654" y="412644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09654" y="428494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93664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935412" y="4305604"/>
            <a:ext cx="142875" cy="453390"/>
            <a:chOff x="1935412" y="4305604"/>
            <a:chExt cx="142875" cy="453390"/>
          </a:xfrm>
        </p:grpSpPr>
        <p:sp>
          <p:nvSpPr>
            <p:cNvPr id="74" name="object 74"/>
            <p:cNvSpPr/>
            <p:nvPr/>
          </p:nvSpPr>
          <p:spPr>
            <a:xfrm>
              <a:off x="19401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4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9401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49" y="0"/>
                  </a:lnTo>
                  <a:lnTo>
                    <a:pt x="13334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974206" y="434305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974206" y="449098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74206" y="4638919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9856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097337" y="4448251"/>
            <a:ext cx="142875" cy="311150"/>
            <a:chOff x="2097337" y="4448251"/>
            <a:chExt cx="142875" cy="311150"/>
          </a:xfrm>
        </p:grpSpPr>
        <p:sp>
          <p:nvSpPr>
            <p:cNvPr id="81" name="object 81"/>
            <p:cNvSpPr/>
            <p:nvPr/>
          </p:nvSpPr>
          <p:spPr>
            <a:xfrm>
              <a:off x="210209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4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0114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0209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49" y="0"/>
                  </a:lnTo>
                  <a:lnTo>
                    <a:pt x="13334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2133504" y="4487024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133504" y="463759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6049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259262" y="4400702"/>
            <a:ext cx="142875" cy="358775"/>
            <a:chOff x="2259262" y="4400702"/>
            <a:chExt cx="142875" cy="358775"/>
          </a:xfrm>
        </p:grpSpPr>
        <p:sp>
          <p:nvSpPr>
            <p:cNvPr id="87" name="object 87"/>
            <p:cNvSpPr/>
            <p:nvPr/>
          </p:nvSpPr>
          <p:spPr>
            <a:xfrm>
              <a:off x="226402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26402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295429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295429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259262" y="3972763"/>
            <a:ext cx="142875" cy="437515"/>
            <a:chOff x="2259262" y="3972763"/>
            <a:chExt cx="142875" cy="437515"/>
          </a:xfrm>
        </p:grpSpPr>
        <p:sp>
          <p:nvSpPr>
            <p:cNvPr id="92" name="object 92"/>
            <p:cNvSpPr/>
            <p:nvPr/>
          </p:nvSpPr>
          <p:spPr>
            <a:xfrm>
              <a:off x="2264024" y="397752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49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264024" y="397752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49" y="0"/>
                  </a:lnTo>
                  <a:lnTo>
                    <a:pt x="133349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301768" y="400757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301768" y="415022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301768" y="429286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42241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21187" y="4400702"/>
            <a:ext cx="142875" cy="358775"/>
            <a:chOff x="2421187" y="4400702"/>
            <a:chExt cx="142875" cy="358775"/>
          </a:xfrm>
        </p:grpSpPr>
        <p:sp>
          <p:nvSpPr>
            <p:cNvPr id="99" name="object 99"/>
            <p:cNvSpPr/>
            <p:nvPr/>
          </p:nvSpPr>
          <p:spPr>
            <a:xfrm>
              <a:off x="24259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49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425949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49" y="0"/>
                  </a:lnTo>
                  <a:lnTo>
                    <a:pt x="133349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2459981" y="44513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459981" y="462570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2421187" y="3956913"/>
            <a:ext cx="142875" cy="453390"/>
            <a:chOff x="2421187" y="3956913"/>
            <a:chExt cx="142875" cy="453390"/>
          </a:xfrm>
        </p:grpSpPr>
        <p:sp>
          <p:nvSpPr>
            <p:cNvPr id="104" name="object 104"/>
            <p:cNvSpPr/>
            <p:nvPr/>
          </p:nvSpPr>
          <p:spPr>
            <a:xfrm>
              <a:off x="2425949" y="3961676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49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437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425949" y="3961676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49" y="0"/>
                  </a:lnTo>
                  <a:lnTo>
                    <a:pt x="133349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2446461" y="39943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446461" y="414229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446461" y="429022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421187" y="3655771"/>
            <a:ext cx="142875" cy="311150"/>
            <a:chOff x="2421187" y="3655771"/>
            <a:chExt cx="142875" cy="311150"/>
          </a:xfrm>
        </p:grpSpPr>
        <p:sp>
          <p:nvSpPr>
            <p:cNvPr id="110" name="object 110"/>
            <p:cNvSpPr/>
            <p:nvPr/>
          </p:nvSpPr>
          <p:spPr>
            <a:xfrm>
              <a:off x="2425949" y="366053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49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425949" y="366053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49" y="0"/>
                  </a:lnTo>
                  <a:lnTo>
                    <a:pt x="133349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463693" y="369454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463693" y="384511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2421187" y="3180283"/>
            <a:ext cx="142875" cy="485140"/>
            <a:chOff x="2421187" y="3180283"/>
            <a:chExt cx="142875" cy="485140"/>
          </a:xfrm>
        </p:grpSpPr>
        <p:sp>
          <p:nvSpPr>
            <p:cNvPr id="115" name="object 115"/>
            <p:cNvSpPr/>
            <p:nvPr/>
          </p:nvSpPr>
          <p:spPr>
            <a:xfrm>
              <a:off x="2425949" y="3185045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49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49" y="0"/>
                  </a:lnTo>
                  <a:lnTo>
                    <a:pt x="133349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425949" y="3185045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49" y="0"/>
                  </a:lnTo>
                  <a:lnTo>
                    <a:pt x="133349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2459981" y="322301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459981" y="3381514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59981" y="354001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062028" y="51224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78436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783137" y="4384852"/>
            <a:ext cx="142875" cy="374650"/>
            <a:chOff x="2783137" y="4384852"/>
            <a:chExt cx="142875" cy="374650"/>
          </a:xfrm>
        </p:grpSpPr>
        <p:sp>
          <p:nvSpPr>
            <p:cNvPr id="123" name="object 123"/>
            <p:cNvSpPr/>
            <p:nvPr/>
          </p:nvSpPr>
          <p:spPr>
            <a:xfrm>
              <a:off x="2787899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87899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2825643" y="443947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825643" y="462174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2783137" y="4036161"/>
            <a:ext cx="142875" cy="358775"/>
            <a:chOff x="2783137" y="4036161"/>
            <a:chExt cx="142875" cy="358775"/>
          </a:xfrm>
        </p:grpSpPr>
        <p:sp>
          <p:nvSpPr>
            <p:cNvPr id="128" name="object 128"/>
            <p:cNvSpPr/>
            <p:nvPr/>
          </p:nvSpPr>
          <p:spPr>
            <a:xfrm>
              <a:off x="2787899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787899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2808411" y="408682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808411" y="426116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2783137" y="3719169"/>
            <a:ext cx="142875" cy="327025"/>
            <a:chOff x="2783137" y="3719169"/>
            <a:chExt cx="142875" cy="327025"/>
          </a:xfrm>
        </p:grpSpPr>
        <p:sp>
          <p:nvSpPr>
            <p:cNvPr id="133" name="object 133"/>
            <p:cNvSpPr/>
            <p:nvPr/>
          </p:nvSpPr>
          <p:spPr>
            <a:xfrm>
              <a:off x="2787899" y="3723931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787899" y="3723931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2819304" y="3761905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819304" y="392040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94629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2945062" y="4052011"/>
            <a:ext cx="142875" cy="707390"/>
            <a:chOff x="2945062" y="4052011"/>
            <a:chExt cx="142875" cy="707390"/>
          </a:xfrm>
        </p:grpSpPr>
        <p:sp>
          <p:nvSpPr>
            <p:cNvPr id="139" name="object 139"/>
            <p:cNvSpPr/>
            <p:nvPr/>
          </p:nvSpPr>
          <p:spPr>
            <a:xfrm>
              <a:off x="294982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94982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949824" y="4056773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949824" y="4056773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2970336" y="4110596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970336" y="430079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2945062" y="3750868"/>
            <a:ext cx="142875" cy="311150"/>
            <a:chOff x="2945062" y="3750868"/>
            <a:chExt cx="142875" cy="311150"/>
          </a:xfrm>
        </p:grpSpPr>
        <p:sp>
          <p:nvSpPr>
            <p:cNvPr id="146" name="object 146"/>
            <p:cNvSpPr/>
            <p:nvPr/>
          </p:nvSpPr>
          <p:spPr>
            <a:xfrm>
              <a:off x="2949824" y="3755631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949824" y="3755631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2983856" y="3789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983856" y="394021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2945062" y="3322929"/>
            <a:ext cx="142875" cy="437515"/>
            <a:chOff x="2945062" y="3322929"/>
            <a:chExt cx="142875" cy="437515"/>
          </a:xfrm>
        </p:grpSpPr>
        <p:sp>
          <p:nvSpPr>
            <p:cNvPr id="151" name="object 151"/>
            <p:cNvSpPr/>
            <p:nvPr/>
          </p:nvSpPr>
          <p:spPr>
            <a:xfrm>
              <a:off x="2949824" y="3327692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949824" y="3327692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2981229" y="3357740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981229" y="350038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981229" y="364303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10821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3106987" y="4432401"/>
            <a:ext cx="142875" cy="327025"/>
            <a:chOff x="3106987" y="4432401"/>
            <a:chExt cx="142875" cy="327025"/>
          </a:xfrm>
        </p:grpSpPr>
        <p:sp>
          <p:nvSpPr>
            <p:cNvPr id="158" name="object 158"/>
            <p:cNvSpPr/>
            <p:nvPr/>
          </p:nvSpPr>
          <p:spPr>
            <a:xfrm>
              <a:off x="311174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11174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2970336" y="4475136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970336" y="4633633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3106987" y="3972763"/>
            <a:ext cx="142875" cy="469265"/>
            <a:chOff x="3106987" y="3972763"/>
            <a:chExt cx="142875" cy="469265"/>
          </a:xfrm>
        </p:grpSpPr>
        <p:sp>
          <p:nvSpPr>
            <p:cNvPr id="163" name="object 163"/>
            <p:cNvSpPr/>
            <p:nvPr/>
          </p:nvSpPr>
          <p:spPr>
            <a:xfrm>
              <a:off x="3111749" y="397752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111749" y="397752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3132261" y="401286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132261" y="416606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132261" y="431927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3106987" y="3528974"/>
            <a:ext cx="142875" cy="453390"/>
            <a:chOff x="3106987" y="3528974"/>
            <a:chExt cx="142875" cy="453390"/>
          </a:xfrm>
        </p:grpSpPr>
        <p:sp>
          <p:nvSpPr>
            <p:cNvPr id="169" name="object 169"/>
            <p:cNvSpPr/>
            <p:nvPr/>
          </p:nvSpPr>
          <p:spPr>
            <a:xfrm>
              <a:off x="3111749" y="353373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111749" y="353373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3149493" y="356642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149493" y="371435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3149493" y="386228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3106987" y="3053486"/>
            <a:ext cx="142875" cy="485140"/>
            <a:chOff x="3106987" y="3053486"/>
            <a:chExt cx="142875" cy="485140"/>
          </a:xfrm>
        </p:grpSpPr>
        <p:sp>
          <p:nvSpPr>
            <p:cNvPr id="175" name="object 175"/>
            <p:cNvSpPr/>
            <p:nvPr/>
          </p:nvSpPr>
          <p:spPr>
            <a:xfrm>
              <a:off x="3111749" y="305824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111749" y="305824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3143154" y="309622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3143154" y="325471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143154" y="341321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27014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3268912" y="4289755"/>
            <a:ext cx="142875" cy="469265"/>
            <a:chOff x="3268912" y="4289755"/>
            <a:chExt cx="142875" cy="469265"/>
          </a:xfrm>
        </p:grpSpPr>
        <p:sp>
          <p:nvSpPr>
            <p:cNvPr id="182" name="object 182"/>
            <p:cNvSpPr/>
            <p:nvPr/>
          </p:nvSpPr>
          <p:spPr>
            <a:xfrm>
              <a:off x="327367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7367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3311418" y="432985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3311418" y="448306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3311418" y="463627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343206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3430837" y="4432401"/>
            <a:ext cx="142875" cy="327025"/>
            <a:chOff x="3430837" y="4432401"/>
            <a:chExt cx="142875" cy="327025"/>
          </a:xfrm>
        </p:grpSpPr>
        <p:sp>
          <p:nvSpPr>
            <p:cNvPr id="189" name="object 189"/>
            <p:cNvSpPr/>
            <p:nvPr/>
          </p:nvSpPr>
          <p:spPr>
            <a:xfrm>
              <a:off x="343559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435599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3473343" y="447513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3473343" y="463363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3430837" y="4115409"/>
            <a:ext cx="142875" cy="327025"/>
            <a:chOff x="3430837" y="4115409"/>
            <a:chExt cx="142875" cy="327025"/>
          </a:xfrm>
        </p:grpSpPr>
        <p:sp>
          <p:nvSpPr>
            <p:cNvPr id="194" name="object 194"/>
            <p:cNvSpPr/>
            <p:nvPr/>
          </p:nvSpPr>
          <p:spPr>
            <a:xfrm>
              <a:off x="3435599" y="4120172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35599" y="4120172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6" name="object 196"/>
          <p:cNvSpPr txBox="1"/>
          <p:nvPr/>
        </p:nvSpPr>
        <p:spPr>
          <a:xfrm>
            <a:off x="3469632" y="415814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3469632" y="4316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198" name="object 198"/>
          <p:cNvGrpSpPr/>
          <p:nvPr/>
        </p:nvGrpSpPr>
        <p:grpSpPr>
          <a:xfrm>
            <a:off x="3430837" y="3750868"/>
            <a:ext cx="142875" cy="374650"/>
            <a:chOff x="3430837" y="3750868"/>
            <a:chExt cx="142875" cy="374650"/>
          </a:xfrm>
        </p:grpSpPr>
        <p:sp>
          <p:nvSpPr>
            <p:cNvPr id="199" name="object 199"/>
            <p:cNvSpPr/>
            <p:nvPr/>
          </p:nvSpPr>
          <p:spPr>
            <a:xfrm>
              <a:off x="3435599" y="3755631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435599" y="3755631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1" name="object 201"/>
          <p:cNvSpPr txBox="1"/>
          <p:nvPr/>
        </p:nvSpPr>
        <p:spPr>
          <a:xfrm>
            <a:off x="3469632" y="380549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3469632" y="39877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59399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3592762" y="4416552"/>
            <a:ext cx="142875" cy="342900"/>
            <a:chOff x="3592762" y="4416552"/>
            <a:chExt cx="142875" cy="342900"/>
          </a:xfrm>
        </p:grpSpPr>
        <p:sp>
          <p:nvSpPr>
            <p:cNvPr id="205" name="object 205"/>
            <p:cNvSpPr/>
            <p:nvPr/>
          </p:nvSpPr>
          <p:spPr>
            <a:xfrm>
              <a:off x="35975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5975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3618036" y="446325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3618036" y="462967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3592762" y="4036161"/>
            <a:ext cx="142875" cy="390525"/>
            <a:chOff x="3592762" y="4036161"/>
            <a:chExt cx="142875" cy="390525"/>
          </a:xfrm>
        </p:grpSpPr>
        <p:sp>
          <p:nvSpPr>
            <p:cNvPr id="210" name="object 210"/>
            <p:cNvSpPr/>
            <p:nvPr/>
          </p:nvSpPr>
          <p:spPr>
            <a:xfrm>
              <a:off x="3597524" y="4040924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597524" y="4040924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3635268" y="409474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3635268" y="428494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3592762" y="3576523"/>
            <a:ext cx="142875" cy="469265"/>
            <a:chOff x="3592762" y="3576523"/>
            <a:chExt cx="142875" cy="469265"/>
          </a:xfrm>
        </p:grpSpPr>
        <p:sp>
          <p:nvSpPr>
            <p:cNvPr id="215" name="object 215"/>
            <p:cNvSpPr/>
            <p:nvPr/>
          </p:nvSpPr>
          <p:spPr>
            <a:xfrm>
              <a:off x="3597524" y="358128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597524" y="3581285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3618036" y="361661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3618036" y="376982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3618036" y="392304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4228883" y="51224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395594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3954712" y="4305604"/>
            <a:ext cx="142875" cy="453390"/>
            <a:chOff x="3954712" y="4305604"/>
            <a:chExt cx="142875" cy="453390"/>
          </a:xfrm>
        </p:grpSpPr>
        <p:sp>
          <p:nvSpPr>
            <p:cNvPr id="223" name="object 223"/>
            <p:cNvSpPr/>
            <p:nvPr/>
          </p:nvSpPr>
          <p:spPr>
            <a:xfrm>
              <a:off x="39594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959474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5" name="object 225"/>
          <p:cNvSpPr txBox="1"/>
          <p:nvPr/>
        </p:nvSpPr>
        <p:spPr>
          <a:xfrm>
            <a:off x="3997218" y="434305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3997218" y="449098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3997218" y="463891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411786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4116637" y="4416552"/>
            <a:ext cx="142875" cy="342900"/>
            <a:chOff x="4116637" y="4416552"/>
            <a:chExt cx="142875" cy="342900"/>
          </a:xfrm>
        </p:grpSpPr>
        <p:sp>
          <p:nvSpPr>
            <p:cNvPr id="230" name="object 230"/>
            <p:cNvSpPr/>
            <p:nvPr/>
          </p:nvSpPr>
          <p:spPr>
            <a:xfrm>
              <a:off x="4121399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4121399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2" name="object 232"/>
          <p:cNvSpPr txBox="1"/>
          <p:nvPr/>
        </p:nvSpPr>
        <p:spPr>
          <a:xfrm>
            <a:off x="4155432" y="446325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4155432" y="462967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34" name="object 234"/>
          <p:cNvGrpSpPr/>
          <p:nvPr/>
        </p:nvGrpSpPr>
        <p:grpSpPr>
          <a:xfrm>
            <a:off x="4116637" y="4020311"/>
            <a:ext cx="142875" cy="405765"/>
            <a:chOff x="4116637" y="4020311"/>
            <a:chExt cx="142875" cy="405765"/>
          </a:xfrm>
        </p:grpSpPr>
        <p:sp>
          <p:nvSpPr>
            <p:cNvPr id="235" name="object 235"/>
            <p:cNvSpPr/>
            <p:nvPr/>
          </p:nvSpPr>
          <p:spPr>
            <a:xfrm>
              <a:off x="4121399" y="4025074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121399" y="4025074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4141911" y="408285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4141911" y="428097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39" name="object 239"/>
          <p:cNvSpPr txBox="1"/>
          <p:nvPr/>
        </p:nvSpPr>
        <p:spPr>
          <a:xfrm>
            <a:off x="427979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40" name="object 240"/>
          <p:cNvGrpSpPr/>
          <p:nvPr/>
        </p:nvGrpSpPr>
        <p:grpSpPr>
          <a:xfrm>
            <a:off x="4278562" y="4289755"/>
            <a:ext cx="142875" cy="469265"/>
            <a:chOff x="4278562" y="4289755"/>
            <a:chExt cx="142875" cy="469265"/>
          </a:xfrm>
        </p:grpSpPr>
        <p:sp>
          <p:nvSpPr>
            <p:cNvPr id="241" name="object 241"/>
            <p:cNvSpPr/>
            <p:nvPr/>
          </p:nvSpPr>
          <p:spPr>
            <a:xfrm>
              <a:off x="42833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42833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3" name="object 243"/>
          <p:cNvSpPr txBox="1"/>
          <p:nvPr/>
        </p:nvSpPr>
        <p:spPr>
          <a:xfrm>
            <a:off x="4303836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4303836" y="4483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4303836" y="463627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4278562" y="3988612"/>
            <a:ext cx="142875" cy="311150"/>
            <a:chOff x="4278562" y="3988612"/>
            <a:chExt cx="142875" cy="311150"/>
          </a:xfrm>
        </p:grpSpPr>
        <p:sp>
          <p:nvSpPr>
            <p:cNvPr id="247" name="object 247"/>
            <p:cNvSpPr/>
            <p:nvPr/>
          </p:nvSpPr>
          <p:spPr>
            <a:xfrm>
              <a:off x="4283324" y="3993375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4283324" y="3993375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9" name="object 249"/>
          <p:cNvSpPr txBox="1"/>
          <p:nvPr/>
        </p:nvSpPr>
        <p:spPr>
          <a:xfrm>
            <a:off x="4321068" y="402738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0" name="object 250"/>
          <p:cNvSpPr txBox="1"/>
          <p:nvPr/>
        </p:nvSpPr>
        <p:spPr>
          <a:xfrm>
            <a:off x="4321068" y="417795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444171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2" name="object 252"/>
          <p:cNvGrpSpPr/>
          <p:nvPr/>
        </p:nvGrpSpPr>
        <p:grpSpPr>
          <a:xfrm>
            <a:off x="4440487" y="4369003"/>
            <a:ext cx="142875" cy="390525"/>
            <a:chOff x="4440487" y="4369003"/>
            <a:chExt cx="142875" cy="390525"/>
          </a:xfrm>
        </p:grpSpPr>
        <p:sp>
          <p:nvSpPr>
            <p:cNvPr id="253" name="object 253"/>
            <p:cNvSpPr/>
            <p:nvPr/>
          </p:nvSpPr>
          <p:spPr>
            <a:xfrm>
              <a:off x="444524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44524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5" name="object 255"/>
          <p:cNvSpPr txBox="1"/>
          <p:nvPr/>
        </p:nvSpPr>
        <p:spPr>
          <a:xfrm>
            <a:off x="4479282" y="442758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4479282" y="461778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460364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8" name="object 258"/>
          <p:cNvGrpSpPr/>
          <p:nvPr/>
        </p:nvGrpSpPr>
        <p:grpSpPr>
          <a:xfrm>
            <a:off x="4602412" y="4432401"/>
            <a:ext cx="142875" cy="327025"/>
            <a:chOff x="4602412" y="4432401"/>
            <a:chExt cx="142875" cy="327025"/>
          </a:xfrm>
        </p:grpSpPr>
        <p:sp>
          <p:nvSpPr>
            <p:cNvPr id="259" name="object 259"/>
            <p:cNvSpPr/>
            <p:nvPr/>
          </p:nvSpPr>
          <p:spPr>
            <a:xfrm>
              <a:off x="460717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607174" y="443716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 txBox="1"/>
          <p:nvPr/>
        </p:nvSpPr>
        <p:spPr>
          <a:xfrm>
            <a:off x="4644918" y="447513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644918" y="463363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63" name="object 263"/>
          <p:cNvGrpSpPr/>
          <p:nvPr/>
        </p:nvGrpSpPr>
        <p:grpSpPr>
          <a:xfrm>
            <a:off x="4602412" y="3988612"/>
            <a:ext cx="142875" cy="453390"/>
            <a:chOff x="4602412" y="3988612"/>
            <a:chExt cx="142875" cy="453390"/>
          </a:xfrm>
        </p:grpSpPr>
        <p:sp>
          <p:nvSpPr>
            <p:cNvPr id="264" name="object 264"/>
            <p:cNvSpPr/>
            <p:nvPr/>
          </p:nvSpPr>
          <p:spPr>
            <a:xfrm>
              <a:off x="4607174" y="399337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607174" y="399337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4627686" y="4026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4627686" y="41739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4627686" y="432192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69" name="object 269"/>
          <p:cNvGrpSpPr/>
          <p:nvPr/>
        </p:nvGrpSpPr>
        <p:grpSpPr>
          <a:xfrm>
            <a:off x="4602412" y="3639921"/>
            <a:ext cx="142875" cy="358775"/>
            <a:chOff x="4602412" y="3639921"/>
            <a:chExt cx="142875" cy="358775"/>
          </a:xfrm>
        </p:grpSpPr>
        <p:sp>
          <p:nvSpPr>
            <p:cNvPr id="270" name="object 270"/>
            <p:cNvSpPr/>
            <p:nvPr/>
          </p:nvSpPr>
          <p:spPr>
            <a:xfrm>
              <a:off x="4607174" y="364468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4607174" y="364468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2" name="object 272"/>
          <p:cNvSpPr txBox="1"/>
          <p:nvPr/>
        </p:nvSpPr>
        <p:spPr>
          <a:xfrm>
            <a:off x="4641207" y="369058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4641207" y="386492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476556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75" name="object 275"/>
          <p:cNvGrpSpPr/>
          <p:nvPr/>
        </p:nvGrpSpPr>
        <p:grpSpPr>
          <a:xfrm>
            <a:off x="4764337" y="4289755"/>
            <a:ext cx="142875" cy="469265"/>
            <a:chOff x="4764337" y="4289755"/>
            <a:chExt cx="142875" cy="469265"/>
          </a:xfrm>
        </p:grpSpPr>
        <p:sp>
          <p:nvSpPr>
            <p:cNvPr id="276" name="object 276"/>
            <p:cNvSpPr/>
            <p:nvPr/>
          </p:nvSpPr>
          <p:spPr>
            <a:xfrm>
              <a:off x="476909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76909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8" name="object 278"/>
          <p:cNvSpPr txBox="1"/>
          <p:nvPr/>
        </p:nvSpPr>
        <p:spPr>
          <a:xfrm>
            <a:off x="4803132" y="432985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4803132" y="44830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80" name="object 280"/>
          <p:cNvSpPr txBox="1"/>
          <p:nvPr/>
        </p:nvSpPr>
        <p:spPr>
          <a:xfrm>
            <a:off x="4803132" y="463627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4764337" y="3956913"/>
            <a:ext cx="142875" cy="342900"/>
            <a:chOff x="4764337" y="3956913"/>
            <a:chExt cx="142875" cy="342900"/>
          </a:xfrm>
        </p:grpSpPr>
        <p:sp>
          <p:nvSpPr>
            <p:cNvPr id="282" name="object 282"/>
            <p:cNvSpPr/>
            <p:nvPr/>
          </p:nvSpPr>
          <p:spPr>
            <a:xfrm>
              <a:off x="4769099" y="3961676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4769099" y="3961676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4" name="object 284"/>
          <p:cNvSpPr txBox="1"/>
          <p:nvPr/>
        </p:nvSpPr>
        <p:spPr>
          <a:xfrm>
            <a:off x="4789611" y="400361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4789611" y="417003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4764337" y="3624072"/>
            <a:ext cx="142875" cy="342900"/>
            <a:chOff x="4764337" y="3624072"/>
            <a:chExt cx="142875" cy="342900"/>
          </a:xfrm>
        </p:grpSpPr>
        <p:sp>
          <p:nvSpPr>
            <p:cNvPr id="287" name="object 287"/>
            <p:cNvSpPr/>
            <p:nvPr/>
          </p:nvSpPr>
          <p:spPr>
            <a:xfrm>
              <a:off x="4769099" y="362883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769099" y="362883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9" name="object 289"/>
          <p:cNvSpPr txBox="1"/>
          <p:nvPr/>
        </p:nvSpPr>
        <p:spPr>
          <a:xfrm>
            <a:off x="4806843" y="367076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4806843" y="383719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91" name="object 291"/>
          <p:cNvGrpSpPr/>
          <p:nvPr/>
        </p:nvGrpSpPr>
        <p:grpSpPr>
          <a:xfrm>
            <a:off x="4764337" y="3148583"/>
            <a:ext cx="142875" cy="485140"/>
            <a:chOff x="4764337" y="3148583"/>
            <a:chExt cx="142875" cy="485140"/>
          </a:xfrm>
        </p:grpSpPr>
        <p:sp>
          <p:nvSpPr>
            <p:cNvPr id="292" name="object 292"/>
            <p:cNvSpPr/>
            <p:nvPr/>
          </p:nvSpPr>
          <p:spPr>
            <a:xfrm>
              <a:off x="4769099" y="315334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4769099" y="3153346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4" name="object 294"/>
          <p:cNvSpPr txBox="1"/>
          <p:nvPr/>
        </p:nvSpPr>
        <p:spPr>
          <a:xfrm>
            <a:off x="4789611" y="3191319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4789611" y="3349815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4789611" y="350831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5407132" y="51224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512751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99" name="object 299"/>
          <p:cNvGrpSpPr/>
          <p:nvPr/>
        </p:nvGrpSpPr>
        <p:grpSpPr>
          <a:xfrm>
            <a:off x="5126287" y="4305604"/>
            <a:ext cx="142875" cy="453390"/>
            <a:chOff x="5126287" y="4305604"/>
            <a:chExt cx="142875" cy="453390"/>
          </a:xfrm>
        </p:grpSpPr>
        <p:sp>
          <p:nvSpPr>
            <p:cNvPr id="300" name="object 300"/>
            <p:cNvSpPr/>
            <p:nvPr/>
          </p:nvSpPr>
          <p:spPr>
            <a:xfrm>
              <a:off x="513104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13104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2" name="object 302"/>
          <p:cNvSpPr txBox="1"/>
          <p:nvPr/>
        </p:nvSpPr>
        <p:spPr>
          <a:xfrm>
            <a:off x="5165082" y="434305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5165082" y="449098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5165082" y="4638919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05" name="object 305"/>
          <p:cNvGrpSpPr/>
          <p:nvPr/>
        </p:nvGrpSpPr>
        <p:grpSpPr>
          <a:xfrm>
            <a:off x="5126287" y="3925214"/>
            <a:ext cx="142875" cy="390525"/>
            <a:chOff x="5126287" y="3925214"/>
            <a:chExt cx="142875" cy="390525"/>
          </a:xfrm>
        </p:grpSpPr>
        <p:sp>
          <p:nvSpPr>
            <p:cNvPr id="306" name="object 306"/>
            <p:cNvSpPr/>
            <p:nvPr/>
          </p:nvSpPr>
          <p:spPr>
            <a:xfrm>
              <a:off x="5131049" y="3929976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5131049" y="3929976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8" name="object 308"/>
          <p:cNvSpPr txBox="1"/>
          <p:nvPr/>
        </p:nvSpPr>
        <p:spPr>
          <a:xfrm>
            <a:off x="5168793" y="398379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5168793" y="417399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5126287" y="3592372"/>
            <a:ext cx="142875" cy="342900"/>
            <a:chOff x="5126287" y="3592372"/>
            <a:chExt cx="142875" cy="342900"/>
          </a:xfrm>
        </p:grpSpPr>
        <p:sp>
          <p:nvSpPr>
            <p:cNvPr id="311" name="object 311"/>
            <p:cNvSpPr/>
            <p:nvPr/>
          </p:nvSpPr>
          <p:spPr>
            <a:xfrm>
              <a:off x="5131049" y="3597135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5131049" y="3597135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3" name="object 313"/>
          <p:cNvSpPr txBox="1"/>
          <p:nvPr/>
        </p:nvSpPr>
        <p:spPr>
          <a:xfrm>
            <a:off x="5165082" y="3639070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5165082" y="380549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5126287" y="3275380"/>
            <a:ext cx="142875" cy="327025"/>
            <a:chOff x="5126287" y="3275380"/>
            <a:chExt cx="142875" cy="327025"/>
          </a:xfrm>
        </p:grpSpPr>
        <p:sp>
          <p:nvSpPr>
            <p:cNvPr id="316" name="object 316"/>
            <p:cNvSpPr/>
            <p:nvPr/>
          </p:nvSpPr>
          <p:spPr>
            <a:xfrm>
              <a:off x="5131049" y="3280143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131049" y="3280143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8" name="object 318"/>
          <p:cNvSpPr txBox="1"/>
          <p:nvPr/>
        </p:nvSpPr>
        <p:spPr>
          <a:xfrm>
            <a:off x="5162454" y="331811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19" name="object 319"/>
          <p:cNvSpPr txBox="1"/>
          <p:nvPr/>
        </p:nvSpPr>
        <p:spPr>
          <a:xfrm>
            <a:off x="5162454" y="347661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528944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5288212" y="4416552"/>
            <a:ext cx="142875" cy="342900"/>
            <a:chOff x="5288212" y="4416552"/>
            <a:chExt cx="142875" cy="342900"/>
          </a:xfrm>
        </p:grpSpPr>
        <p:sp>
          <p:nvSpPr>
            <p:cNvPr id="322" name="object 322"/>
            <p:cNvSpPr/>
            <p:nvPr/>
          </p:nvSpPr>
          <p:spPr>
            <a:xfrm>
              <a:off x="529297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529297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4" name="object 324"/>
          <p:cNvSpPr txBox="1"/>
          <p:nvPr/>
        </p:nvSpPr>
        <p:spPr>
          <a:xfrm>
            <a:off x="5330718" y="446325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5" name="object 325"/>
          <p:cNvSpPr txBox="1"/>
          <p:nvPr/>
        </p:nvSpPr>
        <p:spPr>
          <a:xfrm>
            <a:off x="5330718" y="462967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545136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7" name="object 327"/>
          <p:cNvGrpSpPr/>
          <p:nvPr/>
        </p:nvGrpSpPr>
        <p:grpSpPr>
          <a:xfrm>
            <a:off x="5450137" y="4305604"/>
            <a:ext cx="142875" cy="453390"/>
            <a:chOff x="5450137" y="4305604"/>
            <a:chExt cx="142875" cy="453390"/>
          </a:xfrm>
        </p:grpSpPr>
        <p:sp>
          <p:nvSpPr>
            <p:cNvPr id="328" name="object 328"/>
            <p:cNvSpPr/>
            <p:nvPr/>
          </p:nvSpPr>
          <p:spPr>
            <a:xfrm>
              <a:off x="545489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454899" y="4310367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0" name="object 330"/>
          <p:cNvSpPr txBox="1"/>
          <p:nvPr/>
        </p:nvSpPr>
        <p:spPr>
          <a:xfrm>
            <a:off x="5486304" y="434305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1" name="object 331"/>
          <p:cNvSpPr txBox="1"/>
          <p:nvPr/>
        </p:nvSpPr>
        <p:spPr>
          <a:xfrm>
            <a:off x="5486304" y="449098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2" name="object 332"/>
          <p:cNvSpPr txBox="1"/>
          <p:nvPr/>
        </p:nvSpPr>
        <p:spPr>
          <a:xfrm>
            <a:off x="5486304" y="463891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3" name="object 333"/>
          <p:cNvGrpSpPr/>
          <p:nvPr/>
        </p:nvGrpSpPr>
        <p:grpSpPr>
          <a:xfrm>
            <a:off x="5450137" y="3909364"/>
            <a:ext cx="142875" cy="405765"/>
            <a:chOff x="5450137" y="3909364"/>
            <a:chExt cx="142875" cy="405765"/>
          </a:xfrm>
        </p:grpSpPr>
        <p:sp>
          <p:nvSpPr>
            <p:cNvPr id="334" name="object 334"/>
            <p:cNvSpPr/>
            <p:nvPr/>
          </p:nvSpPr>
          <p:spPr>
            <a:xfrm>
              <a:off x="5454899" y="3914127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5454899" y="3914127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6" name="object 336"/>
          <p:cNvSpPr txBox="1"/>
          <p:nvPr/>
        </p:nvSpPr>
        <p:spPr>
          <a:xfrm>
            <a:off x="5488932" y="397191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5488932" y="417003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38" name="object 338"/>
          <p:cNvGrpSpPr/>
          <p:nvPr/>
        </p:nvGrpSpPr>
        <p:grpSpPr>
          <a:xfrm>
            <a:off x="5450137" y="3465576"/>
            <a:ext cx="142875" cy="453390"/>
            <a:chOff x="5450137" y="3465576"/>
            <a:chExt cx="142875" cy="453390"/>
          </a:xfrm>
        </p:grpSpPr>
        <p:sp>
          <p:nvSpPr>
            <p:cNvPr id="339" name="object 339"/>
            <p:cNvSpPr/>
            <p:nvPr/>
          </p:nvSpPr>
          <p:spPr>
            <a:xfrm>
              <a:off x="5454899" y="3470338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5454899" y="3470338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1" name="object 341"/>
          <p:cNvSpPr txBox="1"/>
          <p:nvPr/>
        </p:nvSpPr>
        <p:spPr>
          <a:xfrm>
            <a:off x="5488932" y="3503028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2" name="object 342"/>
          <p:cNvSpPr txBox="1"/>
          <p:nvPr/>
        </p:nvSpPr>
        <p:spPr>
          <a:xfrm>
            <a:off x="5488932" y="36509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5488932" y="379888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44" name="object 344"/>
          <p:cNvGrpSpPr/>
          <p:nvPr/>
        </p:nvGrpSpPr>
        <p:grpSpPr>
          <a:xfrm>
            <a:off x="5450137" y="3037636"/>
            <a:ext cx="142875" cy="437515"/>
            <a:chOff x="5450137" y="3037636"/>
            <a:chExt cx="142875" cy="437515"/>
          </a:xfrm>
        </p:grpSpPr>
        <p:sp>
          <p:nvSpPr>
            <p:cNvPr id="345" name="object 345"/>
            <p:cNvSpPr/>
            <p:nvPr/>
          </p:nvSpPr>
          <p:spPr>
            <a:xfrm>
              <a:off x="5454899" y="3042399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454899" y="3042399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7" name="object 347"/>
          <p:cNvSpPr txBox="1"/>
          <p:nvPr/>
        </p:nvSpPr>
        <p:spPr>
          <a:xfrm>
            <a:off x="5475411" y="307244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5475411" y="32150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5475411" y="335774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561329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51" name="object 351"/>
          <p:cNvGrpSpPr/>
          <p:nvPr/>
        </p:nvGrpSpPr>
        <p:grpSpPr>
          <a:xfrm>
            <a:off x="5612062" y="4289755"/>
            <a:ext cx="142875" cy="469265"/>
            <a:chOff x="5612062" y="4289755"/>
            <a:chExt cx="142875" cy="469265"/>
          </a:xfrm>
        </p:grpSpPr>
        <p:sp>
          <p:nvSpPr>
            <p:cNvPr id="352" name="object 352"/>
            <p:cNvSpPr/>
            <p:nvPr/>
          </p:nvSpPr>
          <p:spPr>
            <a:xfrm>
              <a:off x="56168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56168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4" name="object 354"/>
          <p:cNvSpPr txBox="1"/>
          <p:nvPr/>
        </p:nvSpPr>
        <p:spPr>
          <a:xfrm>
            <a:off x="5648229" y="432985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5648229" y="44830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5648229" y="4636271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577521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58" name="object 358"/>
          <p:cNvGrpSpPr/>
          <p:nvPr/>
        </p:nvGrpSpPr>
        <p:grpSpPr>
          <a:xfrm>
            <a:off x="5773987" y="4289755"/>
            <a:ext cx="142875" cy="469265"/>
            <a:chOff x="5773987" y="4289755"/>
            <a:chExt cx="142875" cy="469265"/>
          </a:xfrm>
        </p:grpSpPr>
        <p:sp>
          <p:nvSpPr>
            <p:cNvPr id="359" name="object 359"/>
            <p:cNvSpPr/>
            <p:nvPr/>
          </p:nvSpPr>
          <p:spPr>
            <a:xfrm>
              <a:off x="57787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57787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1" name="object 361"/>
          <p:cNvSpPr txBox="1"/>
          <p:nvPr/>
        </p:nvSpPr>
        <p:spPr>
          <a:xfrm>
            <a:off x="5799261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5773987" y="3972763"/>
            <a:ext cx="142875" cy="327025"/>
            <a:chOff x="5773987" y="3972763"/>
            <a:chExt cx="142875" cy="327025"/>
          </a:xfrm>
        </p:grpSpPr>
        <p:sp>
          <p:nvSpPr>
            <p:cNvPr id="363" name="object 363"/>
            <p:cNvSpPr/>
            <p:nvPr/>
          </p:nvSpPr>
          <p:spPr>
            <a:xfrm>
              <a:off x="5778749" y="3977525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5778749" y="3977525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5" name="object 365"/>
          <p:cNvSpPr txBox="1"/>
          <p:nvPr/>
        </p:nvSpPr>
        <p:spPr>
          <a:xfrm>
            <a:off x="5799261" y="401549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5799261" y="4173994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67" name="object 367"/>
          <p:cNvGrpSpPr/>
          <p:nvPr/>
        </p:nvGrpSpPr>
        <p:grpSpPr>
          <a:xfrm>
            <a:off x="5773987" y="3576523"/>
            <a:ext cx="142875" cy="405765"/>
            <a:chOff x="5773987" y="3576523"/>
            <a:chExt cx="142875" cy="405765"/>
          </a:xfrm>
        </p:grpSpPr>
        <p:sp>
          <p:nvSpPr>
            <p:cNvPr id="368" name="object 368"/>
            <p:cNvSpPr/>
            <p:nvPr/>
          </p:nvSpPr>
          <p:spPr>
            <a:xfrm>
              <a:off x="5778749" y="3581285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133350" y="396240"/>
                  </a:moveTo>
                  <a:lnTo>
                    <a:pt x="0" y="3962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962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5778749" y="3581285"/>
              <a:ext cx="133350" cy="396240"/>
            </a:xfrm>
            <a:custGeom>
              <a:avLst/>
              <a:gdLst/>
              <a:ahLst/>
              <a:cxnLst/>
              <a:rect l="l" t="t" r="r" b="b"/>
              <a:pathLst>
                <a:path w="133350" h="396239">
                  <a:moveTo>
                    <a:pt x="0" y="0"/>
                  </a:moveTo>
                  <a:lnTo>
                    <a:pt x="133350" y="0"/>
                  </a:lnTo>
                  <a:lnTo>
                    <a:pt x="13335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0" name="object 370"/>
          <p:cNvSpPr txBox="1"/>
          <p:nvPr/>
        </p:nvSpPr>
        <p:spPr>
          <a:xfrm>
            <a:off x="5816493" y="363907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1" name="object 371"/>
          <p:cNvSpPr txBox="1"/>
          <p:nvPr/>
        </p:nvSpPr>
        <p:spPr>
          <a:xfrm>
            <a:off x="5816493" y="3837190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2" name="object 372"/>
          <p:cNvSpPr txBox="1"/>
          <p:nvPr/>
        </p:nvSpPr>
        <p:spPr>
          <a:xfrm>
            <a:off x="593714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5935912" y="4448251"/>
            <a:ext cx="142875" cy="311150"/>
            <a:chOff x="5935912" y="4448251"/>
            <a:chExt cx="142875" cy="311150"/>
          </a:xfrm>
        </p:grpSpPr>
        <p:sp>
          <p:nvSpPr>
            <p:cNvPr id="374" name="object 374"/>
            <p:cNvSpPr/>
            <p:nvPr/>
          </p:nvSpPr>
          <p:spPr>
            <a:xfrm>
              <a:off x="594067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5940674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6" name="object 376"/>
          <p:cNvSpPr txBox="1"/>
          <p:nvPr/>
        </p:nvSpPr>
        <p:spPr>
          <a:xfrm>
            <a:off x="5799261" y="4487024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" b="1" baseline="7936" dirty="0">
                <a:latin typeface="Verdana"/>
                <a:cs typeface="Verdana"/>
              </a:rPr>
              <a:t>CT</a:t>
            </a:r>
            <a:r>
              <a:rPr sz="525" b="1" spc="419" baseline="7936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77" name="object 377"/>
          <p:cNvSpPr txBox="1"/>
          <p:nvPr/>
        </p:nvSpPr>
        <p:spPr>
          <a:xfrm>
            <a:off x="5799261" y="4637595"/>
            <a:ext cx="25463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dirty="0">
                <a:latin typeface="Verdana"/>
                <a:cs typeface="Verdana"/>
              </a:rPr>
              <a:t>CT</a:t>
            </a:r>
            <a:r>
              <a:rPr sz="350" b="1" spc="280" dirty="0">
                <a:latin typeface="Verdana"/>
                <a:cs typeface="Verdana"/>
              </a:rPr>
              <a:t>  </a:t>
            </a: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78" name="object 378"/>
          <p:cNvGrpSpPr/>
          <p:nvPr/>
        </p:nvGrpSpPr>
        <p:grpSpPr>
          <a:xfrm>
            <a:off x="5935912" y="4020311"/>
            <a:ext cx="142875" cy="437515"/>
            <a:chOff x="5935912" y="4020311"/>
            <a:chExt cx="142875" cy="437515"/>
          </a:xfrm>
        </p:grpSpPr>
        <p:sp>
          <p:nvSpPr>
            <p:cNvPr id="379" name="object 379"/>
            <p:cNvSpPr/>
            <p:nvPr/>
          </p:nvSpPr>
          <p:spPr>
            <a:xfrm>
              <a:off x="5940674" y="4025074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5940674" y="4025074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1" name="object 381"/>
          <p:cNvSpPr txBox="1"/>
          <p:nvPr/>
        </p:nvSpPr>
        <p:spPr>
          <a:xfrm>
            <a:off x="5978418" y="4055122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5978418" y="419776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5978418" y="434041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84" name="object 384"/>
          <p:cNvGrpSpPr/>
          <p:nvPr/>
        </p:nvGrpSpPr>
        <p:grpSpPr>
          <a:xfrm>
            <a:off x="5935912" y="3592372"/>
            <a:ext cx="142875" cy="437515"/>
            <a:chOff x="5935912" y="3592372"/>
            <a:chExt cx="142875" cy="437515"/>
          </a:xfrm>
        </p:grpSpPr>
        <p:sp>
          <p:nvSpPr>
            <p:cNvPr id="385" name="object 385"/>
            <p:cNvSpPr/>
            <p:nvPr/>
          </p:nvSpPr>
          <p:spPr>
            <a:xfrm>
              <a:off x="5940674" y="359713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5940674" y="3597135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7" name="object 387"/>
          <p:cNvSpPr txBox="1"/>
          <p:nvPr/>
        </p:nvSpPr>
        <p:spPr>
          <a:xfrm>
            <a:off x="5972079" y="362718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8" name="object 388"/>
          <p:cNvSpPr txBox="1"/>
          <p:nvPr/>
        </p:nvSpPr>
        <p:spPr>
          <a:xfrm>
            <a:off x="5972079" y="376982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5972079" y="391247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90" name="object 390"/>
          <p:cNvGrpSpPr/>
          <p:nvPr/>
        </p:nvGrpSpPr>
        <p:grpSpPr>
          <a:xfrm>
            <a:off x="5935912" y="3132734"/>
            <a:ext cx="142875" cy="469265"/>
            <a:chOff x="5935912" y="3132734"/>
            <a:chExt cx="142875" cy="469265"/>
          </a:xfrm>
        </p:grpSpPr>
        <p:sp>
          <p:nvSpPr>
            <p:cNvPr id="391" name="object 391"/>
            <p:cNvSpPr/>
            <p:nvPr/>
          </p:nvSpPr>
          <p:spPr>
            <a:xfrm>
              <a:off x="5940674" y="3137496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5940674" y="3137496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3" name="object 393"/>
          <p:cNvSpPr txBox="1"/>
          <p:nvPr/>
        </p:nvSpPr>
        <p:spPr>
          <a:xfrm>
            <a:off x="5961186" y="3172828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5961186" y="332604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5" name="object 395"/>
          <p:cNvSpPr txBox="1"/>
          <p:nvPr/>
        </p:nvSpPr>
        <p:spPr>
          <a:xfrm>
            <a:off x="5961186" y="3479253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6564707" y="51224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7" name="object 397"/>
          <p:cNvSpPr txBox="1"/>
          <p:nvPr/>
        </p:nvSpPr>
        <p:spPr>
          <a:xfrm>
            <a:off x="6299091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98" name="object 398"/>
          <p:cNvGrpSpPr/>
          <p:nvPr/>
        </p:nvGrpSpPr>
        <p:grpSpPr>
          <a:xfrm>
            <a:off x="6297862" y="4416552"/>
            <a:ext cx="142875" cy="342900"/>
            <a:chOff x="6297862" y="4416552"/>
            <a:chExt cx="142875" cy="342900"/>
          </a:xfrm>
        </p:grpSpPr>
        <p:sp>
          <p:nvSpPr>
            <p:cNvPr id="399" name="object 399"/>
            <p:cNvSpPr/>
            <p:nvPr/>
          </p:nvSpPr>
          <p:spPr>
            <a:xfrm>
              <a:off x="63026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6302624" y="4421314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1" name="object 401"/>
          <p:cNvSpPr txBox="1"/>
          <p:nvPr/>
        </p:nvSpPr>
        <p:spPr>
          <a:xfrm>
            <a:off x="6323136" y="446325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6323136" y="462967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03" name="object 403"/>
          <p:cNvGrpSpPr/>
          <p:nvPr/>
        </p:nvGrpSpPr>
        <p:grpSpPr>
          <a:xfrm>
            <a:off x="6297862" y="4083710"/>
            <a:ext cx="142875" cy="342900"/>
            <a:chOff x="6297862" y="4083710"/>
            <a:chExt cx="142875" cy="342900"/>
          </a:xfrm>
        </p:grpSpPr>
        <p:sp>
          <p:nvSpPr>
            <p:cNvPr id="404" name="object 404"/>
            <p:cNvSpPr/>
            <p:nvPr/>
          </p:nvSpPr>
          <p:spPr>
            <a:xfrm>
              <a:off x="6302624" y="4088472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133350" y="332841"/>
                  </a:moveTo>
                  <a:lnTo>
                    <a:pt x="0" y="33284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328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6302624" y="4088472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2841"/>
                  </a:lnTo>
                  <a:lnTo>
                    <a:pt x="0" y="3328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6" name="object 406"/>
          <p:cNvSpPr txBox="1"/>
          <p:nvPr/>
        </p:nvSpPr>
        <p:spPr>
          <a:xfrm>
            <a:off x="6334029" y="41304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7" name="object 407"/>
          <p:cNvSpPr txBox="1"/>
          <p:nvPr/>
        </p:nvSpPr>
        <p:spPr>
          <a:xfrm>
            <a:off x="6334029" y="4296829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6461016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09" name="object 409"/>
          <p:cNvGrpSpPr/>
          <p:nvPr/>
        </p:nvGrpSpPr>
        <p:grpSpPr>
          <a:xfrm>
            <a:off x="6459787" y="4337303"/>
            <a:ext cx="142875" cy="421640"/>
            <a:chOff x="6459787" y="4337303"/>
            <a:chExt cx="142875" cy="421640"/>
          </a:xfrm>
        </p:grpSpPr>
        <p:sp>
          <p:nvSpPr>
            <p:cNvPr id="410" name="object 410"/>
            <p:cNvSpPr/>
            <p:nvPr/>
          </p:nvSpPr>
          <p:spPr>
            <a:xfrm>
              <a:off x="6464549" y="4342066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13335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1208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6464549" y="4342066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0" y="0"/>
                  </a:moveTo>
                  <a:lnTo>
                    <a:pt x="133350" y="0"/>
                  </a:lnTo>
                  <a:lnTo>
                    <a:pt x="13335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2" name="object 412"/>
          <p:cNvSpPr txBox="1"/>
          <p:nvPr/>
        </p:nvSpPr>
        <p:spPr>
          <a:xfrm>
            <a:off x="6495954" y="436947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6495954" y="450683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6495954" y="4644196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15" name="object 415"/>
          <p:cNvGrpSpPr/>
          <p:nvPr/>
        </p:nvGrpSpPr>
        <p:grpSpPr>
          <a:xfrm>
            <a:off x="6459787" y="4020311"/>
            <a:ext cx="142875" cy="327025"/>
            <a:chOff x="6459787" y="4020311"/>
            <a:chExt cx="142875" cy="327025"/>
          </a:xfrm>
        </p:grpSpPr>
        <p:sp>
          <p:nvSpPr>
            <p:cNvPr id="416" name="object 416"/>
            <p:cNvSpPr/>
            <p:nvPr/>
          </p:nvSpPr>
          <p:spPr>
            <a:xfrm>
              <a:off x="6464549" y="402507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2"/>
                  </a:moveTo>
                  <a:lnTo>
                    <a:pt x="0" y="31699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6464549" y="4025074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8" name="object 418"/>
          <p:cNvSpPr txBox="1"/>
          <p:nvPr/>
        </p:nvSpPr>
        <p:spPr>
          <a:xfrm>
            <a:off x="6485061" y="4063047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6485061" y="4221543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20" name="object 420"/>
          <p:cNvGrpSpPr/>
          <p:nvPr/>
        </p:nvGrpSpPr>
        <p:grpSpPr>
          <a:xfrm>
            <a:off x="6459787" y="3655771"/>
            <a:ext cx="142875" cy="374650"/>
            <a:chOff x="6459787" y="3655771"/>
            <a:chExt cx="142875" cy="374650"/>
          </a:xfrm>
        </p:grpSpPr>
        <p:sp>
          <p:nvSpPr>
            <p:cNvPr id="421" name="object 421"/>
            <p:cNvSpPr/>
            <p:nvPr/>
          </p:nvSpPr>
          <p:spPr>
            <a:xfrm>
              <a:off x="6464549" y="3660533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6464549" y="3660533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3" name="object 423"/>
          <p:cNvSpPr txBox="1"/>
          <p:nvPr/>
        </p:nvSpPr>
        <p:spPr>
          <a:xfrm>
            <a:off x="6502293" y="371039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6502293" y="389266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6622941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6621712" y="4400702"/>
            <a:ext cx="142875" cy="358775"/>
            <a:chOff x="6621712" y="4400702"/>
            <a:chExt cx="142875" cy="358775"/>
          </a:xfrm>
        </p:grpSpPr>
        <p:sp>
          <p:nvSpPr>
            <p:cNvPr id="427" name="object 427"/>
            <p:cNvSpPr/>
            <p:nvPr/>
          </p:nvSpPr>
          <p:spPr>
            <a:xfrm>
              <a:off x="66264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66264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9" name="object 429"/>
          <p:cNvSpPr txBox="1"/>
          <p:nvPr/>
        </p:nvSpPr>
        <p:spPr>
          <a:xfrm>
            <a:off x="6657878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0" name="object 430"/>
          <p:cNvSpPr txBox="1"/>
          <p:nvPr/>
        </p:nvSpPr>
        <p:spPr>
          <a:xfrm>
            <a:off x="6657878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1" name="object 431"/>
          <p:cNvSpPr txBox="1"/>
          <p:nvPr/>
        </p:nvSpPr>
        <p:spPr>
          <a:xfrm>
            <a:off x="6784866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32" name="object 432"/>
          <p:cNvGrpSpPr/>
          <p:nvPr/>
        </p:nvGrpSpPr>
        <p:grpSpPr>
          <a:xfrm>
            <a:off x="6783637" y="4273905"/>
            <a:ext cx="142875" cy="485140"/>
            <a:chOff x="6783637" y="4273905"/>
            <a:chExt cx="142875" cy="485140"/>
          </a:xfrm>
        </p:grpSpPr>
        <p:sp>
          <p:nvSpPr>
            <p:cNvPr id="433" name="object 433"/>
            <p:cNvSpPr/>
            <p:nvPr/>
          </p:nvSpPr>
          <p:spPr>
            <a:xfrm>
              <a:off x="6788399" y="427866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8"/>
                  </a:moveTo>
                  <a:lnTo>
                    <a:pt x="0" y="4754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6788399" y="4278668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5" name="object 435"/>
          <p:cNvSpPr txBox="1"/>
          <p:nvPr/>
        </p:nvSpPr>
        <p:spPr>
          <a:xfrm>
            <a:off x="6822431" y="431664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6" name="object 436"/>
          <p:cNvSpPr txBox="1"/>
          <p:nvPr/>
        </p:nvSpPr>
        <p:spPr>
          <a:xfrm>
            <a:off x="6822431" y="4475136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7" name="object 437"/>
          <p:cNvSpPr txBox="1"/>
          <p:nvPr/>
        </p:nvSpPr>
        <p:spPr>
          <a:xfrm>
            <a:off x="6822431" y="4633633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6946791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39" name="object 439"/>
          <p:cNvGrpSpPr/>
          <p:nvPr/>
        </p:nvGrpSpPr>
        <p:grpSpPr>
          <a:xfrm>
            <a:off x="6945562" y="4321454"/>
            <a:ext cx="142875" cy="437515"/>
            <a:chOff x="6945562" y="4321454"/>
            <a:chExt cx="142875" cy="437515"/>
          </a:xfrm>
        </p:grpSpPr>
        <p:sp>
          <p:nvSpPr>
            <p:cNvPr id="440" name="object 440"/>
            <p:cNvSpPr/>
            <p:nvPr/>
          </p:nvSpPr>
          <p:spPr>
            <a:xfrm>
              <a:off x="6950324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6950324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2" name="object 442"/>
          <p:cNvSpPr txBox="1"/>
          <p:nvPr/>
        </p:nvSpPr>
        <p:spPr>
          <a:xfrm>
            <a:off x="6988068" y="435626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6988068" y="449891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6988068" y="464155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7108716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7107487" y="4289755"/>
            <a:ext cx="142875" cy="469265"/>
            <a:chOff x="7107487" y="4289755"/>
            <a:chExt cx="142875" cy="469265"/>
          </a:xfrm>
        </p:grpSpPr>
        <p:sp>
          <p:nvSpPr>
            <p:cNvPr id="447" name="object 447"/>
            <p:cNvSpPr/>
            <p:nvPr/>
          </p:nvSpPr>
          <p:spPr>
            <a:xfrm>
              <a:off x="71122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7112249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9" name="object 449"/>
          <p:cNvSpPr txBox="1"/>
          <p:nvPr/>
        </p:nvSpPr>
        <p:spPr>
          <a:xfrm>
            <a:off x="7146281" y="432985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7146281" y="4483062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7146281" y="463627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52" name="object 452"/>
          <p:cNvGrpSpPr/>
          <p:nvPr/>
        </p:nvGrpSpPr>
        <p:grpSpPr>
          <a:xfrm>
            <a:off x="7107487" y="3861815"/>
            <a:ext cx="142875" cy="437515"/>
            <a:chOff x="7107487" y="3861815"/>
            <a:chExt cx="142875" cy="437515"/>
          </a:xfrm>
        </p:grpSpPr>
        <p:sp>
          <p:nvSpPr>
            <p:cNvPr id="453" name="object 453"/>
            <p:cNvSpPr/>
            <p:nvPr/>
          </p:nvSpPr>
          <p:spPr>
            <a:xfrm>
              <a:off x="7112249" y="3866578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7112249" y="3866578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5" name="object 455"/>
          <p:cNvSpPr txBox="1"/>
          <p:nvPr/>
        </p:nvSpPr>
        <p:spPr>
          <a:xfrm>
            <a:off x="7149993" y="3896626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7149993" y="403927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7149993" y="418191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7749933" y="51224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59" name="object 459"/>
          <p:cNvSpPr txBox="1"/>
          <p:nvPr/>
        </p:nvSpPr>
        <p:spPr>
          <a:xfrm>
            <a:off x="7470666" y="4817656"/>
            <a:ext cx="106680" cy="31432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60" name="object 460"/>
          <p:cNvGrpSpPr/>
          <p:nvPr/>
        </p:nvGrpSpPr>
        <p:grpSpPr>
          <a:xfrm>
            <a:off x="7469437" y="4321454"/>
            <a:ext cx="142875" cy="437515"/>
            <a:chOff x="7469437" y="4321454"/>
            <a:chExt cx="142875" cy="437515"/>
          </a:xfrm>
        </p:grpSpPr>
        <p:sp>
          <p:nvSpPr>
            <p:cNvPr id="461" name="object 461"/>
            <p:cNvSpPr/>
            <p:nvPr/>
          </p:nvSpPr>
          <p:spPr>
            <a:xfrm>
              <a:off x="7474199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133350" y="427939"/>
                  </a:moveTo>
                  <a:lnTo>
                    <a:pt x="0" y="42793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2793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7474199" y="4326216"/>
              <a:ext cx="133350" cy="427990"/>
            </a:xfrm>
            <a:custGeom>
              <a:avLst/>
              <a:gdLst/>
              <a:ahLst/>
              <a:cxnLst/>
              <a:rect l="l" t="t" r="r" b="b"/>
              <a:pathLst>
                <a:path w="133350" h="427989">
                  <a:moveTo>
                    <a:pt x="0" y="0"/>
                  </a:moveTo>
                  <a:lnTo>
                    <a:pt x="133350" y="0"/>
                  </a:lnTo>
                  <a:lnTo>
                    <a:pt x="133350" y="427939"/>
                  </a:lnTo>
                  <a:lnTo>
                    <a:pt x="0" y="427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3" name="object 463"/>
          <p:cNvSpPr txBox="1"/>
          <p:nvPr/>
        </p:nvSpPr>
        <p:spPr>
          <a:xfrm>
            <a:off x="7508231" y="435626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7508231" y="4498911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7508231" y="46415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66" name="object 466"/>
          <p:cNvGrpSpPr/>
          <p:nvPr/>
        </p:nvGrpSpPr>
        <p:grpSpPr>
          <a:xfrm>
            <a:off x="7469437" y="3972763"/>
            <a:ext cx="142875" cy="358775"/>
            <a:chOff x="7469437" y="3972763"/>
            <a:chExt cx="142875" cy="358775"/>
          </a:xfrm>
        </p:grpSpPr>
        <p:sp>
          <p:nvSpPr>
            <p:cNvPr id="467" name="object 467"/>
            <p:cNvSpPr/>
            <p:nvPr/>
          </p:nvSpPr>
          <p:spPr>
            <a:xfrm>
              <a:off x="7474199" y="3977525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7474199" y="3977525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9" name="object 469"/>
          <p:cNvSpPr txBox="1"/>
          <p:nvPr/>
        </p:nvSpPr>
        <p:spPr>
          <a:xfrm>
            <a:off x="7511943" y="4023423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7511943" y="4197768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71" name="object 471"/>
          <p:cNvGrpSpPr/>
          <p:nvPr/>
        </p:nvGrpSpPr>
        <p:grpSpPr>
          <a:xfrm>
            <a:off x="7469437" y="3497275"/>
            <a:ext cx="142875" cy="485140"/>
            <a:chOff x="7469437" y="3497275"/>
            <a:chExt cx="142875" cy="485140"/>
          </a:xfrm>
        </p:grpSpPr>
        <p:sp>
          <p:nvSpPr>
            <p:cNvPr id="472" name="object 472"/>
            <p:cNvSpPr/>
            <p:nvPr/>
          </p:nvSpPr>
          <p:spPr>
            <a:xfrm>
              <a:off x="7474199" y="3502037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133350" y="475487"/>
                  </a:moveTo>
                  <a:lnTo>
                    <a:pt x="0" y="475487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75487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7474199" y="3502037"/>
              <a:ext cx="133350" cy="475615"/>
            </a:xfrm>
            <a:custGeom>
              <a:avLst/>
              <a:gdLst/>
              <a:ahLst/>
              <a:cxnLst/>
              <a:rect l="l" t="t" r="r" b="b"/>
              <a:pathLst>
                <a:path w="133350" h="475614">
                  <a:moveTo>
                    <a:pt x="0" y="0"/>
                  </a:moveTo>
                  <a:lnTo>
                    <a:pt x="133350" y="0"/>
                  </a:lnTo>
                  <a:lnTo>
                    <a:pt x="133350" y="475487"/>
                  </a:lnTo>
                  <a:lnTo>
                    <a:pt x="0" y="4754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4" name="object 474"/>
          <p:cNvSpPr txBox="1"/>
          <p:nvPr/>
        </p:nvSpPr>
        <p:spPr>
          <a:xfrm>
            <a:off x="7494711" y="3540010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7494711" y="3698506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7494711" y="385700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7632591" y="4817660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Cal-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478" name="object 478"/>
          <p:cNvGrpSpPr/>
          <p:nvPr/>
        </p:nvGrpSpPr>
        <p:grpSpPr>
          <a:xfrm>
            <a:off x="7631362" y="4289755"/>
            <a:ext cx="142875" cy="469265"/>
            <a:chOff x="7631362" y="4289755"/>
            <a:chExt cx="142875" cy="469265"/>
          </a:xfrm>
        </p:grpSpPr>
        <p:sp>
          <p:nvSpPr>
            <p:cNvPr id="479" name="object 479"/>
            <p:cNvSpPr/>
            <p:nvPr/>
          </p:nvSpPr>
          <p:spPr>
            <a:xfrm>
              <a:off x="76361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133350" y="459638"/>
                  </a:moveTo>
                  <a:lnTo>
                    <a:pt x="0" y="45963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59638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7636124" y="4294517"/>
              <a:ext cx="133350" cy="459740"/>
            </a:xfrm>
            <a:custGeom>
              <a:avLst/>
              <a:gdLst/>
              <a:ahLst/>
              <a:cxnLst/>
              <a:rect l="l" t="t" r="r" b="b"/>
              <a:pathLst>
                <a:path w="133350" h="459739">
                  <a:moveTo>
                    <a:pt x="0" y="0"/>
                  </a:moveTo>
                  <a:lnTo>
                    <a:pt x="133350" y="0"/>
                  </a:lnTo>
                  <a:lnTo>
                    <a:pt x="133350" y="459638"/>
                  </a:lnTo>
                  <a:lnTo>
                    <a:pt x="0" y="45963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1" name="object 481"/>
          <p:cNvSpPr txBox="1"/>
          <p:nvPr/>
        </p:nvSpPr>
        <p:spPr>
          <a:xfrm>
            <a:off x="7656636" y="432985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7656636" y="4483062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7656636" y="4636271"/>
            <a:ext cx="9271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25" dirty="0">
                <a:latin typeface="Verdana"/>
                <a:cs typeface="Verdana"/>
              </a:rPr>
              <a:t>CT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84" name="object 484"/>
          <p:cNvGrpSpPr/>
          <p:nvPr/>
        </p:nvGrpSpPr>
        <p:grpSpPr>
          <a:xfrm>
            <a:off x="7631362" y="3877665"/>
            <a:ext cx="142875" cy="421640"/>
            <a:chOff x="7631362" y="3877665"/>
            <a:chExt cx="142875" cy="421640"/>
          </a:xfrm>
        </p:grpSpPr>
        <p:sp>
          <p:nvSpPr>
            <p:cNvPr id="485" name="object 485"/>
            <p:cNvSpPr/>
            <p:nvPr/>
          </p:nvSpPr>
          <p:spPr>
            <a:xfrm>
              <a:off x="7636124" y="3882428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133350" y="412089"/>
                  </a:moveTo>
                  <a:lnTo>
                    <a:pt x="0" y="412089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12089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7636124" y="3882428"/>
              <a:ext cx="133350" cy="412115"/>
            </a:xfrm>
            <a:custGeom>
              <a:avLst/>
              <a:gdLst/>
              <a:ahLst/>
              <a:cxnLst/>
              <a:rect l="l" t="t" r="r" b="b"/>
              <a:pathLst>
                <a:path w="133350" h="412114">
                  <a:moveTo>
                    <a:pt x="0" y="0"/>
                  </a:moveTo>
                  <a:lnTo>
                    <a:pt x="133350" y="0"/>
                  </a:lnTo>
                  <a:lnTo>
                    <a:pt x="133350" y="412089"/>
                  </a:lnTo>
                  <a:lnTo>
                    <a:pt x="0" y="41208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7" name="object 487"/>
          <p:cNvSpPr txBox="1"/>
          <p:nvPr/>
        </p:nvSpPr>
        <p:spPr>
          <a:xfrm>
            <a:off x="7670156" y="3909834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8" name="object 488"/>
          <p:cNvSpPr txBox="1"/>
          <p:nvPr/>
        </p:nvSpPr>
        <p:spPr>
          <a:xfrm>
            <a:off x="7670156" y="404719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89" name="object 489"/>
          <p:cNvSpPr txBox="1"/>
          <p:nvPr/>
        </p:nvSpPr>
        <p:spPr>
          <a:xfrm>
            <a:off x="7670156" y="4184557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90" name="object 490"/>
          <p:cNvGrpSpPr/>
          <p:nvPr/>
        </p:nvGrpSpPr>
        <p:grpSpPr>
          <a:xfrm>
            <a:off x="7631362" y="3560673"/>
            <a:ext cx="142875" cy="327025"/>
            <a:chOff x="7631362" y="3560673"/>
            <a:chExt cx="142875" cy="327025"/>
          </a:xfrm>
        </p:grpSpPr>
        <p:sp>
          <p:nvSpPr>
            <p:cNvPr id="491" name="object 491"/>
            <p:cNvSpPr/>
            <p:nvPr/>
          </p:nvSpPr>
          <p:spPr>
            <a:xfrm>
              <a:off x="7636124" y="3565436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133350" y="316991"/>
                  </a:moveTo>
                  <a:lnTo>
                    <a:pt x="0" y="3169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169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7636124" y="3565436"/>
              <a:ext cx="133350" cy="317500"/>
            </a:xfrm>
            <a:custGeom>
              <a:avLst/>
              <a:gdLst/>
              <a:ahLst/>
              <a:cxnLst/>
              <a:rect l="l" t="t" r="r" b="b"/>
              <a:pathLst>
                <a:path w="133350" h="317500">
                  <a:moveTo>
                    <a:pt x="0" y="0"/>
                  </a:moveTo>
                  <a:lnTo>
                    <a:pt x="133350" y="0"/>
                  </a:lnTo>
                  <a:lnTo>
                    <a:pt x="133350" y="316991"/>
                  </a:lnTo>
                  <a:lnTo>
                    <a:pt x="0" y="316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3" name="object 493"/>
          <p:cNvSpPr txBox="1"/>
          <p:nvPr/>
        </p:nvSpPr>
        <p:spPr>
          <a:xfrm>
            <a:off x="7673868" y="3603409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94" name="object 494"/>
          <p:cNvSpPr txBox="1"/>
          <p:nvPr/>
        </p:nvSpPr>
        <p:spPr>
          <a:xfrm>
            <a:off x="7673868" y="376190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95" name="object 495"/>
          <p:cNvGrpSpPr/>
          <p:nvPr/>
        </p:nvGrpSpPr>
        <p:grpSpPr>
          <a:xfrm>
            <a:off x="7631362" y="3211982"/>
            <a:ext cx="142875" cy="358775"/>
            <a:chOff x="7631362" y="3211982"/>
            <a:chExt cx="142875" cy="358775"/>
          </a:xfrm>
        </p:grpSpPr>
        <p:sp>
          <p:nvSpPr>
            <p:cNvPr id="496" name="object 496"/>
            <p:cNvSpPr/>
            <p:nvPr/>
          </p:nvSpPr>
          <p:spPr>
            <a:xfrm>
              <a:off x="7636124" y="321674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7636124" y="321674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8" name="object 498"/>
          <p:cNvSpPr txBox="1"/>
          <p:nvPr/>
        </p:nvSpPr>
        <p:spPr>
          <a:xfrm>
            <a:off x="7667528" y="326264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7667528" y="343698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00" name="object 500"/>
          <p:cNvSpPr txBox="1"/>
          <p:nvPr/>
        </p:nvSpPr>
        <p:spPr>
          <a:xfrm>
            <a:off x="7794516" y="4817660"/>
            <a:ext cx="106680" cy="2971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Mej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01" name="object 501"/>
          <p:cNvGrpSpPr/>
          <p:nvPr/>
        </p:nvGrpSpPr>
        <p:grpSpPr>
          <a:xfrm>
            <a:off x="7793287" y="4448251"/>
            <a:ext cx="142875" cy="311150"/>
            <a:chOff x="7793287" y="4448251"/>
            <a:chExt cx="142875" cy="311150"/>
          </a:xfrm>
        </p:grpSpPr>
        <p:sp>
          <p:nvSpPr>
            <p:cNvPr id="502" name="object 502"/>
            <p:cNvSpPr/>
            <p:nvPr/>
          </p:nvSpPr>
          <p:spPr>
            <a:xfrm>
              <a:off x="779804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7798049" y="4453013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4" name="object 504"/>
          <p:cNvSpPr txBox="1"/>
          <p:nvPr/>
        </p:nvSpPr>
        <p:spPr>
          <a:xfrm>
            <a:off x="7835793" y="448702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05" name="object 505"/>
          <p:cNvSpPr txBox="1"/>
          <p:nvPr/>
        </p:nvSpPr>
        <p:spPr>
          <a:xfrm>
            <a:off x="7835793" y="4637595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06" name="object 506"/>
          <p:cNvGrpSpPr/>
          <p:nvPr/>
        </p:nvGrpSpPr>
        <p:grpSpPr>
          <a:xfrm>
            <a:off x="7793287" y="4004462"/>
            <a:ext cx="142875" cy="453390"/>
            <a:chOff x="7793287" y="4004462"/>
            <a:chExt cx="142875" cy="453390"/>
          </a:xfrm>
        </p:grpSpPr>
        <p:sp>
          <p:nvSpPr>
            <p:cNvPr id="507" name="object 507"/>
            <p:cNvSpPr/>
            <p:nvPr/>
          </p:nvSpPr>
          <p:spPr>
            <a:xfrm>
              <a:off x="7798049" y="400922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133350" y="443788"/>
                  </a:moveTo>
                  <a:lnTo>
                    <a:pt x="0" y="443788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443788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7798049" y="4009225"/>
              <a:ext cx="133350" cy="443865"/>
            </a:xfrm>
            <a:custGeom>
              <a:avLst/>
              <a:gdLst/>
              <a:ahLst/>
              <a:cxnLst/>
              <a:rect l="l" t="t" r="r" b="b"/>
              <a:pathLst>
                <a:path w="133350" h="443864">
                  <a:moveTo>
                    <a:pt x="0" y="0"/>
                  </a:moveTo>
                  <a:lnTo>
                    <a:pt x="133350" y="0"/>
                  </a:lnTo>
                  <a:lnTo>
                    <a:pt x="133350" y="443788"/>
                  </a:lnTo>
                  <a:lnTo>
                    <a:pt x="0" y="44378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9" name="object 509"/>
          <p:cNvSpPr txBox="1"/>
          <p:nvPr/>
        </p:nvSpPr>
        <p:spPr>
          <a:xfrm>
            <a:off x="7835793" y="404191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0" name="object 510"/>
          <p:cNvSpPr txBox="1"/>
          <p:nvPr/>
        </p:nvSpPr>
        <p:spPr>
          <a:xfrm>
            <a:off x="7835793" y="4189844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7835793" y="433777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12" name="object 512"/>
          <p:cNvGrpSpPr/>
          <p:nvPr/>
        </p:nvGrpSpPr>
        <p:grpSpPr>
          <a:xfrm>
            <a:off x="7793287" y="3703320"/>
            <a:ext cx="142875" cy="311150"/>
            <a:chOff x="7793287" y="3703320"/>
            <a:chExt cx="142875" cy="311150"/>
          </a:xfrm>
        </p:grpSpPr>
        <p:sp>
          <p:nvSpPr>
            <p:cNvPr id="513" name="object 513"/>
            <p:cNvSpPr/>
            <p:nvPr/>
          </p:nvSpPr>
          <p:spPr>
            <a:xfrm>
              <a:off x="7798049" y="3708082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133350" y="301142"/>
                  </a:moveTo>
                  <a:lnTo>
                    <a:pt x="0" y="301142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01142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7798049" y="3708082"/>
              <a:ext cx="133350" cy="301625"/>
            </a:xfrm>
            <a:custGeom>
              <a:avLst/>
              <a:gdLst/>
              <a:ahLst/>
              <a:cxnLst/>
              <a:rect l="l" t="t" r="r" b="b"/>
              <a:pathLst>
                <a:path w="133350" h="301625">
                  <a:moveTo>
                    <a:pt x="0" y="0"/>
                  </a:moveTo>
                  <a:lnTo>
                    <a:pt x="133350" y="0"/>
                  </a:lnTo>
                  <a:lnTo>
                    <a:pt x="133350" y="301142"/>
                  </a:lnTo>
                  <a:lnTo>
                    <a:pt x="0" y="3011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5" name="object 515"/>
          <p:cNvSpPr txBox="1"/>
          <p:nvPr/>
        </p:nvSpPr>
        <p:spPr>
          <a:xfrm>
            <a:off x="7829453" y="374209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6" name="object 516"/>
          <p:cNvSpPr txBox="1"/>
          <p:nvPr/>
        </p:nvSpPr>
        <p:spPr>
          <a:xfrm>
            <a:off x="7829453" y="3892664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17" name="object 517"/>
          <p:cNvSpPr txBox="1"/>
          <p:nvPr/>
        </p:nvSpPr>
        <p:spPr>
          <a:xfrm>
            <a:off x="7956441" y="4817660"/>
            <a:ext cx="106680" cy="30099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18" name="object 518"/>
          <p:cNvGrpSpPr/>
          <p:nvPr/>
        </p:nvGrpSpPr>
        <p:grpSpPr>
          <a:xfrm>
            <a:off x="7955212" y="4400702"/>
            <a:ext cx="142875" cy="358775"/>
            <a:chOff x="7955212" y="4400702"/>
            <a:chExt cx="142875" cy="358775"/>
          </a:xfrm>
        </p:grpSpPr>
        <p:sp>
          <p:nvSpPr>
            <p:cNvPr id="519" name="object 519"/>
            <p:cNvSpPr/>
            <p:nvPr/>
          </p:nvSpPr>
          <p:spPr>
            <a:xfrm>
              <a:off x="79599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7959974" y="440546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1" name="object 521"/>
          <p:cNvSpPr txBox="1"/>
          <p:nvPr/>
        </p:nvSpPr>
        <p:spPr>
          <a:xfrm>
            <a:off x="7991378" y="4451362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2" name="object 522"/>
          <p:cNvSpPr txBox="1"/>
          <p:nvPr/>
        </p:nvSpPr>
        <p:spPr>
          <a:xfrm>
            <a:off x="7991378" y="462570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3" name="object 523"/>
          <p:cNvSpPr txBox="1"/>
          <p:nvPr/>
        </p:nvSpPr>
        <p:spPr>
          <a:xfrm>
            <a:off x="8118366" y="4817655"/>
            <a:ext cx="106680" cy="3035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Mar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24" name="object 524"/>
          <p:cNvGrpSpPr/>
          <p:nvPr/>
        </p:nvGrpSpPr>
        <p:grpSpPr>
          <a:xfrm>
            <a:off x="8117137" y="4369003"/>
            <a:ext cx="142875" cy="390525"/>
            <a:chOff x="8117137" y="4369003"/>
            <a:chExt cx="142875" cy="390525"/>
          </a:xfrm>
        </p:grpSpPr>
        <p:sp>
          <p:nvSpPr>
            <p:cNvPr id="525" name="object 525"/>
            <p:cNvSpPr/>
            <p:nvPr/>
          </p:nvSpPr>
          <p:spPr>
            <a:xfrm>
              <a:off x="812189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133350" y="380390"/>
                  </a:moveTo>
                  <a:lnTo>
                    <a:pt x="0" y="38039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8039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8121899" y="4373765"/>
              <a:ext cx="133350" cy="381000"/>
            </a:xfrm>
            <a:custGeom>
              <a:avLst/>
              <a:gdLst/>
              <a:ahLst/>
              <a:cxnLst/>
              <a:rect l="l" t="t" r="r" b="b"/>
              <a:pathLst>
                <a:path w="133350" h="381000">
                  <a:moveTo>
                    <a:pt x="0" y="0"/>
                  </a:moveTo>
                  <a:lnTo>
                    <a:pt x="133350" y="0"/>
                  </a:lnTo>
                  <a:lnTo>
                    <a:pt x="133350" y="380390"/>
                  </a:lnTo>
                  <a:lnTo>
                    <a:pt x="0" y="38039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7" name="object 527"/>
          <p:cNvSpPr txBox="1"/>
          <p:nvPr/>
        </p:nvSpPr>
        <p:spPr>
          <a:xfrm>
            <a:off x="8153303" y="4427588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8153303" y="4617783"/>
            <a:ext cx="71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8280291" y="4817656"/>
            <a:ext cx="106680" cy="27813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Ilo-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Cal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30" name="object 530"/>
          <p:cNvGrpSpPr/>
          <p:nvPr/>
        </p:nvGrpSpPr>
        <p:grpSpPr>
          <a:xfrm>
            <a:off x="8279062" y="4384852"/>
            <a:ext cx="142875" cy="374650"/>
            <a:chOff x="8279062" y="4384852"/>
            <a:chExt cx="142875" cy="374650"/>
          </a:xfrm>
        </p:grpSpPr>
        <p:sp>
          <p:nvSpPr>
            <p:cNvPr id="531" name="object 531"/>
            <p:cNvSpPr/>
            <p:nvPr/>
          </p:nvSpPr>
          <p:spPr>
            <a:xfrm>
              <a:off x="8283824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133350" y="364540"/>
                  </a:moveTo>
                  <a:lnTo>
                    <a:pt x="0" y="364540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645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8283824" y="4389615"/>
              <a:ext cx="133350" cy="365125"/>
            </a:xfrm>
            <a:custGeom>
              <a:avLst/>
              <a:gdLst/>
              <a:ahLst/>
              <a:cxnLst/>
              <a:rect l="l" t="t" r="r" b="b"/>
              <a:pathLst>
                <a:path w="133350" h="365125">
                  <a:moveTo>
                    <a:pt x="0" y="0"/>
                  </a:moveTo>
                  <a:lnTo>
                    <a:pt x="133350" y="0"/>
                  </a:lnTo>
                  <a:lnTo>
                    <a:pt x="133350" y="364540"/>
                  </a:lnTo>
                  <a:lnTo>
                    <a:pt x="0" y="364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3" name="object 533"/>
          <p:cNvSpPr txBox="1"/>
          <p:nvPr/>
        </p:nvSpPr>
        <p:spPr>
          <a:xfrm>
            <a:off x="8317856" y="443947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8317856" y="4621745"/>
            <a:ext cx="654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H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8279062" y="4036161"/>
            <a:ext cx="142875" cy="358775"/>
            <a:chOff x="8279062" y="4036161"/>
            <a:chExt cx="142875" cy="358775"/>
          </a:xfrm>
        </p:grpSpPr>
        <p:sp>
          <p:nvSpPr>
            <p:cNvPr id="536" name="object 536"/>
            <p:cNvSpPr/>
            <p:nvPr/>
          </p:nvSpPr>
          <p:spPr>
            <a:xfrm>
              <a:off x="8283824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133350" y="348691"/>
                  </a:moveTo>
                  <a:lnTo>
                    <a:pt x="0" y="348691"/>
                  </a:lnTo>
                  <a:lnTo>
                    <a:pt x="0" y="0"/>
                  </a:lnTo>
                  <a:lnTo>
                    <a:pt x="133350" y="0"/>
                  </a:lnTo>
                  <a:lnTo>
                    <a:pt x="133350" y="34869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8283824" y="4040924"/>
              <a:ext cx="133350" cy="349250"/>
            </a:xfrm>
            <a:custGeom>
              <a:avLst/>
              <a:gdLst/>
              <a:ahLst/>
              <a:cxnLst/>
              <a:rect l="l" t="t" r="r" b="b"/>
              <a:pathLst>
                <a:path w="133350" h="349250">
                  <a:moveTo>
                    <a:pt x="0" y="0"/>
                  </a:moveTo>
                  <a:lnTo>
                    <a:pt x="133350" y="0"/>
                  </a:lnTo>
                  <a:lnTo>
                    <a:pt x="133350" y="348691"/>
                  </a:lnTo>
                  <a:lnTo>
                    <a:pt x="0" y="348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8" name="object 538"/>
          <p:cNvSpPr txBox="1"/>
          <p:nvPr/>
        </p:nvSpPr>
        <p:spPr>
          <a:xfrm>
            <a:off x="8321568" y="4086821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8321568" y="4261167"/>
            <a:ext cx="58419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b="1" spc="-50" dirty="0">
                <a:latin typeface="Verdana"/>
                <a:cs typeface="Verdana"/>
              </a:rPr>
              <a:t>T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40" name="object 540"/>
          <p:cNvGrpSpPr/>
          <p:nvPr/>
        </p:nvGrpSpPr>
        <p:grpSpPr>
          <a:xfrm>
            <a:off x="2044949" y="3868102"/>
            <a:ext cx="5934075" cy="436880"/>
            <a:chOff x="2044949" y="3868102"/>
            <a:chExt cx="5934075" cy="436880"/>
          </a:xfrm>
        </p:grpSpPr>
        <p:sp>
          <p:nvSpPr>
            <p:cNvPr id="541" name="object 541"/>
            <p:cNvSpPr/>
            <p:nvPr/>
          </p:nvSpPr>
          <p:spPr>
            <a:xfrm>
              <a:off x="2083049" y="3906202"/>
              <a:ext cx="5857875" cy="360680"/>
            </a:xfrm>
            <a:custGeom>
              <a:avLst/>
              <a:gdLst/>
              <a:ahLst/>
              <a:cxnLst/>
              <a:rect l="l" t="t" r="r" b="b"/>
              <a:pathLst>
                <a:path w="5857875" h="360679">
                  <a:moveTo>
                    <a:pt x="0" y="320954"/>
                  </a:moveTo>
                  <a:lnTo>
                    <a:pt x="1171574" y="0"/>
                  </a:lnTo>
                  <a:lnTo>
                    <a:pt x="2343150" y="219913"/>
                  </a:lnTo>
                  <a:lnTo>
                    <a:pt x="3514725" y="1981"/>
                  </a:lnTo>
                  <a:lnTo>
                    <a:pt x="4686300" y="360578"/>
                  </a:lnTo>
                  <a:lnTo>
                    <a:pt x="5857875" y="188213"/>
                  </a:lnTo>
                </a:path>
              </a:pathLst>
            </a:custGeom>
            <a:ln w="2857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2" name="object 5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44949" y="4189057"/>
              <a:ext cx="76200" cy="76200"/>
            </a:xfrm>
            <a:prstGeom prst="rect">
              <a:avLst/>
            </a:prstGeom>
          </p:spPr>
        </p:pic>
        <p:pic>
          <p:nvPicPr>
            <p:cNvPr id="543" name="object 5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16524" y="3868102"/>
              <a:ext cx="76200" cy="76200"/>
            </a:xfrm>
            <a:prstGeom prst="rect">
              <a:avLst/>
            </a:prstGeom>
          </p:spPr>
        </p:pic>
        <p:pic>
          <p:nvPicPr>
            <p:cNvPr id="544" name="object 5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8099" y="4088015"/>
              <a:ext cx="76200" cy="76200"/>
            </a:xfrm>
            <a:prstGeom prst="rect">
              <a:avLst/>
            </a:prstGeom>
          </p:spPr>
        </p:pic>
        <p:pic>
          <p:nvPicPr>
            <p:cNvPr id="545" name="object 5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59674" y="3870083"/>
              <a:ext cx="76200" cy="76200"/>
            </a:xfrm>
            <a:prstGeom prst="rect">
              <a:avLst/>
            </a:prstGeom>
          </p:spPr>
        </p:pic>
        <p:pic>
          <p:nvPicPr>
            <p:cNvPr id="546" name="object 5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1249" y="4228681"/>
              <a:ext cx="76200" cy="76200"/>
            </a:xfrm>
            <a:prstGeom prst="rect">
              <a:avLst/>
            </a:prstGeom>
          </p:spPr>
        </p:pic>
        <p:pic>
          <p:nvPicPr>
            <p:cNvPr id="547" name="object 5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2824" y="4056316"/>
              <a:ext cx="76200" cy="76200"/>
            </a:xfrm>
            <a:prstGeom prst="rect">
              <a:avLst/>
            </a:prstGeom>
          </p:spPr>
        </p:pic>
      </p:grpSp>
      <p:pic>
        <p:nvPicPr>
          <p:cNvPr id="548" name="object 54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549" name="object 54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44500" y="2159635"/>
            <a:ext cx="10152380" cy="3298190"/>
            <a:chOff x="539999" y="1586779"/>
            <a:chExt cx="10152380" cy="329819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10152380" cy="3298190"/>
            </a:xfrm>
            <a:custGeom>
              <a:avLst/>
              <a:gdLst/>
              <a:ahLst/>
              <a:cxnLst/>
              <a:rect l="l" t="t" r="r" b="b"/>
              <a:pathLst>
                <a:path w="10152380" h="3298190">
                  <a:moveTo>
                    <a:pt x="10152003" y="3298031"/>
                  </a:moveTo>
                  <a:lnTo>
                    <a:pt x="114300" y="3298031"/>
                  </a:lnTo>
                  <a:lnTo>
                    <a:pt x="69919" y="3289012"/>
                  </a:lnTo>
                  <a:lnTo>
                    <a:pt x="33575" y="3264455"/>
                  </a:lnTo>
                  <a:lnTo>
                    <a:pt x="9018" y="3228111"/>
                  </a:lnTo>
                  <a:lnTo>
                    <a:pt x="0" y="3183731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152003" y="0"/>
                  </a:lnTo>
                  <a:lnTo>
                    <a:pt x="10152003" y="3298031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10152380" cy="3298190"/>
            </a:xfrm>
            <a:custGeom>
              <a:avLst/>
              <a:gdLst/>
              <a:ahLst/>
              <a:cxnLst/>
              <a:rect l="l" t="t" r="r" b="b"/>
              <a:pathLst>
                <a:path w="10152380" h="3298190">
                  <a:moveTo>
                    <a:pt x="10152003" y="3298031"/>
                  </a:moveTo>
                  <a:lnTo>
                    <a:pt x="114300" y="3298031"/>
                  </a:lnTo>
                  <a:lnTo>
                    <a:pt x="69919" y="3289012"/>
                  </a:lnTo>
                  <a:lnTo>
                    <a:pt x="33575" y="3264455"/>
                  </a:lnTo>
                  <a:lnTo>
                    <a:pt x="9018" y="3228111"/>
                  </a:lnTo>
                  <a:lnTo>
                    <a:pt x="0" y="3183731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152003" y="0"/>
                  </a:lnTo>
                  <a:lnTo>
                    <a:pt x="10152003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3183731"/>
                  </a:lnTo>
                  <a:lnTo>
                    <a:pt x="17792" y="3224413"/>
                  </a:lnTo>
                  <a:lnTo>
                    <a:pt x="40302" y="3257728"/>
                  </a:lnTo>
                  <a:lnTo>
                    <a:pt x="73617" y="3280239"/>
                  </a:lnTo>
                  <a:lnTo>
                    <a:pt x="114300" y="3288506"/>
                  </a:lnTo>
                  <a:lnTo>
                    <a:pt x="10152003" y="3288506"/>
                  </a:lnTo>
                  <a:lnTo>
                    <a:pt x="10152003" y="329803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0024" y="4391415"/>
              <a:ext cx="9952355" cy="293370"/>
            </a:xfrm>
            <a:custGeom>
              <a:avLst/>
              <a:gdLst/>
              <a:ahLst/>
              <a:cxnLst/>
              <a:rect l="l" t="t" r="r" b="b"/>
              <a:pathLst>
                <a:path w="9952355" h="293370">
                  <a:moveTo>
                    <a:pt x="9886922" y="293370"/>
                  </a:moveTo>
                  <a:lnTo>
                    <a:pt x="76200" y="293370"/>
                  </a:lnTo>
                  <a:lnTo>
                    <a:pt x="46612" y="287357"/>
                  </a:lnTo>
                  <a:lnTo>
                    <a:pt x="22383" y="270986"/>
                  </a:lnTo>
                  <a:lnTo>
                    <a:pt x="6012" y="246757"/>
                  </a:lnTo>
                  <a:lnTo>
                    <a:pt x="0" y="21717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1978" y="39018"/>
                  </a:lnTo>
                  <a:lnTo>
                    <a:pt x="9951978" y="254351"/>
                  </a:lnTo>
                  <a:lnTo>
                    <a:pt x="9940738" y="270986"/>
                  </a:lnTo>
                  <a:lnTo>
                    <a:pt x="9916509" y="287357"/>
                  </a:lnTo>
                  <a:lnTo>
                    <a:pt x="9886922" y="293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0024" y="4391415"/>
              <a:ext cx="9952355" cy="293370"/>
            </a:xfrm>
            <a:custGeom>
              <a:avLst/>
              <a:gdLst/>
              <a:ahLst/>
              <a:cxnLst/>
              <a:rect l="l" t="t" r="r" b="b"/>
              <a:pathLst>
                <a:path w="9952355" h="293370">
                  <a:moveTo>
                    <a:pt x="9886922" y="293370"/>
                  </a:moveTo>
                  <a:lnTo>
                    <a:pt x="76200" y="293370"/>
                  </a:lnTo>
                  <a:lnTo>
                    <a:pt x="46612" y="287357"/>
                  </a:lnTo>
                  <a:lnTo>
                    <a:pt x="22383" y="270986"/>
                  </a:lnTo>
                  <a:lnTo>
                    <a:pt x="6012" y="246757"/>
                  </a:lnTo>
                  <a:lnTo>
                    <a:pt x="0" y="21717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8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7170"/>
                  </a:lnTo>
                  <a:lnTo>
                    <a:pt x="14786" y="243058"/>
                  </a:lnTo>
                  <a:lnTo>
                    <a:pt x="29110" y="264259"/>
                  </a:lnTo>
                  <a:lnTo>
                    <a:pt x="50311" y="278583"/>
                  </a:lnTo>
                  <a:lnTo>
                    <a:pt x="76200" y="283845"/>
                  </a:lnTo>
                  <a:lnTo>
                    <a:pt x="9921708" y="283845"/>
                  </a:lnTo>
                  <a:lnTo>
                    <a:pt x="9916509" y="287357"/>
                  </a:lnTo>
                  <a:lnTo>
                    <a:pt x="9886922" y="293370"/>
                  </a:lnTo>
                  <a:close/>
                </a:path>
                <a:path w="9952355" h="293370">
                  <a:moveTo>
                    <a:pt x="9951978" y="68232"/>
                  </a:moveTo>
                  <a:lnTo>
                    <a:pt x="9948336" y="50311"/>
                  </a:lnTo>
                  <a:lnTo>
                    <a:pt x="9934012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8" y="9525"/>
                  </a:lnTo>
                  <a:lnTo>
                    <a:pt x="9940739" y="22383"/>
                  </a:lnTo>
                  <a:lnTo>
                    <a:pt x="9951978" y="39018"/>
                  </a:lnTo>
                  <a:lnTo>
                    <a:pt x="9951978" y="68232"/>
                  </a:lnTo>
                  <a:close/>
                </a:path>
                <a:path w="9952355" h="293370">
                  <a:moveTo>
                    <a:pt x="9921708" y="283845"/>
                  </a:moveTo>
                  <a:lnTo>
                    <a:pt x="9886922" y="283845"/>
                  </a:lnTo>
                  <a:lnTo>
                    <a:pt x="9912811" y="278583"/>
                  </a:lnTo>
                  <a:lnTo>
                    <a:pt x="9934012" y="264259"/>
                  </a:lnTo>
                  <a:lnTo>
                    <a:pt x="9948336" y="243058"/>
                  </a:lnTo>
                  <a:lnTo>
                    <a:pt x="9951978" y="225137"/>
                  </a:lnTo>
                  <a:lnTo>
                    <a:pt x="9951978" y="254351"/>
                  </a:lnTo>
                  <a:lnTo>
                    <a:pt x="9940739" y="270986"/>
                  </a:lnTo>
                  <a:lnTo>
                    <a:pt x="9921708" y="28384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8990" y="4490475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9777" y="4490475"/>
              <a:ext cx="95250" cy="95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27439" y="4490475"/>
              <a:ext cx="95250" cy="95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4089" y="4490475"/>
              <a:ext cx="95250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5939" y="4490475"/>
              <a:ext cx="95250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0913" y="4490475"/>
              <a:ext cx="95250" cy="9525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Variante:</a:t>
            </a:r>
            <a:r>
              <a:rPr spc="-110" dirty="0"/>
              <a:t> </a:t>
            </a:r>
            <a:r>
              <a:rPr dirty="0"/>
              <a:t>Composición</a:t>
            </a:r>
            <a:r>
              <a:rPr spc="-105" dirty="0"/>
              <a:t> </a:t>
            </a:r>
            <a:r>
              <a:rPr dirty="0"/>
              <a:t>Estructural</a:t>
            </a:r>
            <a:r>
              <a:rPr spc="-105" dirty="0"/>
              <a:t> </a:t>
            </a:r>
            <a:r>
              <a:rPr dirty="0"/>
              <a:t>(Rutas</a:t>
            </a:r>
            <a:r>
              <a:rPr spc="-105" dirty="0"/>
              <a:t> </a:t>
            </a:r>
            <a:r>
              <a:rPr dirty="0"/>
              <a:t>vs</a:t>
            </a:r>
            <a:r>
              <a:rPr spc="-105" dirty="0"/>
              <a:t> </a:t>
            </a:r>
            <a:r>
              <a:rPr spc="-10" dirty="0"/>
              <a:t>Buques)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29166" y="5029409"/>
            <a:ext cx="501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4776" y="5040887"/>
            <a:ext cx="3968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Mar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5559" y="5040887"/>
            <a:ext cx="3937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Mat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3226" y="5040887"/>
            <a:ext cx="36258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Mej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9872" y="5040887"/>
            <a:ext cx="36830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1726" y="5040887"/>
            <a:ext cx="3714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Mar</a:t>
            </a:r>
            <a:endParaRPr sz="75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44152" y="5029409"/>
            <a:ext cx="34937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PE" sz="900" b="1" dirty="0">
                <a:solidFill>
                  <a:srgbClr val="334154"/>
                </a:solidFill>
                <a:latin typeface="Verdana"/>
              </a:rPr>
              <a:t>BUQUES</a:t>
            </a:r>
            <a:r>
              <a:rPr sz="900" b="1" dirty="0">
                <a:solidFill>
                  <a:srgbClr val="334154"/>
                </a:solidFill>
                <a:latin typeface="Verdana"/>
              </a:rPr>
              <a:t>: </a:t>
            </a:r>
            <a:r>
              <a:rPr sz="900" b="1" baseline="9259" dirty="0">
                <a:latin typeface="Verdana"/>
                <a:cs typeface="Verdana"/>
              </a:rPr>
              <a:t>T</a:t>
            </a:r>
            <a:r>
              <a:rPr sz="900" b="1" spc="120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TABLONES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M</a:t>
            </a:r>
            <a:r>
              <a:rPr sz="900" b="1" spc="112" baseline="9259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MOQUEGUA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b="1" baseline="16666" dirty="0">
                <a:latin typeface="Verdana"/>
                <a:cs typeface="Verdana"/>
              </a:rPr>
              <a:t>CT</a:t>
            </a:r>
            <a:r>
              <a:rPr sz="750" b="1" spc="179" baseline="16666" dirty="0"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CONCON</a:t>
            </a:r>
            <a:r>
              <a:rPr sz="1125" spc="-22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1125" baseline="3703" dirty="0">
                <a:solidFill>
                  <a:srgbClr val="465469"/>
                </a:solidFill>
                <a:latin typeface="Verdana"/>
                <a:cs typeface="Verdana"/>
              </a:rPr>
              <a:t>T.</a:t>
            </a:r>
            <a:r>
              <a:rPr sz="1125" spc="457" baseline="3703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900" b="1" baseline="9259" dirty="0">
                <a:latin typeface="Verdana"/>
                <a:cs typeface="Verdana"/>
              </a:rPr>
              <a:t>H</a:t>
            </a:r>
            <a:r>
              <a:rPr sz="900" b="1" spc="127" baseline="9259" dirty="0">
                <a:latin typeface="Verdana"/>
                <a:cs typeface="Verdana"/>
              </a:rPr>
              <a:t> </a:t>
            </a:r>
            <a:r>
              <a:rPr sz="1125" spc="-15" baseline="3703" dirty="0">
                <a:solidFill>
                  <a:srgbClr val="465469"/>
                </a:solidFill>
                <a:latin typeface="Verdana"/>
                <a:cs typeface="Verdana"/>
              </a:rPr>
              <a:t>HUEMEL</a:t>
            </a:r>
            <a:endParaRPr sz="1125" baseline="3703" dirty="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0024" y="2359660"/>
            <a:ext cx="4781550" cy="2400300"/>
            <a:chOff x="740024" y="1786804"/>
            <a:chExt cx="4781550" cy="2400300"/>
          </a:xfrm>
        </p:grpSpPr>
        <p:sp>
          <p:nvSpPr>
            <p:cNvPr id="26" name="object 26"/>
            <p:cNvSpPr/>
            <p:nvPr/>
          </p:nvSpPr>
          <p:spPr>
            <a:xfrm>
              <a:off x="740024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5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51" y="0"/>
                  </a:lnTo>
                  <a:lnTo>
                    <a:pt x="4734938" y="6012"/>
                  </a:lnTo>
                  <a:lnTo>
                    <a:pt x="4759167" y="22383"/>
                  </a:lnTo>
                  <a:lnTo>
                    <a:pt x="4775538" y="46612"/>
                  </a:lnTo>
                  <a:lnTo>
                    <a:pt x="4781551" y="76200"/>
                  </a:lnTo>
                  <a:lnTo>
                    <a:pt x="4781551" y="2324100"/>
                  </a:lnTo>
                  <a:lnTo>
                    <a:pt x="4775538" y="2353687"/>
                  </a:lnTo>
                  <a:lnTo>
                    <a:pt x="4759167" y="2377916"/>
                  </a:lnTo>
                  <a:lnTo>
                    <a:pt x="4734938" y="2394287"/>
                  </a:lnTo>
                  <a:lnTo>
                    <a:pt x="4705351" y="2400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0024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5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51" y="0"/>
                  </a:lnTo>
                  <a:lnTo>
                    <a:pt x="4734938" y="6012"/>
                  </a:lnTo>
                  <a:lnTo>
                    <a:pt x="4740136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324100"/>
                  </a:lnTo>
                  <a:lnTo>
                    <a:pt x="14786" y="2349988"/>
                  </a:lnTo>
                  <a:lnTo>
                    <a:pt x="29110" y="2371189"/>
                  </a:lnTo>
                  <a:lnTo>
                    <a:pt x="50311" y="2385513"/>
                  </a:lnTo>
                  <a:lnTo>
                    <a:pt x="76200" y="2390775"/>
                  </a:lnTo>
                  <a:lnTo>
                    <a:pt x="4740136" y="2390775"/>
                  </a:lnTo>
                  <a:lnTo>
                    <a:pt x="4734938" y="2394287"/>
                  </a:lnTo>
                  <a:lnTo>
                    <a:pt x="4705351" y="2400300"/>
                  </a:lnTo>
                  <a:close/>
                </a:path>
                <a:path w="4781550" h="2400300">
                  <a:moveTo>
                    <a:pt x="4740136" y="2390775"/>
                  </a:moveTo>
                  <a:lnTo>
                    <a:pt x="4705351" y="2390775"/>
                  </a:lnTo>
                  <a:lnTo>
                    <a:pt x="4731239" y="2385513"/>
                  </a:lnTo>
                  <a:lnTo>
                    <a:pt x="4752440" y="2371189"/>
                  </a:lnTo>
                  <a:lnTo>
                    <a:pt x="4766765" y="2349988"/>
                  </a:lnTo>
                  <a:lnTo>
                    <a:pt x="4772026" y="2324100"/>
                  </a:lnTo>
                  <a:lnTo>
                    <a:pt x="4772026" y="76200"/>
                  </a:lnTo>
                  <a:lnTo>
                    <a:pt x="4766765" y="50311"/>
                  </a:lnTo>
                  <a:lnTo>
                    <a:pt x="4752440" y="29110"/>
                  </a:lnTo>
                  <a:lnTo>
                    <a:pt x="4731239" y="14786"/>
                  </a:lnTo>
                  <a:lnTo>
                    <a:pt x="4705351" y="9525"/>
                  </a:lnTo>
                  <a:lnTo>
                    <a:pt x="4740136" y="9525"/>
                  </a:lnTo>
                  <a:lnTo>
                    <a:pt x="4759167" y="22383"/>
                  </a:lnTo>
                  <a:lnTo>
                    <a:pt x="4775538" y="46612"/>
                  </a:lnTo>
                  <a:lnTo>
                    <a:pt x="4781551" y="76200"/>
                  </a:lnTo>
                  <a:lnTo>
                    <a:pt x="4781551" y="2324100"/>
                  </a:lnTo>
                  <a:lnTo>
                    <a:pt x="4775538" y="2353687"/>
                  </a:lnTo>
                  <a:lnTo>
                    <a:pt x="4759167" y="2377916"/>
                  </a:lnTo>
                  <a:lnTo>
                    <a:pt x="4740136" y="239077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32099" y="2432685"/>
            <a:ext cx="18973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Enero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26: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Agrupado</a:t>
            </a:r>
            <a:r>
              <a:rPr sz="900" b="1" spc="-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0F2B59"/>
                </a:solidFill>
                <a:latin typeface="Verdana"/>
                <a:cs typeface="Verdana"/>
              </a:rPr>
              <a:t>Ruta</a:t>
            </a:r>
            <a:endParaRPr sz="900">
              <a:latin typeface="Verdana"/>
              <a:cs typeface="Verdana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252908"/>
              </p:ext>
            </p:extLst>
          </p:nvPr>
        </p:nvGraphicFramePr>
        <p:xfrm>
          <a:off x="787649" y="2645410"/>
          <a:ext cx="4666612" cy="2045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385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$377k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$364k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$351k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$650k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$260k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541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2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$286k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0" name="object 30"/>
          <p:cNvGrpSpPr/>
          <p:nvPr/>
        </p:nvGrpSpPr>
        <p:grpSpPr>
          <a:xfrm>
            <a:off x="5816851" y="2359660"/>
            <a:ext cx="4781550" cy="2400300"/>
            <a:chOff x="5816851" y="1786804"/>
            <a:chExt cx="4781550" cy="2400300"/>
          </a:xfrm>
        </p:grpSpPr>
        <p:sp>
          <p:nvSpPr>
            <p:cNvPr id="31" name="object 31"/>
            <p:cNvSpPr/>
            <p:nvPr/>
          </p:nvSpPr>
          <p:spPr>
            <a:xfrm>
              <a:off x="5816851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2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21" y="0"/>
                  </a:lnTo>
                  <a:lnTo>
                    <a:pt x="4734908" y="6012"/>
                  </a:lnTo>
                  <a:lnTo>
                    <a:pt x="4759137" y="22383"/>
                  </a:lnTo>
                  <a:lnTo>
                    <a:pt x="4775508" y="46612"/>
                  </a:lnTo>
                  <a:lnTo>
                    <a:pt x="4781521" y="76200"/>
                  </a:lnTo>
                  <a:lnTo>
                    <a:pt x="4781521" y="2324100"/>
                  </a:lnTo>
                  <a:lnTo>
                    <a:pt x="4775508" y="2353687"/>
                  </a:lnTo>
                  <a:lnTo>
                    <a:pt x="4759137" y="2377916"/>
                  </a:lnTo>
                  <a:lnTo>
                    <a:pt x="4734908" y="2394287"/>
                  </a:lnTo>
                  <a:lnTo>
                    <a:pt x="4705321" y="2400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16851" y="1786804"/>
              <a:ext cx="4781550" cy="2400300"/>
            </a:xfrm>
            <a:custGeom>
              <a:avLst/>
              <a:gdLst/>
              <a:ahLst/>
              <a:cxnLst/>
              <a:rect l="l" t="t" r="r" b="b"/>
              <a:pathLst>
                <a:path w="4781550" h="2400300">
                  <a:moveTo>
                    <a:pt x="4705321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4705321" y="0"/>
                  </a:lnTo>
                  <a:lnTo>
                    <a:pt x="4734908" y="6012"/>
                  </a:lnTo>
                  <a:lnTo>
                    <a:pt x="4740106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324100"/>
                  </a:lnTo>
                  <a:lnTo>
                    <a:pt x="14786" y="2349988"/>
                  </a:lnTo>
                  <a:lnTo>
                    <a:pt x="29110" y="2371189"/>
                  </a:lnTo>
                  <a:lnTo>
                    <a:pt x="50311" y="2385513"/>
                  </a:lnTo>
                  <a:lnTo>
                    <a:pt x="76200" y="2390775"/>
                  </a:lnTo>
                  <a:lnTo>
                    <a:pt x="4740106" y="2390775"/>
                  </a:lnTo>
                  <a:lnTo>
                    <a:pt x="4734908" y="2394287"/>
                  </a:lnTo>
                  <a:lnTo>
                    <a:pt x="4705321" y="2400300"/>
                  </a:lnTo>
                  <a:close/>
                </a:path>
                <a:path w="4781550" h="2400300">
                  <a:moveTo>
                    <a:pt x="4740106" y="2390775"/>
                  </a:moveTo>
                  <a:lnTo>
                    <a:pt x="4705321" y="2390775"/>
                  </a:lnTo>
                  <a:lnTo>
                    <a:pt x="4731210" y="2385513"/>
                  </a:lnTo>
                  <a:lnTo>
                    <a:pt x="4752410" y="2371189"/>
                  </a:lnTo>
                  <a:lnTo>
                    <a:pt x="4766735" y="2349988"/>
                  </a:lnTo>
                  <a:lnTo>
                    <a:pt x="4771996" y="2324100"/>
                  </a:lnTo>
                  <a:lnTo>
                    <a:pt x="4771996" y="76200"/>
                  </a:lnTo>
                  <a:lnTo>
                    <a:pt x="4766735" y="50311"/>
                  </a:lnTo>
                  <a:lnTo>
                    <a:pt x="4752410" y="29110"/>
                  </a:lnTo>
                  <a:lnTo>
                    <a:pt x="4731210" y="14786"/>
                  </a:lnTo>
                  <a:lnTo>
                    <a:pt x="4705321" y="9525"/>
                  </a:lnTo>
                  <a:lnTo>
                    <a:pt x="4740106" y="9525"/>
                  </a:lnTo>
                  <a:lnTo>
                    <a:pt x="4759137" y="22383"/>
                  </a:lnTo>
                  <a:lnTo>
                    <a:pt x="4775508" y="46612"/>
                  </a:lnTo>
                  <a:lnTo>
                    <a:pt x="4781521" y="76200"/>
                  </a:lnTo>
                  <a:lnTo>
                    <a:pt x="4781521" y="2324100"/>
                  </a:lnTo>
                  <a:lnTo>
                    <a:pt x="4775508" y="2353687"/>
                  </a:lnTo>
                  <a:lnTo>
                    <a:pt x="4759137" y="2377916"/>
                  </a:lnTo>
                  <a:lnTo>
                    <a:pt x="4740106" y="239077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908925" y="2432685"/>
            <a:ext cx="2003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Enero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26: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Agrupado</a:t>
            </a:r>
            <a:r>
              <a:rPr sz="900" b="1" spc="-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0F2B59"/>
                </a:solidFill>
                <a:latin typeface="Verdana"/>
                <a:cs typeface="Verdana"/>
              </a:rPr>
              <a:t>por</a:t>
            </a:r>
            <a:r>
              <a:rPr sz="900" b="1" spc="-1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0F2B59"/>
                </a:solidFill>
                <a:latin typeface="Verdana"/>
                <a:cs typeface="Verdana"/>
              </a:rPr>
              <a:t>Buque</a:t>
            </a:r>
            <a:endParaRPr sz="900">
              <a:latin typeface="Verdana"/>
              <a:cs typeface="Verdan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84267"/>
              </p:ext>
            </p:extLst>
          </p:nvPr>
        </p:nvGraphicFramePr>
        <p:xfrm>
          <a:off x="5864476" y="2645410"/>
          <a:ext cx="4667885" cy="2045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5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H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CT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CAD4E1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$377k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$286k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7620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$247k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$364k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8A5BF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Mar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$650k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Mej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$260k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44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Cal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$390k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Ilo-</a:t>
                      </a:r>
                      <a:r>
                        <a:rPr sz="65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Mat</a:t>
                      </a:r>
                      <a:endParaRPr sz="65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500" spc="-10" dirty="0">
                          <a:solidFill>
                            <a:srgbClr val="F7F9FB"/>
                          </a:solidFill>
                          <a:latin typeface="Verdana"/>
                          <a:cs typeface="Verdana"/>
                        </a:rPr>
                        <a:t>$351k</a:t>
                      </a:r>
                      <a:endParaRPr sz="500">
                        <a:latin typeface="Verdana"/>
                        <a:cs typeface="Verdana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EF444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CAD4E1"/>
                      </a:solidFill>
                      <a:prstDash val="solid"/>
                    </a:lnL>
                    <a:lnR w="19050">
                      <a:solidFill>
                        <a:srgbClr val="CAD4E1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CAD4E1"/>
                      </a:solidFill>
                      <a:prstDash val="solid"/>
                    </a:lnB>
                    <a:solidFill>
                      <a:srgbClr val="05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38" name="object 23">
            <a:extLst>
              <a:ext uri="{FF2B5EF4-FFF2-40B4-BE49-F238E27FC236}">
                <a16:creationId xmlns:a16="http://schemas.microsoft.com/office/drawing/2014/main" id="{D51FD9D9-3ABE-AC76-5472-E3A94F58B88F}"/>
              </a:ext>
            </a:extLst>
          </p:cNvPr>
          <p:cNvSpPr txBox="1"/>
          <p:nvPr/>
        </p:nvSpPr>
        <p:spPr>
          <a:xfrm>
            <a:off x="4935601" y="5034661"/>
            <a:ext cx="476641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r>
              <a:rPr lang="es-MX" sz="750" spc="-25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319824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299" y="500213"/>
            <a:ext cx="7818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85" dirty="0"/>
              <a:t> </a:t>
            </a:r>
            <a:r>
              <a:rPr dirty="0"/>
              <a:t>Visual:</a:t>
            </a:r>
            <a:r>
              <a:rPr spc="-80" dirty="0"/>
              <a:t> </a:t>
            </a:r>
            <a:r>
              <a:rPr dirty="0"/>
              <a:t>Pilar</a:t>
            </a:r>
            <a:r>
              <a:rPr spc="-80" dirty="0"/>
              <a:t> </a:t>
            </a:r>
            <a:r>
              <a:rPr dirty="0"/>
              <a:t>B</a:t>
            </a:r>
            <a:r>
              <a:rPr spc="-8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Proformador</a:t>
            </a:r>
            <a:r>
              <a:rPr spc="-80" dirty="0"/>
              <a:t> </a:t>
            </a:r>
            <a:r>
              <a:rPr spc="-20" dirty="0"/>
              <a:t>SPOT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018876"/>
            <a:ext cx="7028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Impacto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del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Pilar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B: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Propuestas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comerciales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ágiles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basadas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en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el</a:t>
            </a:r>
            <a:r>
              <a:rPr sz="1400" b="1" spc="-15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PnL</a:t>
            </a:r>
            <a:r>
              <a:rPr sz="1400" b="1" spc="-4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C26AF"/>
                </a:solidFill>
                <a:latin typeface="Arial"/>
                <a:cs typeface="Arial"/>
              </a:rPr>
              <a:t>del</a:t>
            </a:r>
            <a:r>
              <a:rPr sz="1400" b="1" spc="-20" dirty="0">
                <a:solidFill>
                  <a:srgbClr val="9C26A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C26AF"/>
                </a:solidFill>
                <a:latin typeface="Arial"/>
                <a:cs typeface="Arial"/>
              </a:rPr>
              <a:t>Paquete.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1386497"/>
            <a:ext cx="9982200" cy="5019675"/>
            <a:chOff x="539999" y="1386497"/>
            <a:chExt cx="9982200" cy="5019675"/>
          </a:xfrm>
        </p:grpSpPr>
        <p:sp>
          <p:nvSpPr>
            <p:cNvPr id="6" name="object 6"/>
            <p:cNvSpPr/>
            <p:nvPr/>
          </p:nvSpPr>
          <p:spPr>
            <a:xfrm>
              <a:off x="539999" y="1386497"/>
              <a:ext cx="9982200" cy="5019675"/>
            </a:xfrm>
            <a:custGeom>
              <a:avLst/>
              <a:gdLst/>
              <a:ahLst/>
              <a:cxnLst/>
              <a:rect l="l" t="t" r="r" b="b"/>
              <a:pathLst>
                <a:path w="9982200" h="5019675">
                  <a:moveTo>
                    <a:pt x="9905972" y="5019675"/>
                  </a:moveTo>
                  <a:lnTo>
                    <a:pt x="76200" y="5019675"/>
                  </a:lnTo>
                  <a:lnTo>
                    <a:pt x="46612" y="5013662"/>
                  </a:lnTo>
                  <a:lnTo>
                    <a:pt x="22383" y="4997291"/>
                  </a:lnTo>
                  <a:lnTo>
                    <a:pt x="6012" y="4973062"/>
                  </a:lnTo>
                  <a:lnTo>
                    <a:pt x="0" y="49434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905972" y="0"/>
                  </a:lnTo>
                  <a:lnTo>
                    <a:pt x="9935559" y="6012"/>
                  </a:lnTo>
                  <a:lnTo>
                    <a:pt x="994075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4943475"/>
                  </a:lnTo>
                  <a:lnTo>
                    <a:pt x="14786" y="4969363"/>
                  </a:lnTo>
                  <a:lnTo>
                    <a:pt x="29110" y="4990564"/>
                  </a:lnTo>
                  <a:lnTo>
                    <a:pt x="50311" y="5004889"/>
                  </a:lnTo>
                  <a:lnTo>
                    <a:pt x="76200" y="5010150"/>
                  </a:lnTo>
                  <a:lnTo>
                    <a:pt x="9940757" y="5010150"/>
                  </a:lnTo>
                  <a:lnTo>
                    <a:pt x="9935559" y="5013662"/>
                  </a:lnTo>
                  <a:lnTo>
                    <a:pt x="9905972" y="5019675"/>
                  </a:lnTo>
                  <a:close/>
                </a:path>
                <a:path w="9982200" h="5019675">
                  <a:moveTo>
                    <a:pt x="9940757" y="5010150"/>
                  </a:moveTo>
                  <a:lnTo>
                    <a:pt x="9905972" y="5010150"/>
                  </a:lnTo>
                  <a:lnTo>
                    <a:pt x="9931861" y="5004889"/>
                  </a:lnTo>
                  <a:lnTo>
                    <a:pt x="9953061" y="4990564"/>
                  </a:lnTo>
                  <a:lnTo>
                    <a:pt x="9967386" y="4969363"/>
                  </a:lnTo>
                  <a:lnTo>
                    <a:pt x="9972647" y="4943475"/>
                  </a:lnTo>
                  <a:lnTo>
                    <a:pt x="9972647" y="76200"/>
                  </a:lnTo>
                  <a:lnTo>
                    <a:pt x="9967386" y="50311"/>
                  </a:lnTo>
                  <a:lnTo>
                    <a:pt x="9953061" y="29110"/>
                  </a:lnTo>
                  <a:lnTo>
                    <a:pt x="9931861" y="14786"/>
                  </a:lnTo>
                  <a:lnTo>
                    <a:pt x="9905972" y="9525"/>
                  </a:lnTo>
                  <a:lnTo>
                    <a:pt x="9940757" y="9525"/>
                  </a:lnTo>
                  <a:lnTo>
                    <a:pt x="9959788" y="22383"/>
                  </a:lnTo>
                  <a:lnTo>
                    <a:pt x="9976160" y="46612"/>
                  </a:lnTo>
                  <a:lnTo>
                    <a:pt x="9982172" y="76200"/>
                  </a:lnTo>
                  <a:lnTo>
                    <a:pt x="9982172" y="4943475"/>
                  </a:lnTo>
                  <a:lnTo>
                    <a:pt x="9976160" y="4973062"/>
                  </a:lnTo>
                  <a:lnTo>
                    <a:pt x="9959788" y="4997291"/>
                  </a:lnTo>
                  <a:lnTo>
                    <a:pt x="9940757" y="501015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rcRect t="15702" b="18775"/>
            <a:stretch>
              <a:fillRect/>
            </a:stretch>
          </p:blipFill>
          <p:spPr>
            <a:xfrm>
              <a:off x="1841500" y="1520969"/>
              <a:ext cx="7325226" cy="475073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83323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39974" y="2045245"/>
            <a:ext cx="10352405" cy="4516120"/>
            <a:chOff x="339974" y="2045245"/>
            <a:chExt cx="10352405" cy="4516120"/>
          </a:xfrm>
        </p:grpSpPr>
        <p:sp>
          <p:nvSpPr>
            <p:cNvPr id="4" name="object 4"/>
            <p:cNvSpPr/>
            <p:nvPr/>
          </p:nvSpPr>
          <p:spPr>
            <a:xfrm>
              <a:off x="339974" y="2045245"/>
              <a:ext cx="10352405" cy="4516120"/>
            </a:xfrm>
            <a:custGeom>
              <a:avLst/>
              <a:gdLst/>
              <a:ahLst/>
              <a:cxnLst/>
              <a:rect l="l" t="t" r="r" b="b"/>
              <a:pathLst>
                <a:path w="10352405" h="4516120">
                  <a:moveTo>
                    <a:pt x="10248872" y="4515964"/>
                  </a:moveTo>
                  <a:lnTo>
                    <a:pt x="114300" y="4515964"/>
                  </a:lnTo>
                  <a:lnTo>
                    <a:pt x="69919" y="4506945"/>
                  </a:lnTo>
                  <a:lnTo>
                    <a:pt x="33575" y="4482388"/>
                  </a:lnTo>
                  <a:lnTo>
                    <a:pt x="9018" y="4446045"/>
                  </a:lnTo>
                  <a:lnTo>
                    <a:pt x="0" y="4401664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4449190"/>
                  </a:lnTo>
                  <a:lnTo>
                    <a:pt x="10329597" y="4482388"/>
                  </a:lnTo>
                  <a:lnTo>
                    <a:pt x="10293253" y="4506945"/>
                  </a:lnTo>
                  <a:lnTo>
                    <a:pt x="10248872" y="4515964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74" y="2045245"/>
              <a:ext cx="10352405" cy="4516120"/>
            </a:xfrm>
            <a:custGeom>
              <a:avLst/>
              <a:gdLst/>
              <a:ahLst/>
              <a:cxnLst/>
              <a:rect l="l" t="t" r="r" b="b"/>
              <a:pathLst>
                <a:path w="10352405" h="4516120">
                  <a:moveTo>
                    <a:pt x="10248872" y="4515964"/>
                  </a:moveTo>
                  <a:lnTo>
                    <a:pt x="114300" y="4515964"/>
                  </a:lnTo>
                  <a:lnTo>
                    <a:pt x="69919" y="4506945"/>
                  </a:lnTo>
                  <a:lnTo>
                    <a:pt x="33575" y="4482389"/>
                  </a:lnTo>
                  <a:lnTo>
                    <a:pt x="9018" y="4446045"/>
                  </a:lnTo>
                  <a:lnTo>
                    <a:pt x="0" y="4401664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10248872" y="0"/>
                  </a:lnTo>
                  <a:lnTo>
                    <a:pt x="10293253" y="9018"/>
                  </a:lnTo>
                  <a:lnTo>
                    <a:pt x="10294002" y="9525"/>
                  </a:lnTo>
                  <a:lnTo>
                    <a:pt x="114300" y="9525"/>
                  </a:lnTo>
                  <a:lnTo>
                    <a:pt x="73617" y="17792"/>
                  </a:lnTo>
                  <a:lnTo>
                    <a:pt x="40302" y="40302"/>
                  </a:lnTo>
                  <a:lnTo>
                    <a:pt x="17792" y="73617"/>
                  </a:lnTo>
                  <a:lnTo>
                    <a:pt x="9525" y="114300"/>
                  </a:lnTo>
                  <a:lnTo>
                    <a:pt x="9525" y="4401664"/>
                  </a:lnTo>
                  <a:lnTo>
                    <a:pt x="17792" y="4442346"/>
                  </a:lnTo>
                  <a:lnTo>
                    <a:pt x="40302" y="4475662"/>
                  </a:lnTo>
                  <a:lnTo>
                    <a:pt x="73617" y="4498172"/>
                  </a:lnTo>
                  <a:lnTo>
                    <a:pt x="114300" y="4506439"/>
                  </a:lnTo>
                  <a:lnTo>
                    <a:pt x="10294002" y="4506439"/>
                  </a:lnTo>
                  <a:lnTo>
                    <a:pt x="10293253" y="4506945"/>
                  </a:lnTo>
                  <a:lnTo>
                    <a:pt x="10248872" y="4515964"/>
                  </a:lnTo>
                  <a:close/>
                </a:path>
                <a:path w="10352405" h="4516120">
                  <a:moveTo>
                    <a:pt x="10352028" y="106332"/>
                  </a:moveTo>
                  <a:lnTo>
                    <a:pt x="10345380" y="73617"/>
                  </a:lnTo>
                  <a:lnTo>
                    <a:pt x="10322870" y="40302"/>
                  </a:lnTo>
                  <a:lnTo>
                    <a:pt x="10289555" y="17792"/>
                  </a:lnTo>
                  <a:lnTo>
                    <a:pt x="10248872" y="9525"/>
                  </a:lnTo>
                  <a:lnTo>
                    <a:pt x="10294002" y="9525"/>
                  </a:lnTo>
                  <a:lnTo>
                    <a:pt x="10329597" y="33575"/>
                  </a:lnTo>
                  <a:lnTo>
                    <a:pt x="10352028" y="66774"/>
                  </a:lnTo>
                  <a:lnTo>
                    <a:pt x="10352028" y="106332"/>
                  </a:lnTo>
                  <a:close/>
                </a:path>
                <a:path w="10352405" h="4516120">
                  <a:moveTo>
                    <a:pt x="10294002" y="4506439"/>
                  </a:moveTo>
                  <a:lnTo>
                    <a:pt x="10248872" y="4506439"/>
                  </a:lnTo>
                  <a:lnTo>
                    <a:pt x="10289555" y="4498172"/>
                  </a:lnTo>
                  <a:lnTo>
                    <a:pt x="10322870" y="4475662"/>
                  </a:lnTo>
                  <a:lnTo>
                    <a:pt x="10345380" y="4442346"/>
                  </a:lnTo>
                  <a:lnTo>
                    <a:pt x="10352028" y="4409631"/>
                  </a:lnTo>
                  <a:lnTo>
                    <a:pt x="10352028" y="4449190"/>
                  </a:lnTo>
                  <a:lnTo>
                    <a:pt x="10329597" y="4482389"/>
                  </a:lnTo>
                  <a:lnTo>
                    <a:pt x="10294002" y="45064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9999" y="2245270"/>
              <a:ext cx="9963150" cy="3484879"/>
            </a:xfrm>
            <a:custGeom>
              <a:avLst/>
              <a:gdLst/>
              <a:ahLst/>
              <a:cxnLst/>
              <a:rect l="l" t="t" r="r" b="b"/>
              <a:pathLst>
                <a:path w="9963150" h="3484879">
                  <a:moveTo>
                    <a:pt x="9886922" y="3484721"/>
                  </a:moveTo>
                  <a:lnTo>
                    <a:pt x="76200" y="3484721"/>
                  </a:lnTo>
                  <a:lnTo>
                    <a:pt x="46612" y="3478708"/>
                  </a:lnTo>
                  <a:lnTo>
                    <a:pt x="22383" y="3462337"/>
                  </a:lnTo>
                  <a:lnTo>
                    <a:pt x="6012" y="3438108"/>
                  </a:lnTo>
                  <a:lnTo>
                    <a:pt x="0" y="340852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408521"/>
                  </a:lnTo>
                  <a:lnTo>
                    <a:pt x="9957110" y="3438108"/>
                  </a:lnTo>
                  <a:lnTo>
                    <a:pt x="9940738" y="3462337"/>
                  </a:lnTo>
                  <a:lnTo>
                    <a:pt x="9916509" y="3478708"/>
                  </a:lnTo>
                  <a:lnTo>
                    <a:pt x="9886922" y="34847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9" y="2245271"/>
              <a:ext cx="9963150" cy="3484879"/>
            </a:xfrm>
            <a:custGeom>
              <a:avLst/>
              <a:gdLst/>
              <a:ahLst/>
              <a:cxnLst/>
              <a:rect l="l" t="t" r="r" b="b"/>
              <a:pathLst>
                <a:path w="9963150" h="3484879">
                  <a:moveTo>
                    <a:pt x="9886922" y="3484721"/>
                  </a:moveTo>
                  <a:lnTo>
                    <a:pt x="76200" y="3484721"/>
                  </a:lnTo>
                  <a:lnTo>
                    <a:pt x="46612" y="3478708"/>
                  </a:lnTo>
                  <a:lnTo>
                    <a:pt x="22383" y="3462337"/>
                  </a:lnTo>
                  <a:lnTo>
                    <a:pt x="6012" y="3438108"/>
                  </a:lnTo>
                  <a:lnTo>
                    <a:pt x="0" y="340852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3408521"/>
                  </a:lnTo>
                  <a:lnTo>
                    <a:pt x="14786" y="3434410"/>
                  </a:lnTo>
                  <a:lnTo>
                    <a:pt x="29110" y="3455610"/>
                  </a:lnTo>
                  <a:lnTo>
                    <a:pt x="50311" y="3469935"/>
                  </a:lnTo>
                  <a:lnTo>
                    <a:pt x="76200" y="3475196"/>
                  </a:lnTo>
                  <a:lnTo>
                    <a:pt x="9921707" y="3475196"/>
                  </a:lnTo>
                  <a:lnTo>
                    <a:pt x="9916509" y="3478708"/>
                  </a:lnTo>
                  <a:lnTo>
                    <a:pt x="9886922" y="3484721"/>
                  </a:lnTo>
                  <a:close/>
                </a:path>
                <a:path w="9963150" h="3484879">
                  <a:moveTo>
                    <a:pt x="9921707" y="3475196"/>
                  </a:moveTo>
                  <a:lnTo>
                    <a:pt x="9886922" y="3475196"/>
                  </a:lnTo>
                  <a:lnTo>
                    <a:pt x="9912811" y="3469935"/>
                  </a:lnTo>
                  <a:lnTo>
                    <a:pt x="9934011" y="3455610"/>
                  </a:lnTo>
                  <a:lnTo>
                    <a:pt x="9948336" y="3434410"/>
                  </a:lnTo>
                  <a:lnTo>
                    <a:pt x="9953597" y="3408521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3408521"/>
                  </a:lnTo>
                  <a:lnTo>
                    <a:pt x="9957110" y="3438108"/>
                  </a:lnTo>
                  <a:lnTo>
                    <a:pt x="9940738" y="3462337"/>
                  </a:lnTo>
                  <a:lnTo>
                    <a:pt x="9921707" y="347519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999" y="5777617"/>
              <a:ext cx="9963150" cy="583565"/>
            </a:xfrm>
            <a:custGeom>
              <a:avLst/>
              <a:gdLst/>
              <a:ahLst/>
              <a:cxnLst/>
              <a:rect l="l" t="t" r="r" b="b"/>
              <a:pathLst>
                <a:path w="9963150" h="583564">
                  <a:moveTo>
                    <a:pt x="9886922" y="583568"/>
                  </a:moveTo>
                  <a:lnTo>
                    <a:pt x="76200" y="583568"/>
                  </a:lnTo>
                  <a:lnTo>
                    <a:pt x="46612" y="577555"/>
                  </a:lnTo>
                  <a:lnTo>
                    <a:pt x="22383" y="561184"/>
                  </a:lnTo>
                  <a:lnTo>
                    <a:pt x="6012" y="536955"/>
                  </a:lnTo>
                  <a:lnTo>
                    <a:pt x="0" y="5073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507368"/>
                  </a:lnTo>
                  <a:lnTo>
                    <a:pt x="9957110" y="536955"/>
                  </a:lnTo>
                  <a:lnTo>
                    <a:pt x="9940738" y="561184"/>
                  </a:lnTo>
                  <a:lnTo>
                    <a:pt x="9916509" y="577555"/>
                  </a:lnTo>
                  <a:lnTo>
                    <a:pt x="9886922" y="583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999" y="5777617"/>
              <a:ext cx="9963150" cy="583565"/>
            </a:xfrm>
            <a:custGeom>
              <a:avLst/>
              <a:gdLst/>
              <a:ahLst/>
              <a:cxnLst/>
              <a:rect l="l" t="t" r="r" b="b"/>
              <a:pathLst>
                <a:path w="9963150" h="583564">
                  <a:moveTo>
                    <a:pt x="9886922" y="583568"/>
                  </a:moveTo>
                  <a:lnTo>
                    <a:pt x="76200" y="583568"/>
                  </a:lnTo>
                  <a:lnTo>
                    <a:pt x="46612" y="577555"/>
                  </a:lnTo>
                  <a:lnTo>
                    <a:pt x="22383" y="561184"/>
                  </a:lnTo>
                  <a:lnTo>
                    <a:pt x="6012" y="536955"/>
                  </a:lnTo>
                  <a:lnTo>
                    <a:pt x="0" y="5073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21707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07368"/>
                  </a:lnTo>
                  <a:lnTo>
                    <a:pt x="14786" y="533256"/>
                  </a:lnTo>
                  <a:lnTo>
                    <a:pt x="29110" y="554457"/>
                  </a:lnTo>
                  <a:lnTo>
                    <a:pt x="50311" y="568782"/>
                  </a:lnTo>
                  <a:lnTo>
                    <a:pt x="76200" y="574043"/>
                  </a:lnTo>
                  <a:lnTo>
                    <a:pt x="9921707" y="574043"/>
                  </a:lnTo>
                  <a:lnTo>
                    <a:pt x="9916509" y="577555"/>
                  </a:lnTo>
                  <a:lnTo>
                    <a:pt x="9886922" y="583568"/>
                  </a:lnTo>
                  <a:close/>
                </a:path>
                <a:path w="9963150" h="583564">
                  <a:moveTo>
                    <a:pt x="9921707" y="574043"/>
                  </a:moveTo>
                  <a:lnTo>
                    <a:pt x="9886922" y="574043"/>
                  </a:lnTo>
                  <a:lnTo>
                    <a:pt x="9912811" y="568782"/>
                  </a:lnTo>
                  <a:lnTo>
                    <a:pt x="9934011" y="554457"/>
                  </a:lnTo>
                  <a:lnTo>
                    <a:pt x="9948336" y="533256"/>
                  </a:lnTo>
                  <a:lnTo>
                    <a:pt x="9953597" y="507368"/>
                  </a:lnTo>
                  <a:lnTo>
                    <a:pt x="9953597" y="76200"/>
                  </a:lnTo>
                  <a:lnTo>
                    <a:pt x="9948336" y="50311"/>
                  </a:lnTo>
                  <a:lnTo>
                    <a:pt x="9934011" y="29110"/>
                  </a:lnTo>
                  <a:lnTo>
                    <a:pt x="9912811" y="14786"/>
                  </a:lnTo>
                  <a:lnTo>
                    <a:pt x="9886922" y="9525"/>
                  </a:lnTo>
                  <a:lnTo>
                    <a:pt x="9921707" y="9525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507368"/>
                  </a:lnTo>
                  <a:lnTo>
                    <a:pt x="9957110" y="536955"/>
                  </a:lnTo>
                  <a:lnTo>
                    <a:pt x="9940738" y="561184"/>
                  </a:lnTo>
                  <a:lnTo>
                    <a:pt x="9921707" y="5740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3918" y="6021771"/>
              <a:ext cx="79971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5320" y="6021771"/>
              <a:ext cx="79981" cy="95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6695" y="6021771"/>
              <a:ext cx="79886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5686" y="6021771"/>
              <a:ext cx="79819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700" y="6021771"/>
              <a:ext cx="79809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750" y="6021771"/>
              <a:ext cx="79638" cy="952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4920" y="6012246"/>
              <a:ext cx="10366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8506" y="6021771"/>
              <a:ext cx="85001" cy="952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Demostración</a:t>
            </a:r>
            <a:r>
              <a:rPr spc="-65" dirty="0"/>
              <a:t> </a:t>
            </a:r>
            <a:r>
              <a:rPr dirty="0"/>
              <a:t>Visual:</a:t>
            </a:r>
            <a:r>
              <a:rPr spc="-60" dirty="0"/>
              <a:t> </a:t>
            </a:r>
            <a:r>
              <a:rPr dirty="0"/>
              <a:t>Pilar</a:t>
            </a:r>
            <a:r>
              <a:rPr spc="-60" dirty="0"/>
              <a:t> </a:t>
            </a:r>
            <a:r>
              <a:rPr dirty="0"/>
              <a:t>C</a:t>
            </a:r>
            <a:r>
              <a:rPr spc="-6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Control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Gestión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27299" y="1582375"/>
            <a:ext cx="7100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Impacto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del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Pilar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C: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Midiendo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la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varianza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operativa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y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ajustando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costos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E65000"/>
                </a:solidFill>
                <a:latin typeface="Arial"/>
                <a:cs typeface="Arial"/>
              </a:rPr>
              <a:t>la</a:t>
            </a:r>
            <a:r>
              <a:rPr sz="1400" b="1" spc="-15" dirty="0">
                <a:solidFill>
                  <a:srgbClr val="E65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E65000"/>
                </a:solidFill>
                <a:latin typeface="Arial"/>
                <a:cs typeface="Arial"/>
              </a:rPr>
              <a:t>realidad.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9668" y="2447493"/>
            <a:ext cx="54844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Ejecución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Gross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Profit: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Proyectado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(P)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vs</a:t>
            </a:r>
            <a:r>
              <a:rPr sz="12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Real</a:t>
            </a:r>
            <a:r>
              <a:rPr sz="12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F2B59"/>
                </a:solidFill>
                <a:latin typeface="Verdana"/>
                <a:cs typeface="Verdana"/>
              </a:rPr>
              <a:t>Ejecutado</a:t>
            </a:r>
            <a:r>
              <a:rPr sz="1200" b="1" spc="-3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200" b="1" spc="-25" dirty="0">
                <a:solidFill>
                  <a:srgbClr val="0F2B59"/>
                </a:solidFill>
                <a:latin typeface="Verdana"/>
                <a:cs typeface="Verdana"/>
              </a:rPr>
              <a:t>(R)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4700" y="5861167"/>
            <a:ext cx="501650" cy="3778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spc="-5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endParaRPr sz="9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RUTAS: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99290" y="5913602"/>
            <a:ext cx="429259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Callao- 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0707" y="5913602"/>
            <a:ext cx="4406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Callao- 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1979" y="5913602"/>
            <a:ext cx="498475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Mejillones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80909" y="5913602"/>
            <a:ext cx="440690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Matarani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00907" y="5913602"/>
            <a:ext cx="429259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Marcona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10790" y="5913602"/>
            <a:ext cx="316865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Ilo-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Callao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74951" y="5861167"/>
            <a:ext cx="589280" cy="3778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spc="-50" dirty="0">
                <a:solidFill>
                  <a:srgbClr val="334154"/>
                </a:solidFill>
                <a:latin typeface="Segoe UI Emoji"/>
                <a:cs typeface="Segoe UI Emoji"/>
              </a:rPr>
              <a:t>📊</a:t>
            </a:r>
            <a:endParaRPr sz="9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b="1" spc="-10" dirty="0">
                <a:solidFill>
                  <a:srgbClr val="334154"/>
                </a:solidFill>
                <a:latin typeface="Verdana"/>
                <a:cs typeface="Verdana"/>
              </a:rPr>
              <a:t>ESTADO: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73980" y="5913602"/>
            <a:ext cx="554990" cy="292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750" spc="-25" dirty="0">
                <a:solidFill>
                  <a:srgbClr val="465469"/>
                </a:solidFill>
                <a:latin typeface="Verdana"/>
                <a:cs typeface="Verdana"/>
              </a:rPr>
              <a:t>(P)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Proyectado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38906" y="5913602"/>
            <a:ext cx="71564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750" dirty="0">
                <a:solidFill>
                  <a:srgbClr val="465469"/>
                </a:solidFill>
                <a:latin typeface="Verdana"/>
                <a:cs typeface="Verdana"/>
              </a:rPr>
              <a:t>(R)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750" spc="-20" dirty="0">
                <a:solidFill>
                  <a:srgbClr val="465469"/>
                </a:solidFill>
                <a:latin typeface="Verdana"/>
                <a:cs typeface="Verdana"/>
              </a:rPr>
              <a:t>Real </a:t>
            </a:r>
            <a:r>
              <a:rPr sz="750" spc="-10" dirty="0">
                <a:solidFill>
                  <a:srgbClr val="465469"/>
                </a:solidFill>
                <a:latin typeface="Verdana"/>
                <a:cs typeface="Verdana"/>
              </a:rPr>
              <a:t>(Composición)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92512" y="3225393"/>
            <a:ext cx="9525" cy="1533525"/>
            <a:chOff x="1592512" y="3225393"/>
            <a:chExt cx="9525" cy="1533525"/>
          </a:xfrm>
        </p:grpSpPr>
        <p:sp>
          <p:nvSpPr>
            <p:cNvPr id="32" name="object 32"/>
            <p:cNvSpPr/>
            <p:nvPr/>
          </p:nvSpPr>
          <p:spPr>
            <a:xfrm>
              <a:off x="15972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972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482450" y="4684306"/>
            <a:ext cx="800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50" dirty="0">
                <a:solidFill>
                  <a:srgbClr val="64748A"/>
                </a:solidFill>
                <a:latin typeface="Verdana"/>
                <a:cs typeface="Verdana"/>
              </a:rPr>
              <a:t>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78767" y="4379506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8767" y="40747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400,000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8767" y="37699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600,000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78767" y="3465105"/>
            <a:ext cx="38417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800,000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93079" y="3160305"/>
            <a:ext cx="46926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64748A"/>
                </a:solidFill>
                <a:latin typeface="Verdana"/>
                <a:cs typeface="Verdana"/>
              </a:rPr>
              <a:t>1,000,000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30552" y="3560411"/>
            <a:ext cx="141605" cy="86360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Gross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Profit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($)</a:t>
            </a:r>
            <a:endParaRPr sz="750" dirty="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592512" y="3225393"/>
            <a:ext cx="7058025" cy="1533525"/>
            <a:chOff x="1592512" y="3225393"/>
            <a:chExt cx="7058025" cy="1533525"/>
          </a:xfrm>
        </p:grpSpPr>
        <p:sp>
          <p:nvSpPr>
            <p:cNvPr id="42" name="object 42"/>
            <p:cNvSpPr/>
            <p:nvPr/>
          </p:nvSpPr>
          <p:spPr>
            <a:xfrm>
              <a:off x="1597274" y="44493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8575" y="0"/>
                  </a:lnTo>
                </a:path>
                <a:path w="7048500">
                  <a:moveTo>
                    <a:pt x="123825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304800" y="0"/>
                  </a:lnTo>
                </a:path>
                <a:path w="7048500">
                  <a:moveTo>
                    <a:pt x="400050" y="0"/>
                  </a:moveTo>
                  <a:lnTo>
                    <a:pt x="409575" y="0"/>
                  </a:lnTo>
                </a:path>
                <a:path w="7048500">
                  <a:moveTo>
                    <a:pt x="504825" y="0"/>
                  </a:moveTo>
                  <a:lnTo>
                    <a:pt x="581025" y="0"/>
                  </a:lnTo>
                </a:path>
                <a:path w="7048500">
                  <a:moveTo>
                    <a:pt x="676275" y="0"/>
                  </a:moveTo>
                  <a:lnTo>
                    <a:pt x="685800" y="0"/>
                  </a:lnTo>
                </a:path>
                <a:path w="7048500">
                  <a:moveTo>
                    <a:pt x="781050" y="0"/>
                  </a:moveTo>
                  <a:lnTo>
                    <a:pt x="857250" y="0"/>
                  </a:lnTo>
                </a:path>
                <a:path w="7048500">
                  <a:moveTo>
                    <a:pt x="9525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1200150" y="0"/>
                  </a:lnTo>
                </a:path>
                <a:path w="7048500">
                  <a:moveTo>
                    <a:pt x="1295400" y="0"/>
                  </a:moveTo>
                  <a:lnTo>
                    <a:pt x="1304925" y="0"/>
                  </a:lnTo>
                </a:path>
                <a:path w="7048500">
                  <a:moveTo>
                    <a:pt x="1400175" y="0"/>
                  </a:moveTo>
                  <a:lnTo>
                    <a:pt x="1476375" y="0"/>
                  </a:lnTo>
                </a:path>
                <a:path w="7048500">
                  <a:moveTo>
                    <a:pt x="1571625" y="0"/>
                  </a:moveTo>
                  <a:lnTo>
                    <a:pt x="1581150" y="0"/>
                  </a:lnTo>
                </a:path>
                <a:path w="7048500">
                  <a:moveTo>
                    <a:pt x="1676400" y="0"/>
                  </a:moveTo>
                  <a:lnTo>
                    <a:pt x="1752600" y="0"/>
                  </a:lnTo>
                </a:path>
                <a:path w="7048500">
                  <a:moveTo>
                    <a:pt x="1847850" y="0"/>
                  </a:moveTo>
                  <a:lnTo>
                    <a:pt x="1857375" y="0"/>
                  </a:lnTo>
                </a:path>
                <a:path w="7048500">
                  <a:moveTo>
                    <a:pt x="1952625" y="0"/>
                  </a:moveTo>
                  <a:lnTo>
                    <a:pt x="2028825" y="0"/>
                  </a:lnTo>
                </a:path>
                <a:path w="7048500">
                  <a:moveTo>
                    <a:pt x="2124075" y="0"/>
                  </a:moveTo>
                  <a:lnTo>
                    <a:pt x="2133600" y="0"/>
                  </a:lnTo>
                </a:path>
                <a:path w="7048500">
                  <a:moveTo>
                    <a:pt x="2228850" y="0"/>
                  </a:moveTo>
                  <a:lnTo>
                    <a:pt x="2371725" y="0"/>
                  </a:lnTo>
                </a:path>
                <a:path w="7048500">
                  <a:moveTo>
                    <a:pt x="24669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647950" y="0"/>
                  </a:lnTo>
                </a:path>
                <a:path w="7048500">
                  <a:moveTo>
                    <a:pt x="274320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2924175" y="0"/>
                  </a:lnTo>
                </a:path>
                <a:path w="7048500">
                  <a:moveTo>
                    <a:pt x="3019425" y="0"/>
                  </a:moveTo>
                  <a:lnTo>
                    <a:pt x="3028950" y="0"/>
                  </a:lnTo>
                </a:path>
                <a:path w="7048500">
                  <a:moveTo>
                    <a:pt x="3124200" y="0"/>
                  </a:moveTo>
                  <a:lnTo>
                    <a:pt x="3200400" y="0"/>
                  </a:lnTo>
                </a:path>
                <a:path w="7048500">
                  <a:moveTo>
                    <a:pt x="3295650" y="0"/>
                  </a:moveTo>
                  <a:lnTo>
                    <a:pt x="3305175" y="0"/>
                  </a:lnTo>
                </a:path>
                <a:path w="7048500">
                  <a:moveTo>
                    <a:pt x="3400425" y="0"/>
                  </a:moveTo>
                  <a:lnTo>
                    <a:pt x="3543300" y="0"/>
                  </a:lnTo>
                </a:path>
                <a:path w="7048500">
                  <a:moveTo>
                    <a:pt x="3638550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3819525" y="0"/>
                  </a:lnTo>
                </a:path>
                <a:path w="7048500">
                  <a:moveTo>
                    <a:pt x="3914775" y="0"/>
                  </a:moveTo>
                  <a:lnTo>
                    <a:pt x="3924300" y="0"/>
                  </a:lnTo>
                </a:path>
                <a:path w="7048500">
                  <a:moveTo>
                    <a:pt x="4019550" y="0"/>
                  </a:moveTo>
                  <a:lnTo>
                    <a:pt x="4095750" y="0"/>
                  </a:lnTo>
                </a:path>
                <a:path w="7048500">
                  <a:moveTo>
                    <a:pt x="4191000" y="0"/>
                  </a:moveTo>
                  <a:lnTo>
                    <a:pt x="4200525" y="0"/>
                  </a:lnTo>
                </a:path>
                <a:path w="7048500">
                  <a:moveTo>
                    <a:pt x="4295775" y="0"/>
                  </a:moveTo>
                  <a:lnTo>
                    <a:pt x="4371975" y="0"/>
                  </a:lnTo>
                </a:path>
                <a:path w="7048500">
                  <a:moveTo>
                    <a:pt x="4467225" y="0"/>
                  </a:moveTo>
                  <a:lnTo>
                    <a:pt x="4476750" y="0"/>
                  </a:lnTo>
                </a:path>
                <a:path w="7048500">
                  <a:moveTo>
                    <a:pt x="4572000" y="0"/>
                  </a:moveTo>
                  <a:lnTo>
                    <a:pt x="4714875" y="0"/>
                  </a:lnTo>
                </a:path>
                <a:path w="7048500">
                  <a:moveTo>
                    <a:pt x="4810125" y="0"/>
                  </a:moveTo>
                  <a:lnTo>
                    <a:pt x="4819650" y="0"/>
                  </a:lnTo>
                </a:path>
                <a:path w="7048500">
                  <a:moveTo>
                    <a:pt x="4914900" y="0"/>
                  </a:moveTo>
                  <a:lnTo>
                    <a:pt x="4991100" y="0"/>
                  </a:lnTo>
                </a:path>
                <a:path w="7048500">
                  <a:moveTo>
                    <a:pt x="5086350" y="0"/>
                  </a:moveTo>
                  <a:lnTo>
                    <a:pt x="5095875" y="0"/>
                  </a:lnTo>
                </a:path>
                <a:path w="7048500">
                  <a:moveTo>
                    <a:pt x="5191125" y="0"/>
                  </a:moveTo>
                  <a:lnTo>
                    <a:pt x="5267325" y="0"/>
                  </a:lnTo>
                </a:path>
                <a:path w="7048500">
                  <a:moveTo>
                    <a:pt x="5362575" y="0"/>
                  </a:moveTo>
                  <a:lnTo>
                    <a:pt x="5372100" y="0"/>
                  </a:lnTo>
                </a:path>
                <a:path w="7048500">
                  <a:moveTo>
                    <a:pt x="5467350" y="0"/>
                  </a:moveTo>
                  <a:lnTo>
                    <a:pt x="5543550" y="0"/>
                  </a:lnTo>
                </a:path>
                <a:path w="7048500">
                  <a:moveTo>
                    <a:pt x="5638800" y="0"/>
                  </a:moveTo>
                  <a:lnTo>
                    <a:pt x="5648325" y="0"/>
                  </a:lnTo>
                </a:path>
                <a:path w="7048500">
                  <a:moveTo>
                    <a:pt x="5743575" y="0"/>
                  </a:moveTo>
                  <a:lnTo>
                    <a:pt x="5886450" y="0"/>
                  </a:lnTo>
                </a:path>
                <a:path w="7048500">
                  <a:moveTo>
                    <a:pt x="5981700" y="0"/>
                  </a:moveTo>
                  <a:lnTo>
                    <a:pt x="5991225" y="0"/>
                  </a:lnTo>
                </a:path>
                <a:path w="7048500">
                  <a:moveTo>
                    <a:pt x="6086475" y="0"/>
                  </a:moveTo>
                  <a:lnTo>
                    <a:pt x="6162675" y="0"/>
                  </a:lnTo>
                </a:path>
                <a:path w="7048500">
                  <a:moveTo>
                    <a:pt x="6257925" y="0"/>
                  </a:moveTo>
                  <a:lnTo>
                    <a:pt x="6267450" y="0"/>
                  </a:lnTo>
                </a:path>
                <a:path w="7048500">
                  <a:moveTo>
                    <a:pt x="6362700" y="0"/>
                  </a:moveTo>
                  <a:lnTo>
                    <a:pt x="6438900" y="0"/>
                  </a:lnTo>
                </a:path>
                <a:path w="7048500">
                  <a:moveTo>
                    <a:pt x="6534150" y="0"/>
                  </a:moveTo>
                  <a:lnTo>
                    <a:pt x="6543675" y="0"/>
                  </a:lnTo>
                </a:path>
                <a:path w="7048500">
                  <a:moveTo>
                    <a:pt x="6638925" y="0"/>
                  </a:moveTo>
                  <a:lnTo>
                    <a:pt x="6715125" y="0"/>
                  </a:lnTo>
                </a:path>
                <a:path w="7048500">
                  <a:moveTo>
                    <a:pt x="681037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97274" y="41445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28575" y="0"/>
                  </a:lnTo>
                </a:path>
                <a:path w="7048500">
                  <a:moveTo>
                    <a:pt x="123825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581025" y="0"/>
                  </a:lnTo>
                </a:path>
                <a:path w="7048500">
                  <a:moveTo>
                    <a:pt x="676275" y="0"/>
                  </a:moveTo>
                  <a:lnTo>
                    <a:pt x="685800" y="0"/>
                  </a:lnTo>
                </a:path>
                <a:path w="7048500">
                  <a:moveTo>
                    <a:pt x="781050" y="0"/>
                  </a:moveTo>
                  <a:lnTo>
                    <a:pt x="857250" y="0"/>
                  </a:lnTo>
                </a:path>
                <a:path w="7048500">
                  <a:moveTo>
                    <a:pt x="9525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1200150" y="0"/>
                  </a:lnTo>
                </a:path>
                <a:path w="7048500">
                  <a:moveTo>
                    <a:pt x="1295400" y="0"/>
                  </a:moveTo>
                  <a:lnTo>
                    <a:pt x="1304925" y="0"/>
                  </a:lnTo>
                </a:path>
                <a:path w="7048500">
                  <a:moveTo>
                    <a:pt x="1400175" y="0"/>
                  </a:moveTo>
                  <a:lnTo>
                    <a:pt x="1476375" y="0"/>
                  </a:lnTo>
                </a:path>
                <a:path w="7048500">
                  <a:moveTo>
                    <a:pt x="1571625" y="0"/>
                  </a:moveTo>
                  <a:lnTo>
                    <a:pt x="1581150" y="0"/>
                  </a:lnTo>
                </a:path>
                <a:path w="7048500">
                  <a:moveTo>
                    <a:pt x="1676400" y="0"/>
                  </a:moveTo>
                  <a:lnTo>
                    <a:pt x="1752600" y="0"/>
                  </a:lnTo>
                </a:path>
                <a:path w="7048500">
                  <a:moveTo>
                    <a:pt x="1847850" y="0"/>
                  </a:moveTo>
                  <a:lnTo>
                    <a:pt x="1857375" y="0"/>
                  </a:lnTo>
                </a:path>
                <a:path w="7048500">
                  <a:moveTo>
                    <a:pt x="1952625" y="0"/>
                  </a:moveTo>
                  <a:lnTo>
                    <a:pt x="2028825" y="0"/>
                  </a:lnTo>
                </a:path>
                <a:path w="7048500">
                  <a:moveTo>
                    <a:pt x="2124075" y="0"/>
                  </a:moveTo>
                  <a:lnTo>
                    <a:pt x="2133600" y="0"/>
                  </a:lnTo>
                </a:path>
                <a:path w="7048500">
                  <a:moveTo>
                    <a:pt x="2228850" y="0"/>
                  </a:moveTo>
                  <a:lnTo>
                    <a:pt x="2371725" y="0"/>
                  </a:lnTo>
                </a:path>
                <a:path w="7048500">
                  <a:moveTo>
                    <a:pt x="24669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647950" y="0"/>
                  </a:lnTo>
                </a:path>
                <a:path w="7048500">
                  <a:moveTo>
                    <a:pt x="274320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3200400" y="0"/>
                  </a:lnTo>
                </a:path>
                <a:path w="7048500">
                  <a:moveTo>
                    <a:pt x="3295650" y="0"/>
                  </a:moveTo>
                  <a:lnTo>
                    <a:pt x="3305175" y="0"/>
                  </a:lnTo>
                </a:path>
                <a:path w="7048500">
                  <a:moveTo>
                    <a:pt x="3400425" y="0"/>
                  </a:moveTo>
                  <a:lnTo>
                    <a:pt x="3543300" y="0"/>
                  </a:lnTo>
                </a:path>
                <a:path w="7048500">
                  <a:moveTo>
                    <a:pt x="3638550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3924300" y="0"/>
                  </a:lnTo>
                </a:path>
                <a:path w="7048500">
                  <a:moveTo>
                    <a:pt x="4019550" y="0"/>
                  </a:moveTo>
                  <a:lnTo>
                    <a:pt x="4095750" y="0"/>
                  </a:lnTo>
                </a:path>
                <a:path w="7048500">
                  <a:moveTo>
                    <a:pt x="4191000" y="0"/>
                  </a:moveTo>
                  <a:lnTo>
                    <a:pt x="4200525" y="0"/>
                  </a:lnTo>
                </a:path>
                <a:path w="7048500">
                  <a:moveTo>
                    <a:pt x="4295775" y="0"/>
                  </a:moveTo>
                  <a:lnTo>
                    <a:pt x="4371975" y="0"/>
                  </a:lnTo>
                </a:path>
                <a:path w="7048500">
                  <a:moveTo>
                    <a:pt x="4467225" y="0"/>
                  </a:moveTo>
                  <a:lnTo>
                    <a:pt x="4476750" y="0"/>
                  </a:lnTo>
                </a:path>
                <a:path w="7048500">
                  <a:moveTo>
                    <a:pt x="4572000" y="0"/>
                  </a:moveTo>
                  <a:lnTo>
                    <a:pt x="4991100" y="0"/>
                  </a:lnTo>
                </a:path>
                <a:path w="7048500">
                  <a:moveTo>
                    <a:pt x="5086350" y="0"/>
                  </a:moveTo>
                  <a:lnTo>
                    <a:pt x="5095875" y="0"/>
                  </a:lnTo>
                </a:path>
                <a:path w="7048500">
                  <a:moveTo>
                    <a:pt x="5191125" y="0"/>
                  </a:moveTo>
                  <a:lnTo>
                    <a:pt x="5543550" y="0"/>
                  </a:lnTo>
                </a:path>
                <a:path w="7048500">
                  <a:moveTo>
                    <a:pt x="5638800" y="0"/>
                  </a:moveTo>
                  <a:lnTo>
                    <a:pt x="5648325" y="0"/>
                  </a:lnTo>
                </a:path>
                <a:path w="7048500">
                  <a:moveTo>
                    <a:pt x="5743575" y="0"/>
                  </a:moveTo>
                  <a:lnTo>
                    <a:pt x="5886450" y="0"/>
                  </a:lnTo>
                </a:path>
                <a:path w="7048500">
                  <a:moveTo>
                    <a:pt x="5981700" y="0"/>
                  </a:moveTo>
                  <a:lnTo>
                    <a:pt x="5991225" y="0"/>
                  </a:lnTo>
                </a:path>
                <a:path w="7048500">
                  <a:moveTo>
                    <a:pt x="6086475" y="0"/>
                  </a:moveTo>
                  <a:lnTo>
                    <a:pt x="6162675" y="0"/>
                  </a:lnTo>
                </a:path>
                <a:path w="7048500">
                  <a:moveTo>
                    <a:pt x="6257925" y="0"/>
                  </a:moveTo>
                  <a:lnTo>
                    <a:pt x="6267450" y="0"/>
                  </a:lnTo>
                </a:path>
                <a:path w="7048500">
                  <a:moveTo>
                    <a:pt x="6362700" y="0"/>
                  </a:moveTo>
                  <a:lnTo>
                    <a:pt x="6438900" y="0"/>
                  </a:lnTo>
                </a:path>
                <a:path w="7048500">
                  <a:moveTo>
                    <a:pt x="6534150" y="0"/>
                  </a:moveTo>
                  <a:lnTo>
                    <a:pt x="6543675" y="0"/>
                  </a:lnTo>
                </a:path>
                <a:path w="7048500">
                  <a:moveTo>
                    <a:pt x="6638925" y="0"/>
                  </a:moveTo>
                  <a:lnTo>
                    <a:pt x="6715125" y="0"/>
                  </a:lnTo>
                </a:path>
                <a:path w="7048500">
                  <a:moveTo>
                    <a:pt x="681037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97274" y="38397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133350" y="0"/>
                  </a:lnTo>
                </a:path>
                <a:path w="7048500">
                  <a:moveTo>
                    <a:pt x="228600" y="0"/>
                  </a:moveTo>
                  <a:lnTo>
                    <a:pt x="962025" y="0"/>
                  </a:lnTo>
                </a:path>
                <a:path w="7048500">
                  <a:moveTo>
                    <a:pt x="1057275" y="0"/>
                  </a:moveTo>
                  <a:lnTo>
                    <a:pt x="2476500" y="0"/>
                  </a:lnTo>
                </a:path>
                <a:path w="7048500">
                  <a:moveTo>
                    <a:pt x="2571750" y="0"/>
                  </a:moveTo>
                  <a:lnTo>
                    <a:pt x="2752725" y="0"/>
                  </a:lnTo>
                </a:path>
                <a:path w="7048500">
                  <a:moveTo>
                    <a:pt x="2847975" y="0"/>
                  </a:moveTo>
                  <a:lnTo>
                    <a:pt x="3648075" y="0"/>
                  </a:lnTo>
                </a:path>
                <a:path w="7048500">
                  <a:moveTo>
                    <a:pt x="3743325" y="0"/>
                  </a:moveTo>
                  <a:lnTo>
                    <a:pt x="6819900" y="0"/>
                  </a:lnTo>
                </a:path>
                <a:path w="7048500">
                  <a:moveTo>
                    <a:pt x="691515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9727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704850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7274" y="35349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9727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704850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97274" y="3230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457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645774" y="3230156"/>
              <a:ext cx="0" cy="1524000"/>
            </a:xfrm>
            <a:custGeom>
              <a:avLst/>
              <a:gdLst/>
              <a:ahLst/>
              <a:cxnLst/>
              <a:rect l="l" t="t" r="r" b="b"/>
              <a:pathLst>
                <a:path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680699" y="4684306"/>
            <a:ext cx="42290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E9B308"/>
                </a:solidFill>
                <a:latin typeface="Verdana"/>
                <a:cs typeface="Verdana"/>
              </a:rPr>
              <a:t>-</a:t>
            </a:r>
            <a:r>
              <a:rPr sz="650" spc="-10" dirty="0">
                <a:solidFill>
                  <a:srgbClr val="E9B308"/>
                </a:solidFill>
                <a:latin typeface="Verdana"/>
                <a:cs typeface="Verdana"/>
              </a:rPr>
              <a:t>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80699" y="4379506"/>
            <a:ext cx="42290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E9B308"/>
                </a:solidFill>
                <a:latin typeface="Verdana"/>
                <a:cs typeface="Verdana"/>
              </a:rPr>
              <a:t>-</a:t>
            </a:r>
            <a:r>
              <a:rPr sz="650" spc="-10" dirty="0">
                <a:solidFill>
                  <a:srgbClr val="E9B308"/>
                </a:solidFill>
                <a:latin typeface="Verdana"/>
                <a:cs typeface="Verdana"/>
              </a:rPr>
              <a:t>100,000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80699" y="4074705"/>
            <a:ext cx="52324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0FB880"/>
                </a:solidFill>
                <a:latin typeface="Verdana"/>
                <a:cs typeface="Verdana"/>
              </a:rPr>
              <a:t>0</a:t>
            </a:r>
            <a:r>
              <a:rPr sz="650" b="1" spc="15" dirty="0">
                <a:solidFill>
                  <a:srgbClr val="0FB880"/>
                </a:solidFill>
                <a:latin typeface="Verdana"/>
                <a:cs typeface="Verdana"/>
              </a:rPr>
              <a:t> </a:t>
            </a:r>
            <a:r>
              <a:rPr sz="650" b="1" spc="-10" dirty="0">
                <a:solidFill>
                  <a:srgbClr val="0FB880"/>
                </a:solidFill>
                <a:latin typeface="Verdana"/>
                <a:cs typeface="Verdana"/>
              </a:rPr>
              <a:t>(Target)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80699" y="37699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+100,000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80699" y="34651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+200,000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80699" y="3160305"/>
            <a:ext cx="4540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EF4444"/>
                </a:solidFill>
                <a:latin typeface="Verdana"/>
                <a:cs typeface="Verdana"/>
              </a:rPr>
              <a:t>+300,000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303492" y="3228827"/>
            <a:ext cx="141605" cy="1527175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Varianza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de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Gross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dirty="0">
                <a:solidFill>
                  <a:srgbClr val="EF4444"/>
                </a:solidFill>
                <a:latin typeface="Verdana"/>
                <a:cs typeface="Verdana"/>
              </a:rPr>
              <a:t>Profit</a:t>
            </a:r>
            <a:r>
              <a:rPr sz="750" b="1" spc="-20" dirty="0">
                <a:solidFill>
                  <a:srgbClr val="EF444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EF4444"/>
                </a:solidFill>
                <a:latin typeface="Verdana"/>
                <a:cs typeface="Verdana"/>
              </a:rPr>
              <a:t>($)</a:t>
            </a:r>
            <a:endParaRPr sz="750" dirty="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589972" y="3923385"/>
            <a:ext cx="7063105" cy="835660"/>
            <a:chOff x="1589972" y="3923385"/>
            <a:chExt cx="7063105" cy="835660"/>
          </a:xfrm>
        </p:grpSpPr>
        <p:sp>
          <p:nvSpPr>
            <p:cNvPr id="59" name="object 59"/>
            <p:cNvSpPr/>
            <p:nvPr/>
          </p:nvSpPr>
          <p:spPr>
            <a:xfrm>
              <a:off x="1597274" y="4144556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258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25874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783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7832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545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5454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974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974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736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7367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4498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54989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7261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826124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0690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6902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3452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44524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976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9769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2405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4059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180975" y="0"/>
                  </a:lnTo>
                </a:path>
                <a:path w="352425">
                  <a:moveTo>
                    <a:pt x="276225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930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930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0692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69274" y="4144556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6883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88399" y="4144556"/>
              <a:ext cx="352425" cy="0"/>
            </a:xfrm>
            <a:custGeom>
              <a:avLst/>
              <a:gdLst/>
              <a:ahLst/>
              <a:cxnLst/>
              <a:rect l="l" t="t" r="r" b="b"/>
              <a:pathLst>
                <a:path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2408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340849" y="4144556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58373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68374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85996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959974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136187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236199" y="414455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412412" y="413741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287"/>
                  </a:lnTo>
                </a:path>
              </a:pathLst>
            </a:custGeom>
            <a:ln w="9525">
              <a:solidFill>
                <a:srgbClr val="0FB88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512424" y="4144556"/>
              <a:ext cx="133350" cy="0"/>
            </a:xfrm>
            <a:custGeom>
              <a:avLst/>
              <a:gdLst/>
              <a:ahLst/>
              <a:cxnLst/>
              <a:rect l="l" t="t" r="r" b="b"/>
              <a:pathLst>
                <a:path w="133350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ln w="14287">
              <a:solidFill>
                <a:srgbClr val="0FB88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597274" y="4754156"/>
              <a:ext cx="7048500" cy="0"/>
            </a:xfrm>
            <a:custGeom>
              <a:avLst/>
              <a:gdLst/>
              <a:ahLst/>
              <a:cxnLst/>
              <a:rect l="l" t="t" r="r" b="b"/>
              <a:pathLst>
                <a:path w="7048500">
                  <a:moveTo>
                    <a:pt x="0" y="0"/>
                  </a:moveTo>
                  <a:lnTo>
                    <a:pt x="7048500" y="0"/>
                  </a:lnTo>
                </a:path>
              </a:pathLst>
            </a:custGeom>
            <a:ln w="952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625849" y="3928148"/>
              <a:ext cx="95250" cy="826135"/>
            </a:xfrm>
            <a:custGeom>
              <a:avLst/>
              <a:gdLst/>
              <a:ahLst/>
              <a:cxnLst/>
              <a:rect l="l" t="t" r="r" b="b"/>
              <a:pathLst>
                <a:path w="95250" h="826135">
                  <a:moveTo>
                    <a:pt x="95249" y="826008"/>
                  </a:moveTo>
                  <a:lnTo>
                    <a:pt x="0" y="826008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82600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625849" y="3928148"/>
              <a:ext cx="95250" cy="826135"/>
            </a:xfrm>
            <a:custGeom>
              <a:avLst/>
              <a:gdLst/>
              <a:ahLst/>
              <a:cxnLst/>
              <a:rect l="l" t="t" r="r" b="b"/>
              <a:pathLst>
                <a:path w="95250" h="826135">
                  <a:moveTo>
                    <a:pt x="0" y="0"/>
                  </a:moveTo>
                  <a:lnTo>
                    <a:pt x="95249" y="0"/>
                  </a:lnTo>
                  <a:lnTo>
                    <a:pt x="95249" y="826008"/>
                  </a:lnTo>
                  <a:lnTo>
                    <a:pt x="0" y="82600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983518" y="5312956"/>
            <a:ext cx="38989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Ene</a:t>
            </a:r>
            <a:r>
              <a:rPr sz="750" b="1" spc="-2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64136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639831" y="382972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1725862" y="3801762"/>
            <a:ext cx="104775" cy="957580"/>
            <a:chOff x="1725862" y="3801762"/>
            <a:chExt cx="104775" cy="957580"/>
          </a:xfrm>
        </p:grpSpPr>
        <p:sp>
          <p:nvSpPr>
            <p:cNvPr id="105" name="object 105"/>
            <p:cNvSpPr/>
            <p:nvPr/>
          </p:nvSpPr>
          <p:spPr>
            <a:xfrm>
              <a:off x="1730624" y="4280344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95249" y="473815"/>
                  </a:moveTo>
                  <a:lnTo>
                    <a:pt x="0" y="473815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473815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730624" y="4280344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0" y="0"/>
                  </a:moveTo>
                  <a:lnTo>
                    <a:pt x="95249" y="0"/>
                  </a:lnTo>
                  <a:lnTo>
                    <a:pt x="95249" y="473815"/>
                  </a:lnTo>
                  <a:lnTo>
                    <a:pt x="0" y="4738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730624" y="3806525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95249" y="473815"/>
                  </a:moveTo>
                  <a:lnTo>
                    <a:pt x="0" y="473815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47381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730624" y="3806525"/>
              <a:ext cx="95250" cy="474345"/>
            </a:xfrm>
            <a:custGeom>
              <a:avLst/>
              <a:gdLst/>
              <a:ahLst/>
              <a:cxnLst/>
              <a:rect l="l" t="t" r="r" b="b"/>
              <a:pathLst>
                <a:path w="95250" h="474345">
                  <a:moveTo>
                    <a:pt x="0" y="0"/>
                  </a:moveTo>
                  <a:lnTo>
                    <a:pt x="95249" y="0"/>
                  </a:lnTo>
                  <a:lnTo>
                    <a:pt x="95249" y="473815"/>
                  </a:lnTo>
                  <a:lnTo>
                    <a:pt x="0" y="4738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1743197" y="3708100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91759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1897312" y="4180941"/>
            <a:ext cx="104775" cy="578485"/>
            <a:chOff x="1897312" y="4180941"/>
            <a:chExt cx="104775" cy="578485"/>
          </a:xfrm>
        </p:grpSpPr>
        <p:sp>
          <p:nvSpPr>
            <p:cNvPr id="112" name="object 112"/>
            <p:cNvSpPr/>
            <p:nvPr/>
          </p:nvSpPr>
          <p:spPr>
            <a:xfrm>
              <a:off x="1902074" y="4185704"/>
              <a:ext cx="95250" cy="568960"/>
            </a:xfrm>
            <a:custGeom>
              <a:avLst/>
              <a:gdLst/>
              <a:ahLst/>
              <a:cxnLst/>
              <a:rect l="l" t="t" r="r" b="b"/>
              <a:pathLst>
                <a:path w="95250" h="568960">
                  <a:moveTo>
                    <a:pt x="95249" y="568451"/>
                  </a:moveTo>
                  <a:lnTo>
                    <a:pt x="0" y="568451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56845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902074" y="4185704"/>
              <a:ext cx="95250" cy="568960"/>
            </a:xfrm>
            <a:custGeom>
              <a:avLst/>
              <a:gdLst/>
              <a:ahLst/>
              <a:cxnLst/>
              <a:rect l="l" t="t" r="r" b="b"/>
              <a:pathLst>
                <a:path w="95250" h="568960">
                  <a:moveTo>
                    <a:pt x="0" y="0"/>
                  </a:moveTo>
                  <a:lnTo>
                    <a:pt x="95249" y="0"/>
                  </a:lnTo>
                  <a:lnTo>
                    <a:pt x="95249" y="568451"/>
                  </a:lnTo>
                  <a:lnTo>
                    <a:pt x="0" y="56845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1916056" y="4087279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2002087" y="4207516"/>
            <a:ext cx="104775" cy="551815"/>
            <a:chOff x="2002087" y="4207516"/>
            <a:chExt cx="104775" cy="551815"/>
          </a:xfrm>
        </p:grpSpPr>
        <p:sp>
          <p:nvSpPr>
            <p:cNvPr id="116" name="object 116"/>
            <p:cNvSpPr/>
            <p:nvPr/>
          </p:nvSpPr>
          <p:spPr>
            <a:xfrm>
              <a:off x="2006849" y="4483217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95249" y="270940"/>
                  </a:moveTo>
                  <a:lnTo>
                    <a:pt x="0" y="27094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709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006849" y="4483217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0" y="0"/>
                  </a:moveTo>
                  <a:lnTo>
                    <a:pt x="95249" y="0"/>
                  </a:lnTo>
                  <a:lnTo>
                    <a:pt x="95249" y="270940"/>
                  </a:lnTo>
                  <a:lnTo>
                    <a:pt x="0" y="270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006849" y="4212278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95249" y="270940"/>
                  </a:moveTo>
                  <a:lnTo>
                    <a:pt x="0" y="27094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709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006849" y="4212278"/>
              <a:ext cx="95250" cy="271145"/>
            </a:xfrm>
            <a:custGeom>
              <a:avLst/>
              <a:gdLst/>
              <a:ahLst/>
              <a:cxnLst/>
              <a:rect l="l" t="t" r="r" b="b"/>
              <a:pathLst>
                <a:path w="95250" h="271145">
                  <a:moveTo>
                    <a:pt x="0" y="0"/>
                  </a:moveTo>
                  <a:lnTo>
                    <a:pt x="95249" y="0"/>
                  </a:lnTo>
                  <a:lnTo>
                    <a:pt x="95249" y="270940"/>
                  </a:lnTo>
                  <a:lnTo>
                    <a:pt x="0" y="270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2019422" y="4113853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19381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2173537" y="4078833"/>
            <a:ext cx="104775" cy="680085"/>
            <a:chOff x="2173537" y="4078833"/>
            <a:chExt cx="104775" cy="680085"/>
          </a:xfrm>
        </p:grpSpPr>
        <p:sp>
          <p:nvSpPr>
            <p:cNvPr id="123" name="object 123"/>
            <p:cNvSpPr/>
            <p:nvPr/>
          </p:nvSpPr>
          <p:spPr>
            <a:xfrm>
              <a:off x="2178299" y="4083596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95249" y="670560"/>
                  </a:moveTo>
                  <a:lnTo>
                    <a:pt x="0" y="670560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6705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178299" y="4083596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0" y="0"/>
                  </a:moveTo>
                  <a:lnTo>
                    <a:pt x="95249" y="0"/>
                  </a:lnTo>
                  <a:lnTo>
                    <a:pt x="95249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2192281" y="3985171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278312" y="3949344"/>
            <a:ext cx="104775" cy="809625"/>
            <a:chOff x="2278312" y="3949344"/>
            <a:chExt cx="104775" cy="809625"/>
          </a:xfrm>
        </p:grpSpPr>
        <p:sp>
          <p:nvSpPr>
            <p:cNvPr id="127" name="object 127"/>
            <p:cNvSpPr/>
            <p:nvPr/>
          </p:nvSpPr>
          <p:spPr>
            <a:xfrm>
              <a:off x="2283074" y="4487475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283074" y="4487475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283074" y="4220794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283074" y="4220794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283074" y="3954107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95249" y="266682"/>
                  </a:moveTo>
                  <a:lnTo>
                    <a:pt x="0" y="26668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26668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283074" y="3954107"/>
              <a:ext cx="95250" cy="266700"/>
            </a:xfrm>
            <a:custGeom>
              <a:avLst/>
              <a:gdLst/>
              <a:ahLst/>
              <a:cxnLst/>
              <a:rect l="l" t="t" r="r" b="b"/>
              <a:pathLst>
                <a:path w="95250" h="266700">
                  <a:moveTo>
                    <a:pt x="0" y="0"/>
                  </a:moveTo>
                  <a:lnTo>
                    <a:pt x="95249" y="0"/>
                  </a:lnTo>
                  <a:lnTo>
                    <a:pt x="95249" y="266682"/>
                  </a:lnTo>
                  <a:lnTo>
                    <a:pt x="0" y="26668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2295647" y="3855682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470041" y="4817655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2449762" y="3857853"/>
            <a:ext cx="104775" cy="901065"/>
            <a:chOff x="2449762" y="3857853"/>
            <a:chExt cx="104775" cy="901065"/>
          </a:xfrm>
        </p:grpSpPr>
        <p:sp>
          <p:nvSpPr>
            <p:cNvPr id="136" name="object 136"/>
            <p:cNvSpPr/>
            <p:nvPr/>
          </p:nvSpPr>
          <p:spPr>
            <a:xfrm>
              <a:off x="2454524" y="3862616"/>
              <a:ext cx="95250" cy="891540"/>
            </a:xfrm>
            <a:custGeom>
              <a:avLst/>
              <a:gdLst/>
              <a:ahLst/>
              <a:cxnLst/>
              <a:rect l="l" t="t" r="r" b="b"/>
              <a:pathLst>
                <a:path w="95250" h="891539">
                  <a:moveTo>
                    <a:pt x="95249" y="891539"/>
                  </a:moveTo>
                  <a:lnTo>
                    <a:pt x="0" y="891539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8915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454524" y="3862616"/>
              <a:ext cx="95250" cy="891540"/>
            </a:xfrm>
            <a:custGeom>
              <a:avLst/>
              <a:gdLst/>
              <a:ahLst/>
              <a:cxnLst/>
              <a:rect l="l" t="t" r="r" b="b"/>
              <a:pathLst>
                <a:path w="95250" h="891539">
                  <a:moveTo>
                    <a:pt x="0" y="0"/>
                  </a:moveTo>
                  <a:lnTo>
                    <a:pt x="95249" y="0"/>
                  </a:lnTo>
                  <a:lnTo>
                    <a:pt x="95249" y="891539"/>
                  </a:lnTo>
                  <a:lnTo>
                    <a:pt x="0" y="8915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2468506" y="3764191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2554537" y="3725552"/>
            <a:ext cx="104775" cy="1033780"/>
            <a:chOff x="2554537" y="3725552"/>
            <a:chExt cx="104775" cy="1033780"/>
          </a:xfrm>
        </p:grpSpPr>
        <p:sp>
          <p:nvSpPr>
            <p:cNvPr id="140" name="object 140"/>
            <p:cNvSpPr/>
            <p:nvPr/>
          </p:nvSpPr>
          <p:spPr>
            <a:xfrm>
              <a:off x="2559299" y="3730314"/>
              <a:ext cx="95250" cy="1024255"/>
            </a:xfrm>
            <a:custGeom>
              <a:avLst/>
              <a:gdLst/>
              <a:ahLst/>
              <a:cxnLst/>
              <a:rect l="l" t="t" r="r" b="b"/>
              <a:pathLst>
                <a:path w="95250" h="1024254">
                  <a:moveTo>
                    <a:pt x="95249" y="1023842"/>
                  </a:moveTo>
                  <a:lnTo>
                    <a:pt x="0" y="1023842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102384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559299" y="3730314"/>
              <a:ext cx="95250" cy="1024255"/>
            </a:xfrm>
            <a:custGeom>
              <a:avLst/>
              <a:gdLst/>
              <a:ahLst/>
              <a:cxnLst/>
              <a:rect l="l" t="t" r="r" b="b"/>
              <a:pathLst>
                <a:path w="95250" h="1024254">
                  <a:moveTo>
                    <a:pt x="0" y="0"/>
                  </a:moveTo>
                  <a:lnTo>
                    <a:pt x="95249" y="0"/>
                  </a:lnTo>
                  <a:lnTo>
                    <a:pt x="95249" y="1023842"/>
                  </a:lnTo>
                  <a:lnTo>
                    <a:pt x="0" y="10238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2571872" y="3631889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157278" y="5312956"/>
            <a:ext cx="38544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Feb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81294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2792662" y="3949293"/>
            <a:ext cx="209550" cy="809625"/>
            <a:chOff x="2792662" y="3949293"/>
            <a:chExt cx="209550" cy="809625"/>
          </a:xfrm>
        </p:grpSpPr>
        <p:sp>
          <p:nvSpPr>
            <p:cNvPr id="146" name="object 146"/>
            <p:cNvSpPr/>
            <p:nvPr/>
          </p:nvSpPr>
          <p:spPr>
            <a:xfrm>
              <a:off x="2797424" y="3954055"/>
              <a:ext cx="95250" cy="800100"/>
            </a:xfrm>
            <a:custGeom>
              <a:avLst/>
              <a:gdLst/>
              <a:ahLst/>
              <a:cxnLst/>
              <a:rect l="l" t="t" r="r" b="b"/>
              <a:pathLst>
                <a:path w="95250" h="800100">
                  <a:moveTo>
                    <a:pt x="95250" y="800100"/>
                  </a:moveTo>
                  <a:lnTo>
                    <a:pt x="0" y="80010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0010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797424" y="3954055"/>
              <a:ext cx="95250" cy="800100"/>
            </a:xfrm>
            <a:custGeom>
              <a:avLst/>
              <a:gdLst/>
              <a:ahLst/>
              <a:cxnLst/>
              <a:rect l="l" t="t" r="r" b="b"/>
              <a:pathLst>
                <a:path w="95250" h="800100">
                  <a:moveTo>
                    <a:pt x="0" y="0"/>
                  </a:moveTo>
                  <a:lnTo>
                    <a:pt x="95250" y="0"/>
                  </a:lnTo>
                  <a:lnTo>
                    <a:pt x="952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902199" y="4354629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95250" y="399522"/>
                  </a:moveTo>
                  <a:lnTo>
                    <a:pt x="0" y="3995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99522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902199" y="4354629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0"/>
                  </a:lnTo>
                  <a:lnTo>
                    <a:pt x="95250" y="399522"/>
                  </a:lnTo>
                  <a:lnTo>
                    <a:pt x="0" y="3995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902199" y="3955112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95250" y="399522"/>
                  </a:moveTo>
                  <a:lnTo>
                    <a:pt x="0" y="3995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9952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902199" y="3955112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0"/>
                  </a:lnTo>
                  <a:lnTo>
                    <a:pt x="95250" y="399522"/>
                  </a:lnTo>
                  <a:lnTo>
                    <a:pt x="0" y="3995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2811406" y="3856687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08916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3068887" y="3842613"/>
            <a:ext cx="209550" cy="916305"/>
            <a:chOff x="3068887" y="3842613"/>
            <a:chExt cx="209550" cy="916305"/>
          </a:xfrm>
        </p:grpSpPr>
        <p:sp>
          <p:nvSpPr>
            <p:cNvPr id="155" name="object 155"/>
            <p:cNvSpPr/>
            <p:nvPr/>
          </p:nvSpPr>
          <p:spPr>
            <a:xfrm>
              <a:off x="3073649" y="3847376"/>
              <a:ext cx="95250" cy="906780"/>
            </a:xfrm>
            <a:custGeom>
              <a:avLst/>
              <a:gdLst/>
              <a:ahLst/>
              <a:cxnLst/>
              <a:rect l="l" t="t" r="r" b="b"/>
              <a:pathLst>
                <a:path w="95250" h="906779">
                  <a:moveTo>
                    <a:pt x="95250" y="906780"/>
                  </a:moveTo>
                  <a:lnTo>
                    <a:pt x="0" y="90678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90678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073649" y="3847376"/>
              <a:ext cx="95250" cy="906780"/>
            </a:xfrm>
            <a:custGeom>
              <a:avLst/>
              <a:gdLst/>
              <a:ahLst/>
              <a:cxnLst/>
              <a:rect l="l" t="t" r="r" b="b"/>
              <a:pathLst>
                <a:path w="95250" h="906779">
                  <a:moveTo>
                    <a:pt x="0" y="0"/>
                  </a:moveTo>
                  <a:lnTo>
                    <a:pt x="95250" y="0"/>
                  </a:lnTo>
                  <a:lnTo>
                    <a:pt x="95250" y="906780"/>
                  </a:lnTo>
                  <a:lnTo>
                    <a:pt x="0" y="9067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178424" y="3872418"/>
              <a:ext cx="95250" cy="882015"/>
            </a:xfrm>
            <a:custGeom>
              <a:avLst/>
              <a:gdLst/>
              <a:ahLst/>
              <a:cxnLst/>
              <a:rect l="l" t="t" r="r" b="b"/>
              <a:pathLst>
                <a:path w="95250" h="882014">
                  <a:moveTo>
                    <a:pt x="95250" y="881737"/>
                  </a:moveTo>
                  <a:lnTo>
                    <a:pt x="0" y="88173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173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178424" y="3872418"/>
              <a:ext cx="95250" cy="882015"/>
            </a:xfrm>
            <a:custGeom>
              <a:avLst/>
              <a:gdLst/>
              <a:ahLst/>
              <a:cxnLst/>
              <a:rect l="l" t="t" r="r" b="b"/>
              <a:pathLst>
                <a:path w="95250" h="882014">
                  <a:moveTo>
                    <a:pt x="0" y="0"/>
                  </a:moveTo>
                  <a:lnTo>
                    <a:pt x="95250" y="0"/>
                  </a:lnTo>
                  <a:lnTo>
                    <a:pt x="95250" y="881737"/>
                  </a:lnTo>
                  <a:lnTo>
                    <a:pt x="0" y="88173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3062231" y="3748951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-24691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-24691">
              <a:latin typeface="Verdana"/>
              <a:cs typeface="Verdana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36539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3345112" y="4030065"/>
            <a:ext cx="104775" cy="728980"/>
            <a:chOff x="3345112" y="4030065"/>
            <a:chExt cx="104775" cy="728980"/>
          </a:xfrm>
        </p:grpSpPr>
        <p:sp>
          <p:nvSpPr>
            <p:cNvPr id="162" name="object 162"/>
            <p:cNvSpPr/>
            <p:nvPr/>
          </p:nvSpPr>
          <p:spPr>
            <a:xfrm>
              <a:off x="3349874" y="4034828"/>
              <a:ext cx="95250" cy="719455"/>
            </a:xfrm>
            <a:custGeom>
              <a:avLst/>
              <a:gdLst/>
              <a:ahLst/>
              <a:cxnLst/>
              <a:rect l="l" t="t" r="r" b="b"/>
              <a:pathLst>
                <a:path w="95250" h="719454">
                  <a:moveTo>
                    <a:pt x="95250" y="719327"/>
                  </a:moveTo>
                  <a:lnTo>
                    <a:pt x="0" y="71932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19327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349874" y="4034828"/>
              <a:ext cx="95250" cy="719455"/>
            </a:xfrm>
            <a:custGeom>
              <a:avLst/>
              <a:gdLst/>
              <a:ahLst/>
              <a:cxnLst/>
              <a:rect l="l" t="t" r="r" b="b"/>
              <a:pathLst>
                <a:path w="95250" h="719454">
                  <a:moveTo>
                    <a:pt x="0" y="0"/>
                  </a:moveTo>
                  <a:lnTo>
                    <a:pt x="95250" y="0"/>
                  </a:lnTo>
                  <a:lnTo>
                    <a:pt x="95250" y="719327"/>
                  </a:lnTo>
                  <a:lnTo>
                    <a:pt x="0" y="7193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3363857" y="393640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3449887" y="3978717"/>
            <a:ext cx="104775" cy="780415"/>
            <a:chOff x="3449887" y="3978717"/>
            <a:chExt cx="104775" cy="780415"/>
          </a:xfrm>
        </p:grpSpPr>
        <p:sp>
          <p:nvSpPr>
            <p:cNvPr id="166" name="object 166"/>
            <p:cNvSpPr/>
            <p:nvPr/>
          </p:nvSpPr>
          <p:spPr>
            <a:xfrm>
              <a:off x="3454649" y="4497266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454649" y="4497266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454649" y="4240368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454649" y="4240368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454649" y="3983479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95250" y="256892"/>
                  </a:moveTo>
                  <a:lnTo>
                    <a:pt x="0" y="25689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5689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454649" y="3983479"/>
              <a:ext cx="95250" cy="257175"/>
            </a:xfrm>
            <a:custGeom>
              <a:avLst/>
              <a:gdLst/>
              <a:ahLst/>
              <a:cxnLst/>
              <a:rect l="l" t="t" r="r" b="b"/>
              <a:pathLst>
                <a:path w="95250" h="257175">
                  <a:moveTo>
                    <a:pt x="0" y="0"/>
                  </a:moveTo>
                  <a:lnTo>
                    <a:pt x="95250" y="0"/>
                  </a:lnTo>
                  <a:lnTo>
                    <a:pt x="95250" y="256892"/>
                  </a:lnTo>
                  <a:lnTo>
                    <a:pt x="0" y="25689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3467222" y="3885054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364161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3621337" y="3895953"/>
            <a:ext cx="209550" cy="862965"/>
            <a:chOff x="3621337" y="3895953"/>
            <a:chExt cx="209550" cy="862965"/>
          </a:xfrm>
        </p:grpSpPr>
        <p:sp>
          <p:nvSpPr>
            <p:cNvPr id="175" name="object 175"/>
            <p:cNvSpPr/>
            <p:nvPr/>
          </p:nvSpPr>
          <p:spPr>
            <a:xfrm>
              <a:off x="3626099" y="3900716"/>
              <a:ext cx="95250" cy="853440"/>
            </a:xfrm>
            <a:custGeom>
              <a:avLst/>
              <a:gdLst/>
              <a:ahLst/>
              <a:cxnLst/>
              <a:rect l="l" t="t" r="r" b="b"/>
              <a:pathLst>
                <a:path w="95250" h="853439">
                  <a:moveTo>
                    <a:pt x="95250" y="853439"/>
                  </a:moveTo>
                  <a:lnTo>
                    <a:pt x="0" y="85343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53439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626099" y="3900716"/>
              <a:ext cx="95250" cy="853440"/>
            </a:xfrm>
            <a:custGeom>
              <a:avLst/>
              <a:gdLst/>
              <a:ahLst/>
              <a:cxnLst/>
              <a:rect l="l" t="t" r="r" b="b"/>
              <a:pathLst>
                <a:path w="95250" h="853439">
                  <a:moveTo>
                    <a:pt x="0" y="0"/>
                  </a:moveTo>
                  <a:lnTo>
                    <a:pt x="95250" y="0"/>
                  </a:lnTo>
                  <a:lnTo>
                    <a:pt x="95250" y="853439"/>
                  </a:lnTo>
                  <a:lnTo>
                    <a:pt x="0" y="8534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730874" y="3920094"/>
              <a:ext cx="95250" cy="834390"/>
            </a:xfrm>
            <a:custGeom>
              <a:avLst/>
              <a:gdLst/>
              <a:ahLst/>
              <a:cxnLst/>
              <a:rect l="l" t="t" r="r" b="b"/>
              <a:pathLst>
                <a:path w="95250" h="834389">
                  <a:moveTo>
                    <a:pt x="95250" y="834061"/>
                  </a:moveTo>
                  <a:lnTo>
                    <a:pt x="0" y="83406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3406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30874" y="3920094"/>
              <a:ext cx="95250" cy="834390"/>
            </a:xfrm>
            <a:custGeom>
              <a:avLst/>
              <a:gdLst/>
              <a:ahLst/>
              <a:cxnLst/>
              <a:rect l="l" t="t" r="r" b="b"/>
              <a:pathLst>
                <a:path w="95250" h="834389">
                  <a:moveTo>
                    <a:pt x="0" y="0"/>
                  </a:moveTo>
                  <a:lnTo>
                    <a:pt x="95250" y="0"/>
                  </a:lnTo>
                  <a:lnTo>
                    <a:pt x="95250" y="834061"/>
                  </a:lnTo>
                  <a:lnTo>
                    <a:pt x="0" y="83406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179"/>
          <p:cNvSpPr txBox="1"/>
          <p:nvPr/>
        </p:nvSpPr>
        <p:spPr>
          <a:xfrm>
            <a:off x="3614682" y="3802291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-18518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-18518">
              <a:latin typeface="Verdana"/>
              <a:cs typeface="Verdana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4324133" y="5312956"/>
            <a:ext cx="3949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398451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3964237" y="3946245"/>
            <a:ext cx="104775" cy="812800"/>
            <a:chOff x="3964237" y="3946245"/>
            <a:chExt cx="104775" cy="812800"/>
          </a:xfrm>
        </p:grpSpPr>
        <p:sp>
          <p:nvSpPr>
            <p:cNvPr id="183" name="object 183"/>
            <p:cNvSpPr/>
            <p:nvPr/>
          </p:nvSpPr>
          <p:spPr>
            <a:xfrm>
              <a:off x="3968999" y="3951008"/>
              <a:ext cx="95250" cy="803275"/>
            </a:xfrm>
            <a:custGeom>
              <a:avLst/>
              <a:gdLst/>
              <a:ahLst/>
              <a:cxnLst/>
              <a:rect l="l" t="t" r="r" b="b"/>
              <a:pathLst>
                <a:path w="95250" h="803275">
                  <a:moveTo>
                    <a:pt x="95250" y="803148"/>
                  </a:moveTo>
                  <a:lnTo>
                    <a:pt x="0" y="80314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0314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968999" y="3951008"/>
              <a:ext cx="95250" cy="803275"/>
            </a:xfrm>
            <a:custGeom>
              <a:avLst/>
              <a:gdLst/>
              <a:ahLst/>
              <a:cxnLst/>
              <a:rect l="l" t="t" r="r" b="b"/>
              <a:pathLst>
                <a:path w="95250" h="803275">
                  <a:moveTo>
                    <a:pt x="0" y="0"/>
                  </a:moveTo>
                  <a:lnTo>
                    <a:pt x="95250" y="0"/>
                  </a:lnTo>
                  <a:lnTo>
                    <a:pt x="95250" y="803148"/>
                  </a:lnTo>
                  <a:lnTo>
                    <a:pt x="0" y="80314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3982982" y="385258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4069012" y="3827171"/>
            <a:ext cx="104775" cy="932180"/>
            <a:chOff x="4069012" y="3827171"/>
            <a:chExt cx="104775" cy="932180"/>
          </a:xfrm>
        </p:grpSpPr>
        <p:sp>
          <p:nvSpPr>
            <p:cNvPr id="187" name="object 187"/>
            <p:cNvSpPr/>
            <p:nvPr/>
          </p:nvSpPr>
          <p:spPr>
            <a:xfrm>
              <a:off x="4073774" y="3831934"/>
              <a:ext cx="95250" cy="922655"/>
            </a:xfrm>
            <a:custGeom>
              <a:avLst/>
              <a:gdLst/>
              <a:ahLst/>
              <a:cxnLst/>
              <a:rect l="l" t="t" r="r" b="b"/>
              <a:pathLst>
                <a:path w="95250" h="922654">
                  <a:moveTo>
                    <a:pt x="95250" y="922221"/>
                  </a:moveTo>
                  <a:lnTo>
                    <a:pt x="0" y="92222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92222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73774" y="3831934"/>
              <a:ext cx="95250" cy="922655"/>
            </a:xfrm>
            <a:custGeom>
              <a:avLst/>
              <a:gdLst/>
              <a:ahLst/>
              <a:cxnLst/>
              <a:rect l="l" t="t" r="r" b="b"/>
              <a:pathLst>
                <a:path w="95250" h="922654">
                  <a:moveTo>
                    <a:pt x="0" y="0"/>
                  </a:moveTo>
                  <a:lnTo>
                    <a:pt x="95250" y="0"/>
                  </a:lnTo>
                  <a:lnTo>
                    <a:pt x="95250" y="922221"/>
                  </a:lnTo>
                  <a:lnTo>
                    <a:pt x="0" y="92222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189"/>
          <p:cNvSpPr txBox="1"/>
          <p:nvPr/>
        </p:nvSpPr>
        <p:spPr>
          <a:xfrm>
            <a:off x="4086347" y="3733509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426074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4240462" y="3871569"/>
            <a:ext cx="104775" cy="887730"/>
            <a:chOff x="4240462" y="3871569"/>
            <a:chExt cx="104775" cy="887730"/>
          </a:xfrm>
        </p:grpSpPr>
        <p:sp>
          <p:nvSpPr>
            <p:cNvPr id="192" name="object 192"/>
            <p:cNvSpPr/>
            <p:nvPr/>
          </p:nvSpPr>
          <p:spPr>
            <a:xfrm>
              <a:off x="4245224" y="3876331"/>
              <a:ext cx="95250" cy="878205"/>
            </a:xfrm>
            <a:custGeom>
              <a:avLst/>
              <a:gdLst/>
              <a:ahLst/>
              <a:cxnLst/>
              <a:rect l="l" t="t" r="r" b="b"/>
              <a:pathLst>
                <a:path w="95250" h="878204">
                  <a:moveTo>
                    <a:pt x="95250" y="877824"/>
                  </a:moveTo>
                  <a:lnTo>
                    <a:pt x="0" y="8778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78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245224" y="3876331"/>
              <a:ext cx="95250" cy="878205"/>
            </a:xfrm>
            <a:custGeom>
              <a:avLst/>
              <a:gdLst/>
              <a:ahLst/>
              <a:cxnLst/>
              <a:rect l="l" t="t" r="r" b="b"/>
              <a:pathLst>
                <a:path w="95250" h="878204">
                  <a:moveTo>
                    <a:pt x="0" y="0"/>
                  </a:moveTo>
                  <a:lnTo>
                    <a:pt x="95250" y="0"/>
                  </a:lnTo>
                  <a:lnTo>
                    <a:pt x="9525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4259207" y="3777906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4345237" y="3683181"/>
            <a:ext cx="104775" cy="1076325"/>
            <a:chOff x="4345237" y="3683181"/>
            <a:chExt cx="104775" cy="1076325"/>
          </a:xfrm>
        </p:grpSpPr>
        <p:sp>
          <p:nvSpPr>
            <p:cNvPr id="196" name="object 196"/>
            <p:cNvSpPr/>
            <p:nvPr/>
          </p:nvSpPr>
          <p:spPr>
            <a:xfrm>
              <a:off x="4349999" y="4221051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95250" y="533106"/>
                  </a:moveTo>
                  <a:lnTo>
                    <a:pt x="0" y="53310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53310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349999" y="4221051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0" y="0"/>
                  </a:moveTo>
                  <a:lnTo>
                    <a:pt x="95250" y="0"/>
                  </a:lnTo>
                  <a:lnTo>
                    <a:pt x="95250" y="533106"/>
                  </a:lnTo>
                  <a:lnTo>
                    <a:pt x="0" y="53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4349999" y="3687943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95250" y="533106"/>
                  </a:moveTo>
                  <a:lnTo>
                    <a:pt x="0" y="53310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533106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349999" y="3687943"/>
              <a:ext cx="95250" cy="533400"/>
            </a:xfrm>
            <a:custGeom>
              <a:avLst/>
              <a:gdLst/>
              <a:ahLst/>
              <a:cxnLst/>
              <a:rect l="l" t="t" r="r" b="b"/>
              <a:pathLst>
                <a:path w="95250" h="533400">
                  <a:moveTo>
                    <a:pt x="0" y="0"/>
                  </a:moveTo>
                  <a:lnTo>
                    <a:pt x="95250" y="0"/>
                  </a:lnTo>
                  <a:lnTo>
                    <a:pt x="95250" y="533106"/>
                  </a:lnTo>
                  <a:lnTo>
                    <a:pt x="0" y="53310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4362572" y="358951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453696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4516687" y="4251893"/>
            <a:ext cx="209550" cy="507365"/>
            <a:chOff x="4516687" y="4251893"/>
            <a:chExt cx="209550" cy="507365"/>
          </a:xfrm>
        </p:grpSpPr>
        <p:sp>
          <p:nvSpPr>
            <p:cNvPr id="203" name="object 203"/>
            <p:cNvSpPr/>
            <p:nvPr/>
          </p:nvSpPr>
          <p:spPr>
            <a:xfrm>
              <a:off x="4521449" y="4257331"/>
              <a:ext cx="95250" cy="497205"/>
            </a:xfrm>
            <a:custGeom>
              <a:avLst/>
              <a:gdLst/>
              <a:ahLst/>
              <a:cxnLst/>
              <a:rect l="l" t="t" r="r" b="b"/>
              <a:pathLst>
                <a:path w="95250" h="497204">
                  <a:moveTo>
                    <a:pt x="95250" y="496824"/>
                  </a:moveTo>
                  <a:lnTo>
                    <a:pt x="0" y="4968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968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4521449" y="4257331"/>
              <a:ext cx="95250" cy="497205"/>
            </a:xfrm>
            <a:custGeom>
              <a:avLst/>
              <a:gdLst/>
              <a:ahLst/>
              <a:cxnLst/>
              <a:rect l="l" t="t" r="r" b="b"/>
              <a:pathLst>
                <a:path w="95250" h="497204">
                  <a:moveTo>
                    <a:pt x="0" y="0"/>
                  </a:moveTo>
                  <a:lnTo>
                    <a:pt x="95250" y="0"/>
                  </a:lnTo>
                  <a:lnTo>
                    <a:pt x="95250" y="496824"/>
                  </a:lnTo>
                  <a:lnTo>
                    <a:pt x="0" y="4968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4626224" y="458832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626224" y="458832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4626224" y="442248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4626224" y="442248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4626224" y="425665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95250" y="165834"/>
                  </a:moveTo>
                  <a:lnTo>
                    <a:pt x="0" y="1658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65834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4626224" y="4256655"/>
              <a:ext cx="95250" cy="166370"/>
            </a:xfrm>
            <a:custGeom>
              <a:avLst/>
              <a:gdLst/>
              <a:ahLst/>
              <a:cxnLst/>
              <a:rect l="l" t="t" r="r" b="b"/>
              <a:pathLst>
                <a:path w="95250" h="166370">
                  <a:moveTo>
                    <a:pt x="0" y="0"/>
                  </a:moveTo>
                  <a:lnTo>
                    <a:pt x="95250" y="0"/>
                  </a:lnTo>
                  <a:lnTo>
                    <a:pt x="95250" y="165834"/>
                  </a:lnTo>
                  <a:lnTo>
                    <a:pt x="0" y="1658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1" name="object 211"/>
          <p:cNvSpPr txBox="1"/>
          <p:nvPr/>
        </p:nvSpPr>
        <p:spPr>
          <a:xfrm>
            <a:off x="4535432" y="4158906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4813191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4792912" y="3966057"/>
            <a:ext cx="104775" cy="793115"/>
            <a:chOff x="4792912" y="3966057"/>
            <a:chExt cx="104775" cy="793115"/>
          </a:xfrm>
        </p:grpSpPr>
        <p:sp>
          <p:nvSpPr>
            <p:cNvPr id="214" name="object 214"/>
            <p:cNvSpPr/>
            <p:nvPr/>
          </p:nvSpPr>
          <p:spPr>
            <a:xfrm>
              <a:off x="4797674" y="3970820"/>
              <a:ext cx="95250" cy="783590"/>
            </a:xfrm>
            <a:custGeom>
              <a:avLst/>
              <a:gdLst/>
              <a:ahLst/>
              <a:cxnLst/>
              <a:rect l="l" t="t" r="r" b="b"/>
              <a:pathLst>
                <a:path w="95250" h="783589">
                  <a:moveTo>
                    <a:pt x="95250" y="783336"/>
                  </a:moveTo>
                  <a:lnTo>
                    <a:pt x="0" y="78333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8333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797674" y="3970820"/>
              <a:ext cx="95250" cy="783590"/>
            </a:xfrm>
            <a:custGeom>
              <a:avLst/>
              <a:gdLst/>
              <a:ahLst/>
              <a:cxnLst/>
              <a:rect l="l" t="t" r="r" b="b"/>
              <a:pathLst>
                <a:path w="95250" h="783589">
                  <a:moveTo>
                    <a:pt x="0" y="0"/>
                  </a:moveTo>
                  <a:lnTo>
                    <a:pt x="95250" y="0"/>
                  </a:lnTo>
                  <a:lnTo>
                    <a:pt x="95250" y="783336"/>
                  </a:lnTo>
                  <a:lnTo>
                    <a:pt x="0" y="7833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6" name="object 216"/>
          <p:cNvSpPr txBox="1"/>
          <p:nvPr/>
        </p:nvSpPr>
        <p:spPr>
          <a:xfrm>
            <a:off x="4811657" y="3872395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4897687" y="3865170"/>
            <a:ext cx="104775" cy="894080"/>
            <a:chOff x="4897687" y="3865170"/>
            <a:chExt cx="104775" cy="894080"/>
          </a:xfrm>
        </p:grpSpPr>
        <p:sp>
          <p:nvSpPr>
            <p:cNvPr id="218" name="object 218"/>
            <p:cNvSpPr/>
            <p:nvPr/>
          </p:nvSpPr>
          <p:spPr>
            <a:xfrm>
              <a:off x="4902449" y="4459414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902449" y="4459414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902449" y="4164672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902449" y="4164672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902449" y="3869933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95250" y="294740"/>
                  </a:moveTo>
                  <a:lnTo>
                    <a:pt x="0" y="2947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947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902449" y="3869933"/>
              <a:ext cx="95250" cy="295275"/>
            </a:xfrm>
            <a:custGeom>
              <a:avLst/>
              <a:gdLst/>
              <a:ahLst/>
              <a:cxnLst/>
              <a:rect l="l" t="t" r="r" b="b"/>
              <a:pathLst>
                <a:path w="95250" h="295275">
                  <a:moveTo>
                    <a:pt x="0" y="0"/>
                  </a:moveTo>
                  <a:lnTo>
                    <a:pt x="95250" y="0"/>
                  </a:lnTo>
                  <a:lnTo>
                    <a:pt x="95250" y="294740"/>
                  </a:lnTo>
                  <a:lnTo>
                    <a:pt x="0" y="2947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4915022" y="377150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5502382" y="5312956"/>
            <a:ext cx="38163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Abr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515609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5135812" y="3870045"/>
            <a:ext cx="104775" cy="889000"/>
            <a:chOff x="5135812" y="3870045"/>
            <a:chExt cx="104775" cy="889000"/>
          </a:xfrm>
        </p:grpSpPr>
        <p:sp>
          <p:nvSpPr>
            <p:cNvPr id="228" name="object 228"/>
            <p:cNvSpPr/>
            <p:nvPr/>
          </p:nvSpPr>
          <p:spPr>
            <a:xfrm>
              <a:off x="5140574" y="3874808"/>
              <a:ext cx="95250" cy="879475"/>
            </a:xfrm>
            <a:custGeom>
              <a:avLst/>
              <a:gdLst/>
              <a:ahLst/>
              <a:cxnLst/>
              <a:rect l="l" t="t" r="r" b="b"/>
              <a:pathLst>
                <a:path w="95250" h="879475">
                  <a:moveTo>
                    <a:pt x="95250" y="879348"/>
                  </a:moveTo>
                  <a:lnTo>
                    <a:pt x="0" y="87934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934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140574" y="3874808"/>
              <a:ext cx="95250" cy="879475"/>
            </a:xfrm>
            <a:custGeom>
              <a:avLst/>
              <a:gdLst/>
              <a:ahLst/>
              <a:cxnLst/>
              <a:rect l="l" t="t" r="r" b="b"/>
              <a:pathLst>
                <a:path w="95250" h="879475">
                  <a:moveTo>
                    <a:pt x="0" y="0"/>
                  </a:moveTo>
                  <a:lnTo>
                    <a:pt x="95250" y="0"/>
                  </a:lnTo>
                  <a:lnTo>
                    <a:pt x="95250" y="879348"/>
                  </a:lnTo>
                  <a:lnTo>
                    <a:pt x="0" y="87934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5154557" y="3776383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5240587" y="3744986"/>
            <a:ext cx="104775" cy="1014094"/>
            <a:chOff x="5240587" y="3744986"/>
            <a:chExt cx="104775" cy="1014094"/>
          </a:xfrm>
        </p:grpSpPr>
        <p:sp>
          <p:nvSpPr>
            <p:cNvPr id="232" name="object 232"/>
            <p:cNvSpPr/>
            <p:nvPr/>
          </p:nvSpPr>
          <p:spPr>
            <a:xfrm>
              <a:off x="5245349" y="3749748"/>
              <a:ext cx="95250" cy="1004569"/>
            </a:xfrm>
            <a:custGeom>
              <a:avLst/>
              <a:gdLst/>
              <a:ahLst/>
              <a:cxnLst/>
              <a:rect l="l" t="t" r="r" b="b"/>
              <a:pathLst>
                <a:path w="95250" h="1004570">
                  <a:moveTo>
                    <a:pt x="95250" y="1004411"/>
                  </a:moveTo>
                  <a:lnTo>
                    <a:pt x="0" y="100441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100441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245349" y="3749748"/>
              <a:ext cx="95250" cy="1004569"/>
            </a:xfrm>
            <a:custGeom>
              <a:avLst/>
              <a:gdLst/>
              <a:ahLst/>
              <a:cxnLst/>
              <a:rect l="l" t="t" r="r" b="b"/>
              <a:pathLst>
                <a:path w="95250" h="1004570">
                  <a:moveTo>
                    <a:pt x="0" y="0"/>
                  </a:moveTo>
                  <a:lnTo>
                    <a:pt x="95250" y="0"/>
                  </a:lnTo>
                  <a:lnTo>
                    <a:pt x="95250" y="1004411"/>
                  </a:lnTo>
                  <a:lnTo>
                    <a:pt x="0" y="1004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" name="object 234"/>
          <p:cNvSpPr txBox="1"/>
          <p:nvPr/>
        </p:nvSpPr>
        <p:spPr>
          <a:xfrm>
            <a:off x="5257922" y="3651323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543231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36" name="object 236"/>
          <p:cNvGrpSpPr/>
          <p:nvPr/>
        </p:nvGrpSpPr>
        <p:grpSpPr>
          <a:xfrm>
            <a:off x="5412037" y="4125572"/>
            <a:ext cx="209550" cy="633730"/>
            <a:chOff x="5412037" y="4125572"/>
            <a:chExt cx="209550" cy="633730"/>
          </a:xfrm>
        </p:grpSpPr>
        <p:sp>
          <p:nvSpPr>
            <p:cNvPr id="237" name="object 237"/>
            <p:cNvSpPr/>
            <p:nvPr/>
          </p:nvSpPr>
          <p:spPr>
            <a:xfrm>
              <a:off x="5416799" y="4147603"/>
              <a:ext cx="95250" cy="607060"/>
            </a:xfrm>
            <a:custGeom>
              <a:avLst/>
              <a:gdLst/>
              <a:ahLst/>
              <a:cxnLst/>
              <a:rect l="l" t="t" r="r" b="b"/>
              <a:pathLst>
                <a:path w="95250" h="607060">
                  <a:moveTo>
                    <a:pt x="95250" y="606551"/>
                  </a:moveTo>
                  <a:lnTo>
                    <a:pt x="0" y="60655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0655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5416799" y="4147603"/>
              <a:ext cx="95250" cy="607060"/>
            </a:xfrm>
            <a:custGeom>
              <a:avLst/>
              <a:gdLst/>
              <a:ahLst/>
              <a:cxnLst/>
              <a:rect l="l" t="t" r="r" b="b"/>
              <a:pathLst>
                <a:path w="95250" h="607060">
                  <a:moveTo>
                    <a:pt x="0" y="0"/>
                  </a:moveTo>
                  <a:lnTo>
                    <a:pt x="95250" y="0"/>
                  </a:lnTo>
                  <a:lnTo>
                    <a:pt x="95250" y="606551"/>
                  </a:lnTo>
                  <a:lnTo>
                    <a:pt x="0" y="60655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5521574" y="454621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5521574" y="454621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5521574" y="433827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521574" y="433827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521574" y="413033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95250" y="207940"/>
                  </a:moveTo>
                  <a:lnTo>
                    <a:pt x="0" y="20794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0794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521574" y="4130335"/>
              <a:ext cx="95250" cy="208279"/>
            </a:xfrm>
            <a:custGeom>
              <a:avLst/>
              <a:gdLst/>
              <a:ahLst/>
              <a:cxnLst/>
              <a:rect l="l" t="t" r="r" b="b"/>
              <a:pathLst>
                <a:path w="95250" h="208279">
                  <a:moveTo>
                    <a:pt x="0" y="0"/>
                  </a:moveTo>
                  <a:lnTo>
                    <a:pt x="95250" y="0"/>
                  </a:lnTo>
                  <a:lnTo>
                    <a:pt x="95250" y="207940"/>
                  </a:lnTo>
                  <a:lnTo>
                    <a:pt x="0" y="2079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5405382" y="4031910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8518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8518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570854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47" name="object 247"/>
          <p:cNvGrpSpPr/>
          <p:nvPr/>
        </p:nvGrpSpPr>
        <p:grpSpPr>
          <a:xfrm>
            <a:off x="5688262" y="4033456"/>
            <a:ext cx="209550" cy="725805"/>
            <a:chOff x="5688262" y="4033456"/>
            <a:chExt cx="209550" cy="725805"/>
          </a:xfrm>
        </p:grpSpPr>
        <p:sp>
          <p:nvSpPr>
            <p:cNvPr id="248" name="object 248"/>
            <p:cNvSpPr/>
            <p:nvPr/>
          </p:nvSpPr>
          <p:spPr>
            <a:xfrm>
              <a:off x="5693024" y="4056164"/>
              <a:ext cx="95250" cy="698500"/>
            </a:xfrm>
            <a:custGeom>
              <a:avLst/>
              <a:gdLst/>
              <a:ahLst/>
              <a:cxnLst/>
              <a:rect l="l" t="t" r="r" b="b"/>
              <a:pathLst>
                <a:path w="95250" h="698500">
                  <a:moveTo>
                    <a:pt x="95250" y="697991"/>
                  </a:moveTo>
                  <a:lnTo>
                    <a:pt x="0" y="6979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97991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693024" y="4056164"/>
              <a:ext cx="95250" cy="698500"/>
            </a:xfrm>
            <a:custGeom>
              <a:avLst/>
              <a:gdLst/>
              <a:ahLst/>
              <a:cxnLst/>
              <a:rect l="l" t="t" r="r" b="b"/>
              <a:pathLst>
                <a:path w="95250" h="698500">
                  <a:moveTo>
                    <a:pt x="0" y="0"/>
                  </a:moveTo>
                  <a:lnTo>
                    <a:pt x="95250" y="0"/>
                  </a:lnTo>
                  <a:lnTo>
                    <a:pt x="95250" y="697991"/>
                  </a:lnTo>
                  <a:lnTo>
                    <a:pt x="0" y="6979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797799" y="4038219"/>
              <a:ext cx="95250" cy="716280"/>
            </a:xfrm>
            <a:custGeom>
              <a:avLst/>
              <a:gdLst/>
              <a:ahLst/>
              <a:cxnLst/>
              <a:rect l="l" t="t" r="r" b="b"/>
              <a:pathLst>
                <a:path w="95250" h="716279">
                  <a:moveTo>
                    <a:pt x="95250" y="715939"/>
                  </a:moveTo>
                  <a:lnTo>
                    <a:pt x="0" y="71593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15939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797799" y="4038219"/>
              <a:ext cx="95250" cy="716280"/>
            </a:xfrm>
            <a:custGeom>
              <a:avLst/>
              <a:gdLst/>
              <a:ahLst/>
              <a:cxnLst/>
              <a:rect l="l" t="t" r="r" b="b"/>
              <a:pathLst>
                <a:path w="95250" h="716279">
                  <a:moveTo>
                    <a:pt x="0" y="0"/>
                  </a:moveTo>
                  <a:lnTo>
                    <a:pt x="95250" y="0"/>
                  </a:lnTo>
                  <a:lnTo>
                    <a:pt x="95250" y="715939"/>
                  </a:lnTo>
                  <a:lnTo>
                    <a:pt x="0" y="7159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2" name="object 252"/>
          <p:cNvSpPr txBox="1"/>
          <p:nvPr/>
        </p:nvSpPr>
        <p:spPr>
          <a:xfrm>
            <a:off x="5681607" y="3939794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8518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8518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598476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5964487" y="4008729"/>
            <a:ext cx="104775" cy="750570"/>
            <a:chOff x="5964487" y="4008729"/>
            <a:chExt cx="104775" cy="750570"/>
          </a:xfrm>
        </p:grpSpPr>
        <p:sp>
          <p:nvSpPr>
            <p:cNvPr id="255" name="object 255"/>
            <p:cNvSpPr/>
            <p:nvPr/>
          </p:nvSpPr>
          <p:spPr>
            <a:xfrm>
              <a:off x="5969249" y="4013492"/>
              <a:ext cx="95250" cy="741045"/>
            </a:xfrm>
            <a:custGeom>
              <a:avLst/>
              <a:gdLst/>
              <a:ahLst/>
              <a:cxnLst/>
              <a:rect l="l" t="t" r="r" b="b"/>
              <a:pathLst>
                <a:path w="95250" h="741045">
                  <a:moveTo>
                    <a:pt x="95250" y="740663"/>
                  </a:moveTo>
                  <a:lnTo>
                    <a:pt x="0" y="740663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4066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969249" y="4013492"/>
              <a:ext cx="95250" cy="741045"/>
            </a:xfrm>
            <a:custGeom>
              <a:avLst/>
              <a:gdLst/>
              <a:ahLst/>
              <a:cxnLst/>
              <a:rect l="l" t="t" r="r" b="b"/>
              <a:pathLst>
                <a:path w="95250" h="741045">
                  <a:moveTo>
                    <a:pt x="0" y="0"/>
                  </a:moveTo>
                  <a:lnTo>
                    <a:pt x="95250" y="0"/>
                  </a:lnTo>
                  <a:lnTo>
                    <a:pt x="95250" y="740663"/>
                  </a:lnTo>
                  <a:lnTo>
                    <a:pt x="0" y="74066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7" name="object 257"/>
          <p:cNvSpPr txBox="1"/>
          <p:nvPr/>
        </p:nvSpPr>
        <p:spPr>
          <a:xfrm>
            <a:off x="5983232" y="3915067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58" name="object 258"/>
          <p:cNvGrpSpPr/>
          <p:nvPr/>
        </p:nvGrpSpPr>
        <p:grpSpPr>
          <a:xfrm>
            <a:off x="6069262" y="3932140"/>
            <a:ext cx="104775" cy="827405"/>
            <a:chOff x="6069262" y="3932140"/>
            <a:chExt cx="104775" cy="827405"/>
          </a:xfrm>
        </p:grpSpPr>
        <p:sp>
          <p:nvSpPr>
            <p:cNvPr id="259" name="object 259"/>
            <p:cNvSpPr/>
            <p:nvPr/>
          </p:nvSpPr>
          <p:spPr>
            <a:xfrm>
              <a:off x="6074024" y="434553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95250" y="408626"/>
                  </a:moveTo>
                  <a:lnTo>
                    <a:pt x="0" y="40862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0862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6074024" y="434553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0" y="0"/>
                  </a:moveTo>
                  <a:lnTo>
                    <a:pt x="95250" y="0"/>
                  </a:lnTo>
                  <a:lnTo>
                    <a:pt x="95250" y="408626"/>
                  </a:lnTo>
                  <a:lnTo>
                    <a:pt x="0" y="4086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074024" y="393690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95250" y="408626"/>
                  </a:moveTo>
                  <a:lnTo>
                    <a:pt x="0" y="40862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08626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074024" y="3936903"/>
              <a:ext cx="95250" cy="408940"/>
            </a:xfrm>
            <a:custGeom>
              <a:avLst/>
              <a:gdLst/>
              <a:ahLst/>
              <a:cxnLst/>
              <a:rect l="l" t="t" r="r" b="b"/>
              <a:pathLst>
                <a:path w="95250" h="408939">
                  <a:moveTo>
                    <a:pt x="0" y="0"/>
                  </a:moveTo>
                  <a:lnTo>
                    <a:pt x="95250" y="0"/>
                  </a:lnTo>
                  <a:lnTo>
                    <a:pt x="95250" y="408626"/>
                  </a:lnTo>
                  <a:lnTo>
                    <a:pt x="0" y="40862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3" name="object 263"/>
          <p:cNvSpPr txBox="1"/>
          <p:nvPr/>
        </p:nvSpPr>
        <p:spPr>
          <a:xfrm>
            <a:off x="6086597" y="3838478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6659957" y="5312956"/>
            <a:ext cx="4095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May</a:t>
            </a:r>
            <a:r>
              <a:rPr sz="750" b="1" spc="-10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6327666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6307387" y="4270857"/>
            <a:ext cx="104775" cy="488315"/>
            <a:chOff x="6307387" y="4270857"/>
            <a:chExt cx="104775" cy="488315"/>
          </a:xfrm>
        </p:grpSpPr>
        <p:sp>
          <p:nvSpPr>
            <p:cNvPr id="267" name="object 267"/>
            <p:cNvSpPr/>
            <p:nvPr/>
          </p:nvSpPr>
          <p:spPr>
            <a:xfrm>
              <a:off x="6312149" y="4275620"/>
              <a:ext cx="95250" cy="478790"/>
            </a:xfrm>
            <a:custGeom>
              <a:avLst/>
              <a:gdLst/>
              <a:ahLst/>
              <a:cxnLst/>
              <a:rect l="l" t="t" r="r" b="b"/>
              <a:pathLst>
                <a:path w="95250" h="478789">
                  <a:moveTo>
                    <a:pt x="95250" y="478536"/>
                  </a:moveTo>
                  <a:lnTo>
                    <a:pt x="0" y="478536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78536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312149" y="4275620"/>
              <a:ext cx="95250" cy="478790"/>
            </a:xfrm>
            <a:custGeom>
              <a:avLst/>
              <a:gdLst/>
              <a:ahLst/>
              <a:cxnLst/>
              <a:rect l="l" t="t" r="r" b="b"/>
              <a:pathLst>
                <a:path w="95250" h="478789">
                  <a:moveTo>
                    <a:pt x="0" y="0"/>
                  </a:moveTo>
                  <a:lnTo>
                    <a:pt x="95250" y="0"/>
                  </a:lnTo>
                  <a:lnTo>
                    <a:pt x="95250" y="478536"/>
                  </a:lnTo>
                  <a:lnTo>
                    <a:pt x="0" y="4785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6326132" y="4177195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6412162" y="4176693"/>
            <a:ext cx="104775" cy="582295"/>
            <a:chOff x="6412162" y="4176693"/>
            <a:chExt cx="104775" cy="582295"/>
          </a:xfrm>
        </p:grpSpPr>
        <p:sp>
          <p:nvSpPr>
            <p:cNvPr id="271" name="object 271"/>
            <p:cNvSpPr/>
            <p:nvPr/>
          </p:nvSpPr>
          <p:spPr>
            <a:xfrm>
              <a:off x="6416924" y="446780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95250" y="286349"/>
                  </a:moveTo>
                  <a:lnTo>
                    <a:pt x="0" y="28634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863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416924" y="446780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0" y="0"/>
                  </a:moveTo>
                  <a:lnTo>
                    <a:pt x="95250" y="0"/>
                  </a:lnTo>
                  <a:lnTo>
                    <a:pt x="95250" y="286349"/>
                  </a:lnTo>
                  <a:lnTo>
                    <a:pt x="0" y="28634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6416924" y="418145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95250" y="286349"/>
                  </a:moveTo>
                  <a:lnTo>
                    <a:pt x="0" y="28634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8634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6416924" y="4181456"/>
              <a:ext cx="95250" cy="286385"/>
            </a:xfrm>
            <a:custGeom>
              <a:avLst/>
              <a:gdLst/>
              <a:ahLst/>
              <a:cxnLst/>
              <a:rect l="l" t="t" r="r" b="b"/>
              <a:pathLst>
                <a:path w="95250" h="286385">
                  <a:moveTo>
                    <a:pt x="0" y="0"/>
                  </a:moveTo>
                  <a:lnTo>
                    <a:pt x="95250" y="0"/>
                  </a:lnTo>
                  <a:lnTo>
                    <a:pt x="95250" y="286349"/>
                  </a:lnTo>
                  <a:lnTo>
                    <a:pt x="0" y="28634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5" name="object 275"/>
          <p:cNvSpPr txBox="1"/>
          <p:nvPr/>
        </p:nvSpPr>
        <p:spPr>
          <a:xfrm>
            <a:off x="6429497" y="4083031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76" name="object 276"/>
          <p:cNvSpPr txBox="1"/>
          <p:nvPr/>
        </p:nvSpPr>
        <p:spPr>
          <a:xfrm>
            <a:off x="6603891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583612" y="3873996"/>
            <a:ext cx="209550" cy="885190"/>
            <a:chOff x="6583612" y="3873996"/>
            <a:chExt cx="209550" cy="885190"/>
          </a:xfrm>
        </p:grpSpPr>
        <p:sp>
          <p:nvSpPr>
            <p:cNvPr id="278" name="object 278"/>
            <p:cNvSpPr/>
            <p:nvPr/>
          </p:nvSpPr>
          <p:spPr>
            <a:xfrm>
              <a:off x="6588374" y="3893096"/>
              <a:ext cx="95250" cy="861060"/>
            </a:xfrm>
            <a:custGeom>
              <a:avLst/>
              <a:gdLst/>
              <a:ahLst/>
              <a:cxnLst/>
              <a:rect l="l" t="t" r="r" b="b"/>
              <a:pathLst>
                <a:path w="95250" h="861060">
                  <a:moveTo>
                    <a:pt x="95250" y="861060"/>
                  </a:moveTo>
                  <a:lnTo>
                    <a:pt x="0" y="86106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610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588374" y="3893096"/>
              <a:ext cx="95250" cy="861060"/>
            </a:xfrm>
            <a:custGeom>
              <a:avLst/>
              <a:gdLst/>
              <a:ahLst/>
              <a:cxnLst/>
              <a:rect l="l" t="t" r="r" b="b"/>
              <a:pathLst>
                <a:path w="95250" h="861060">
                  <a:moveTo>
                    <a:pt x="0" y="0"/>
                  </a:moveTo>
                  <a:lnTo>
                    <a:pt x="95250" y="0"/>
                  </a:lnTo>
                  <a:lnTo>
                    <a:pt x="95250" y="861060"/>
                  </a:lnTo>
                  <a:lnTo>
                    <a:pt x="0" y="8610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693149" y="3878758"/>
              <a:ext cx="95250" cy="875665"/>
            </a:xfrm>
            <a:custGeom>
              <a:avLst/>
              <a:gdLst/>
              <a:ahLst/>
              <a:cxnLst/>
              <a:rect l="l" t="t" r="r" b="b"/>
              <a:pathLst>
                <a:path w="95250" h="875664">
                  <a:moveTo>
                    <a:pt x="95250" y="875397"/>
                  </a:moveTo>
                  <a:lnTo>
                    <a:pt x="0" y="87539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75397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693149" y="3878758"/>
              <a:ext cx="95250" cy="875665"/>
            </a:xfrm>
            <a:custGeom>
              <a:avLst/>
              <a:gdLst/>
              <a:ahLst/>
              <a:cxnLst/>
              <a:rect l="l" t="t" r="r" b="b"/>
              <a:pathLst>
                <a:path w="95250" h="875664">
                  <a:moveTo>
                    <a:pt x="0" y="0"/>
                  </a:moveTo>
                  <a:lnTo>
                    <a:pt x="95250" y="0"/>
                  </a:lnTo>
                  <a:lnTo>
                    <a:pt x="95250" y="875397"/>
                  </a:lnTo>
                  <a:lnTo>
                    <a:pt x="0" y="87539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2" name="object 282"/>
          <p:cNvSpPr txBox="1"/>
          <p:nvPr/>
        </p:nvSpPr>
        <p:spPr>
          <a:xfrm>
            <a:off x="6576956" y="3780333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12345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12345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83" name="object 283"/>
          <p:cNvSpPr txBox="1"/>
          <p:nvPr/>
        </p:nvSpPr>
        <p:spPr>
          <a:xfrm>
            <a:off x="6880116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6859837" y="4253112"/>
            <a:ext cx="209550" cy="506095"/>
            <a:chOff x="6859837" y="4253112"/>
            <a:chExt cx="209550" cy="506095"/>
          </a:xfrm>
        </p:grpSpPr>
        <p:sp>
          <p:nvSpPr>
            <p:cNvPr id="285" name="object 285"/>
            <p:cNvSpPr/>
            <p:nvPr/>
          </p:nvSpPr>
          <p:spPr>
            <a:xfrm>
              <a:off x="6864599" y="4263428"/>
              <a:ext cx="95250" cy="490855"/>
            </a:xfrm>
            <a:custGeom>
              <a:avLst/>
              <a:gdLst/>
              <a:ahLst/>
              <a:cxnLst/>
              <a:rect l="l" t="t" r="r" b="b"/>
              <a:pathLst>
                <a:path w="95250" h="490854">
                  <a:moveTo>
                    <a:pt x="95250" y="490728"/>
                  </a:moveTo>
                  <a:lnTo>
                    <a:pt x="0" y="490728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49072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864599" y="4263428"/>
              <a:ext cx="95250" cy="490855"/>
            </a:xfrm>
            <a:custGeom>
              <a:avLst/>
              <a:gdLst/>
              <a:ahLst/>
              <a:cxnLst/>
              <a:rect l="l" t="t" r="r" b="b"/>
              <a:pathLst>
                <a:path w="95250" h="490854">
                  <a:moveTo>
                    <a:pt x="0" y="0"/>
                  </a:moveTo>
                  <a:lnTo>
                    <a:pt x="95250" y="0"/>
                  </a:lnTo>
                  <a:lnTo>
                    <a:pt x="95250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969374" y="4506010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95250" y="248141"/>
                  </a:moveTo>
                  <a:lnTo>
                    <a:pt x="0" y="24814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48141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969374" y="4506010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0" y="0"/>
                  </a:moveTo>
                  <a:lnTo>
                    <a:pt x="95250" y="0"/>
                  </a:lnTo>
                  <a:lnTo>
                    <a:pt x="95250" y="248141"/>
                  </a:lnTo>
                  <a:lnTo>
                    <a:pt x="0" y="2481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969374" y="4257874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95250" y="248141"/>
                  </a:moveTo>
                  <a:lnTo>
                    <a:pt x="0" y="24814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4814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969374" y="4257874"/>
              <a:ext cx="95250" cy="248285"/>
            </a:xfrm>
            <a:custGeom>
              <a:avLst/>
              <a:gdLst/>
              <a:ahLst/>
              <a:cxnLst/>
              <a:rect l="l" t="t" r="r" b="b"/>
              <a:pathLst>
                <a:path w="95250" h="248285">
                  <a:moveTo>
                    <a:pt x="0" y="0"/>
                  </a:moveTo>
                  <a:lnTo>
                    <a:pt x="95250" y="0"/>
                  </a:lnTo>
                  <a:lnTo>
                    <a:pt x="95250" y="248141"/>
                  </a:lnTo>
                  <a:lnTo>
                    <a:pt x="0" y="24814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1" name="object 291"/>
          <p:cNvSpPr txBox="1"/>
          <p:nvPr/>
        </p:nvSpPr>
        <p:spPr>
          <a:xfrm>
            <a:off x="6878581" y="4165003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675" b="1" spc="-89" baseline="6172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675" baseline="6172">
              <a:latin typeface="Verdana"/>
              <a:cs typeface="Verdana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7156341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93" name="object 293"/>
          <p:cNvGrpSpPr/>
          <p:nvPr/>
        </p:nvGrpSpPr>
        <p:grpSpPr>
          <a:xfrm>
            <a:off x="7136062" y="3860926"/>
            <a:ext cx="209550" cy="898525"/>
            <a:chOff x="7136062" y="3860926"/>
            <a:chExt cx="209550" cy="898525"/>
          </a:xfrm>
        </p:grpSpPr>
        <p:sp>
          <p:nvSpPr>
            <p:cNvPr id="294" name="object 294"/>
            <p:cNvSpPr/>
            <p:nvPr/>
          </p:nvSpPr>
          <p:spPr>
            <a:xfrm>
              <a:off x="7140824" y="3868712"/>
              <a:ext cx="95250" cy="885825"/>
            </a:xfrm>
            <a:custGeom>
              <a:avLst/>
              <a:gdLst/>
              <a:ahLst/>
              <a:cxnLst/>
              <a:rect l="l" t="t" r="r" b="b"/>
              <a:pathLst>
                <a:path w="95250" h="885825">
                  <a:moveTo>
                    <a:pt x="95250" y="885443"/>
                  </a:moveTo>
                  <a:lnTo>
                    <a:pt x="0" y="885443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5443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7140824" y="3868712"/>
              <a:ext cx="95250" cy="885825"/>
            </a:xfrm>
            <a:custGeom>
              <a:avLst/>
              <a:gdLst/>
              <a:ahLst/>
              <a:cxnLst/>
              <a:rect l="l" t="t" r="r" b="b"/>
              <a:pathLst>
                <a:path w="95250" h="885825">
                  <a:moveTo>
                    <a:pt x="0" y="0"/>
                  </a:moveTo>
                  <a:lnTo>
                    <a:pt x="95250" y="0"/>
                  </a:lnTo>
                  <a:lnTo>
                    <a:pt x="95250" y="885443"/>
                  </a:lnTo>
                  <a:lnTo>
                    <a:pt x="0" y="88544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7245599" y="3865688"/>
              <a:ext cx="95250" cy="889000"/>
            </a:xfrm>
            <a:custGeom>
              <a:avLst/>
              <a:gdLst/>
              <a:ahLst/>
              <a:cxnLst/>
              <a:rect l="l" t="t" r="r" b="b"/>
              <a:pathLst>
                <a:path w="95250" h="889000">
                  <a:moveTo>
                    <a:pt x="95250" y="888467"/>
                  </a:moveTo>
                  <a:lnTo>
                    <a:pt x="0" y="888467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8846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7245599" y="3865688"/>
              <a:ext cx="95250" cy="889000"/>
            </a:xfrm>
            <a:custGeom>
              <a:avLst/>
              <a:gdLst/>
              <a:ahLst/>
              <a:cxnLst/>
              <a:rect l="l" t="t" r="r" b="b"/>
              <a:pathLst>
                <a:path w="95250" h="889000">
                  <a:moveTo>
                    <a:pt x="0" y="0"/>
                  </a:moveTo>
                  <a:lnTo>
                    <a:pt x="95250" y="0"/>
                  </a:lnTo>
                  <a:lnTo>
                    <a:pt x="95250" y="888467"/>
                  </a:lnTo>
                  <a:lnTo>
                    <a:pt x="0" y="88846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8" name="object 298"/>
          <p:cNvSpPr txBox="1"/>
          <p:nvPr/>
        </p:nvSpPr>
        <p:spPr>
          <a:xfrm>
            <a:off x="7154806" y="3770286"/>
            <a:ext cx="1739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450" b="1" spc="32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7845183" y="5312956"/>
            <a:ext cx="3822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4154"/>
                </a:solidFill>
                <a:latin typeface="Verdana"/>
                <a:cs typeface="Verdana"/>
              </a:rPr>
              <a:t>Jun</a:t>
            </a:r>
            <a:r>
              <a:rPr sz="750" b="1" spc="-15" dirty="0">
                <a:solidFill>
                  <a:srgbClr val="334154"/>
                </a:solidFill>
                <a:latin typeface="Verdana"/>
                <a:cs typeface="Verdana"/>
              </a:rPr>
              <a:t> </a:t>
            </a:r>
            <a:r>
              <a:rPr sz="750" b="1" spc="-25" dirty="0">
                <a:solidFill>
                  <a:srgbClr val="334154"/>
                </a:solidFill>
                <a:latin typeface="Verdana"/>
                <a:cs typeface="Verdana"/>
              </a:rPr>
              <a:t>26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7499241" y="4817655"/>
            <a:ext cx="106680" cy="41148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Moquegua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01" name="object 301"/>
          <p:cNvGrpSpPr/>
          <p:nvPr/>
        </p:nvGrpSpPr>
        <p:grpSpPr>
          <a:xfrm>
            <a:off x="7478962" y="4025160"/>
            <a:ext cx="209550" cy="734060"/>
            <a:chOff x="7478962" y="4025160"/>
            <a:chExt cx="209550" cy="734060"/>
          </a:xfrm>
        </p:grpSpPr>
        <p:sp>
          <p:nvSpPr>
            <p:cNvPr id="302" name="object 302"/>
            <p:cNvSpPr/>
            <p:nvPr/>
          </p:nvSpPr>
          <p:spPr>
            <a:xfrm>
              <a:off x="7483724" y="4083595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95250" y="670560"/>
                  </a:moveTo>
                  <a:lnTo>
                    <a:pt x="0" y="670560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67056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7483724" y="4083595"/>
              <a:ext cx="95250" cy="670560"/>
            </a:xfrm>
            <a:custGeom>
              <a:avLst/>
              <a:gdLst/>
              <a:ahLst/>
              <a:cxnLst/>
              <a:rect l="l" t="t" r="r" b="b"/>
              <a:pathLst>
                <a:path w="95250" h="670560">
                  <a:moveTo>
                    <a:pt x="0" y="0"/>
                  </a:moveTo>
                  <a:lnTo>
                    <a:pt x="95250" y="0"/>
                  </a:lnTo>
                  <a:lnTo>
                    <a:pt x="9525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7588499" y="4029922"/>
              <a:ext cx="95250" cy="724535"/>
            </a:xfrm>
            <a:custGeom>
              <a:avLst/>
              <a:gdLst/>
              <a:ahLst/>
              <a:cxnLst/>
              <a:rect l="l" t="t" r="r" b="b"/>
              <a:pathLst>
                <a:path w="95250" h="724535">
                  <a:moveTo>
                    <a:pt x="95250" y="724234"/>
                  </a:moveTo>
                  <a:lnTo>
                    <a:pt x="0" y="72423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2423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7588499" y="4029922"/>
              <a:ext cx="95250" cy="724535"/>
            </a:xfrm>
            <a:custGeom>
              <a:avLst/>
              <a:gdLst/>
              <a:ahLst/>
              <a:cxnLst/>
              <a:rect l="l" t="t" r="r" b="b"/>
              <a:pathLst>
                <a:path w="95250" h="724535">
                  <a:moveTo>
                    <a:pt x="0" y="0"/>
                  </a:moveTo>
                  <a:lnTo>
                    <a:pt x="95250" y="0"/>
                  </a:lnTo>
                  <a:lnTo>
                    <a:pt x="95250" y="724234"/>
                  </a:lnTo>
                  <a:lnTo>
                    <a:pt x="0" y="72423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6" name="object 306"/>
          <p:cNvSpPr txBox="1"/>
          <p:nvPr/>
        </p:nvSpPr>
        <p:spPr>
          <a:xfrm>
            <a:off x="7497706" y="3931497"/>
            <a:ext cx="1739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ts val="48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  <a:p>
            <a:pPr marL="12700">
              <a:lnSpc>
                <a:spcPts val="480"/>
              </a:lnSpc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07" name="object 307"/>
          <p:cNvSpPr txBox="1"/>
          <p:nvPr/>
        </p:nvSpPr>
        <p:spPr>
          <a:xfrm>
            <a:off x="7775466" y="4817660"/>
            <a:ext cx="106680" cy="3619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Tablones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7755187" y="4023969"/>
            <a:ext cx="104775" cy="735330"/>
            <a:chOff x="7755187" y="4023969"/>
            <a:chExt cx="104775" cy="735330"/>
          </a:xfrm>
        </p:grpSpPr>
        <p:sp>
          <p:nvSpPr>
            <p:cNvPr id="309" name="object 309"/>
            <p:cNvSpPr/>
            <p:nvPr/>
          </p:nvSpPr>
          <p:spPr>
            <a:xfrm>
              <a:off x="7759949" y="4028731"/>
              <a:ext cx="95250" cy="725805"/>
            </a:xfrm>
            <a:custGeom>
              <a:avLst/>
              <a:gdLst/>
              <a:ahLst/>
              <a:cxnLst/>
              <a:rect l="l" t="t" r="r" b="b"/>
              <a:pathLst>
                <a:path w="95250" h="725804">
                  <a:moveTo>
                    <a:pt x="95250" y="725424"/>
                  </a:moveTo>
                  <a:lnTo>
                    <a:pt x="0" y="725424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25424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7759949" y="4028731"/>
              <a:ext cx="95250" cy="725805"/>
            </a:xfrm>
            <a:custGeom>
              <a:avLst/>
              <a:gdLst/>
              <a:ahLst/>
              <a:cxnLst/>
              <a:rect l="l" t="t" r="r" b="b"/>
              <a:pathLst>
                <a:path w="95250" h="725804">
                  <a:moveTo>
                    <a:pt x="0" y="0"/>
                  </a:moveTo>
                  <a:lnTo>
                    <a:pt x="95250" y="0"/>
                  </a:lnTo>
                  <a:lnTo>
                    <a:pt x="95250" y="725424"/>
                  </a:lnTo>
                  <a:lnTo>
                    <a:pt x="0" y="7254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1" name="object 311"/>
          <p:cNvSpPr txBox="1"/>
          <p:nvPr/>
        </p:nvSpPr>
        <p:spPr>
          <a:xfrm>
            <a:off x="7773931" y="3930306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12" name="object 312"/>
          <p:cNvGrpSpPr/>
          <p:nvPr/>
        </p:nvGrpSpPr>
        <p:grpSpPr>
          <a:xfrm>
            <a:off x="7859962" y="3921627"/>
            <a:ext cx="104775" cy="837565"/>
            <a:chOff x="7859962" y="3921627"/>
            <a:chExt cx="104775" cy="837565"/>
          </a:xfrm>
        </p:grpSpPr>
        <p:sp>
          <p:nvSpPr>
            <p:cNvPr id="313" name="object 313"/>
            <p:cNvSpPr/>
            <p:nvPr/>
          </p:nvSpPr>
          <p:spPr>
            <a:xfrm>
              <a:off x="7864724" y="447823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7864724" y="447823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7864724" y="420231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7864724" y="4202315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7864724" y="3926389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95250" y="275922"/>
                  </a:moveTo>
                  <a:lnTo>
                    <a:pt x="0" y="27592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27592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7864724" y="3926389"/>
              <a:ext cx="95250" cy="276225"/>
            </a:xfrm>
            <a:custGeom>
              <a:avLst/>
              <a:gdLst/>
              <a:ahLst/>
              <a:cxnLst/>
              <a:rect l="l" t="t" r="r" b="b"/>
              <a:pathLst>
                <a:path w="95250" h="276225">
                  <a:moveTo>
                    <a:pt x="0" y="0"/>
                  </a:moveTo>
                  <a:lnTo>
                    <a:pt x="95250" y="0"/>
                  </a:lnTo>
                  <a:lnTo>
                    <a:pt x="95250" y="275922"/>
                  </a:lnTo>
                  <a:lnTo>
                    <a:pt x="0" y="27592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9" name="object 319"/>
          <p:cNvSpPr txBox="1"/>
          <p:nvPr/>
        </p:nvSpPr>
        <p:spPr>
          <a:xfrm>
            <a:off x="7877297" y="3827964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20" name="object 320"/>
          <p:cNvSpPr txBox="1"/>
          <p:nvPr/>
        </p:nvSpPr>
        <p:spPr>
          <a:xfrm>
            <a:off x="8051691" y="4817656"/>
            <a:ext cx="106680" cy="391795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dirty="0">
                <a:solidFill>
                  <a:srgbClr val="64748A"/>
                </a:solidFill>
                <a:latin typeface="Verdana"/>
                <a:cs typeface="Verdana"/>
              </a:rPr>
              <a:t>Concon</a:t>
            </a:r>
            <a:r>
              <a:rPr sz="500" b="1" spc="105" dirty="0">
                <a:solidFill>
                  <a:srgbClr val="64748A"/>
                </a:solidFill>
                <a:latin typeface="Verdana"/>
                <a:cs typeface="Verdana"/>
              </a:rPr>
              <a:t> </a:t>
            </a:r>
            <a:r>
              <a:rPr sz="500" b="1" spc="-25" dirty="0">
                <a:solidFill>
                  <a:srgbClr val="64748A"/>
                </a:solidFill>
                <a:latin typeface="Verdana"/>
                <a:cs typeface="Verdana"/>
              </a:rPr>
              <a:t>T.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8031412" y="3967084"/>
            <a:ext cx="209550" cy="791845"/>
            <a:chOff x="8031412" y="3967084"/>
            <a:chExt cx="209550" cy="791845"/>
          </a:xfrm>
        </p:grpSpPr>
        <p:sp>
          <p:nvSpPr>
            <p:cNvPr id="322" name="object 322"/>
            <p:cNvSpPr/>
            <p:nvPr/>
          </p:nvSpPr>
          <p:spPr>
            <a:xfrm>
              <a:off x="8036174" y="4010444"/>
              <a:ext cx="95250" cy="744220"/>
            </a:xfrm>
            <a:custGeom>
              <a:avLst/>
              <a:gdLst/>
              <a:ahLst/>
              <a:cxnLst/>
              <a:rect l="l" t="t" r="r" b="b"/>
              <a:pathLst>
                <a:path w="95250" h="744220">
                  <a:moveTo>
                    <a:pt x="95250" y="743712"/>
                  </a:moveTo>
                  <a:lnTo>
                    <a:pt x="0" y="74371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4371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8036174" y="4010444"/>
              <a:ext cx="95250" cy="744220"/>
            </a:xfrm>
            <a:custGeom>
              <a:avLst/>
              <a:gdLst/>
              <a:ahLst/>
              <a:cxnLst/>
              <a:rect l="l" t="t" r="r" b="b"/>
              <a:pathLst>
                <a:path w="95250" h="744220">
                  <a:moveTo>
                    <a:pt x="0" y="0"/>
                  </a:moveTo>
                  <a:lnTo>
                    <a:pt x="95250" y="0"/>
                  </a:lnTo>
                  <a:lnTo>
                    <a:pt x="95250" y="743712"/>
                  </a:lnTo>
                  <a:lnTo>
                    <a:pt x="0" y="74371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8140949" y="3971847"/>
              <a:ext cx="95250" cy="782320"/>
            </a:xfrm>
            <a:custGeom>
              <a:avLst/>
              <a:gdLst/>
              <a:ahLst/>
              <a:cxnLst/>
              <a:rect l="l" t="t" r="r" b="b"/>
              <a:pathLst>
                <a:path w="95250" h="782320">
                  <a:moveTo>
                    <a:pt x="95250" y="782309"/>
                  </a:moveTo>
                  <a:lnTo>
                    <a:pt x="0" y="782309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78230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8140949" y="3971847"/>
              <a:ext cx="95250" cy="782320"/>
            </a:xfrm>
            <a:custGeom>
              <a:avLst/>
              <a:gdLst/>
              <a:ahLst/>
              <a:cxnLst/>
              <a:rect l="l" t="t" r="r" b="b"/>
              <a:pathLst>
                <a:path w="95250" h="782320">
                  <a:moveTo>
                    <a:pt x="0" y="0"/>
                  </a:moveTo>
                  <a:lnTo>
                    <a:pt x="95250" y="0"/>
                  </a:lnTo>
                  <a:lnTo>
                    <a:pt x="95250" y="782309"/>
                  </a:lnTo>
                  <a:lnTo>
                    <a:pt x="0" y="78230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6" name="object 326"/>
          <p:cNvSpPr txBox="1"/>
          <p:nvPr/>
        </p:nvSpPr>
        <p:spPr>
          <a:xfrm>
            <a:off x="8024756" y="3873422"/>
            <a:ext cx="22479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75" b="1" baseline="-37037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r>
              <a:rPr sz="675" b="1" spc="480" baseline="-37037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450" b="1" spc="-6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8327916" y="4817656"/>
            <a:ext cx="106680" cy="311150"/>
          </a:xfrm>
          <a:prstGeom prst="rect">
            <a:avLst/>
          </a:prstGeom>
        </p:spPr>
        <p:txBody>
          <a:bodyPr vert="vert270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0" dirty="0">
                <a:solidFill>
                  <a:srgbClr val="64748A"/>
                </a:solidFill>
                <a:latin typeface="Verdana"/>
                <a:cs typeface="Verdana"/>
              </a:rPr>
              <a:t>Huemel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328" name="object 328"/>
          <p:cNvGrpSpPr/>
          <p:nvPr/>
        </p:nvGrpSpPr>
        <p:grpSpPr>
          <a:xfrm>
            <a:off x="8307637" y="3921861"/>
            <a:ext cx="104775" cy="837565"/>
            <a:chOff x="8307637" y="3921861"/>
            <a:chExt cx="104775" cy="837565"/>
          </a:xfrm>
        </p:grpSpPr>
        <p:sp>
          <p:nvSpPr>
            <p:cNvPr id="329" name="object 329"/>
            <p:cNvSpPr/>
            <p:nvPr/>
          </p:nvSpPr>
          <p:spPr>
            <a:xfrm>
              <a:off x="8312399" y="3926624"/>
              <a:ext cx="95250" cy="828040"/>
            </a:xfrm>
            <a:custGeom>
              <a:avLst/>
              <a:gdLst/>
              <a:ahLst/>
              <a:cxnLst/>
              <a:rect l="l" t="t" r="r" b="b"/>
              <a:pathLst>
                <a:path w="95250" h="828039">
                  <a:moveTo>
                    <a:pt x="95250" y="827532"/>
                  </a:moveTo>
                  <a:lnTo>
                    <a:pt x="0" y="827532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82753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8312399" y="3926624"/>
              <a:ext cx="95250" cy="828040"/>
            </a:xfrm>
            <a:custGeom>
              <a:avLst/>
              <a:gdLst/>
              <a:ahLst/>
              <a:cxnLst/>
              <a:rect l="l" t="t" r="r" b="b"/>
              <a:pathLst>
                <a:path w="95250" h="828039">
                  <a:moveTo>
                    <a:pt x="0" y="0"/>
                  </a:moveTo>
                  <a:lnTo>
                    <a:pt x="95250" y="0"/>
                  </a:lnTo>
                  <a:lnTo>
                    <a:pt x="95250" y="827532"/>
                  </a:lnTo>
                  <a:lnTo>
                    <a:pt x="0" y="8275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1" name="object 331"/>
          <p:cNvSpPr txBox="1"/>
          <p:nvPr/>
        </p:nvSpPr>
        <p:spPr>
          <a:xfrm>
            <a:off x="8326381" y="3828199"/>
            <a:ext cx="6731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93A3B8"/>
                </a:solidFill>
                <a:latin typeface="Verdana"/>
                <a:cs typeface="Verdana"/>
              </a:rPr>
              <a:t>P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8412412" y="3725219"/>
            <a:ext cx="104775" cy="1033780"/>
            <a:chOff x="8412412" y="3725219"/>
            <a:chExt cx="104775" cy="1033780"/>
          </a:xfrm>
        </p:grpSpPr>
        <p:sp>
          <p:nvSpPr>
            <p:cNvPr id="333" name="object 333"/>
            <p:cNvSpPr/>
            <p:nvPr/>
          </p:nvSpPr>
          <p:spPr>
            <a:xfrm>
              <a:off x="8417174" y="4412761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8417174" y="4412761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8417174" y="4071375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8417174" y="4071375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8417174" y="3729982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95250" y="341391"/>
                  </a:moveTo>
                  <a:lnTo>
                    <a:pt x="0" y="341391"/>
                  </a:lnTo>
                  <a:lnTo>
                    <a:pt x="0" y="0"/>
                  </a:lnTo>
                  <a:lnTo>
                    <a:pt x="95250" y="0"/>
                  </a:lnTo>
                  <a:lnTo>
                    <a:pt x="95250" y="341391"/>
                  </a:lnTo>
                  <a:close/>
                </a:path>
              </a:pathLst>
            </a:custGeom>
            <a:solidFill>
              <a:srgbClr val="8A5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8417174" y="3729982"/>
              <a:ext cx="95250" cy="341630"/>
            </a:xfrm>
            <a:custGeom>
              <a:avLst/>
              <a:gdLst/>
              <a:ahLst/>
              <a:cxnLst/>
              <a:rect l="l" t="t" r="r" b="b"/>
              <a:pathLst>
                <a:path w="95250" h="341629">
                  <a:moveTo>
                    <a:pt x="0" y="0"/>
                  </a:moveTo>
                  <a:lnTo>
                    <a:pt x="95250" y="0"/>
                  </a:lnTo>
                  <a:lnTo>
                    <a:pt x="95250" y="341391"/>
                  </a:lnTo>
                  <a:lnTo>
                    <a:pt x="0" y="3413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9" name="object 339"/>
          <p:cNvSpPr txBox="1"/>
          <p:nvPr/>
        </p:nvSpPr>
        <p:spPr>
          <a:xfrm>
            <a:off x="8429747" y="3631557"/>
            <a:ext cx="7048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b="1" spc="-50" dirty="0">
                <a:solidFill>
                  <a:srgbClr val="334154"/>
                </a:solidFill>
                <a:latin typeface="Verdana"/>
                <a:cs typeface="Verdana"/>
              </a:rPr>
              <a:t>R</a:t>
            </a:r>
            <a:endParaRPr sz="450">
              <a:latin typeface="Verdana"/>
              <a:cs typeface="Verdana"/>
            </a:endParaRPr>
          </a:p>
        </p:txBody>
      </p:sp>
      <p:grpSp>
        <p:nvGrpSpPr>
          <p:cNvPr id="340" name="object 340"/>
          <p:cNvGrpSpPr/>
          <p:nvPr/>
        </p:nvGrpSpPr>
        <p:grpSpPr>
          <a:xfrm>
            <a:off x="2140199" y="3288401"/>
            <a:ext cx="5934075" cy="882650"/>
            <a:chOff x="2140199" y="3288401"/>
            <a:chExt cx="5934075" cy="882650"/>
          </a:xfrm>
        </p:grpSpPr>
        <p:sp>
          <p:nvSpPr>
            <p:cNvPr id="341" name="object 341"/>
            <p:cNvSpPr/>
            <p:nvPr/>
          </p:nvSpPr>
          <p:spPr>
            <a:xfrm>
              <a:off x="2178299" y="3326501"/>
              <a:ext cx="5857875" cy="806450"/>
            </a:xfrm>
            <a:custGeom>
              <a:avLst/>
              <a:gdLst/>
              <a:ahLst/>
              <a:cxnLst/>
              <a:rect l="l" t="t" r="r" b="b"/>
              <a:pathLst>
                <a:path w="5857875" h="806450">
                  <a:moveTo>
                    <a:pt x="0" y="104371"/>
                  </a:moveTo>
                  <a:lnTo>
                    <a:pt x="1171574" y="806310"/>
                  </a:lnTo>
                  <a:lnTo>
                    <a:pt x="2343150" y="0"/>
                  </a:lnTo>
                  <a:lnTo>
                    <a:pt x="3514725" y="344327"/>
                  </a:lnTo>
                  <a:lnTo>
                    <a:pt x="4686300" y="583898"/>
                  </a:lnTo>
                  <a:lnTo>
                    <a:pt x="5857875" y="35543"/>
                  </a:lnTo>
                </a:path>
              </a:pathLst>
            </a:custGeom>
            <a:ln w="23812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2" name="object 3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0199" y="3392772"/>
              <a:ext cx="76200" cy="76200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1774" y="4094711"/>
              <a:ext cx="76200" cy="76200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3349" y="3288401"/>
              <a:ext cx="76200" cy="76200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54924" y="3632729"/>
              <a:ext cx="76200" cy="76200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6499" y="3872300"/>
              <a:ext cx="76200" cy="76200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98074" y="3323945"/>
              <a:ext cx="76200" cy="76200"/>
            </a:xfrm>
            <a:prstGeom prst="rect">
              <a:avLst/>
            </a:prstGeom>
          </p:spPr>
        </p:pic>
      </p:grpSp>
      <p:pic>
        <p:nvPicPr>
          <p:cNvPr id="348" name="object 3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349" name="object 349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9"/>
            <a:ext cx="6576059" cy="4572000"/>
            <a:chOff x="539999" y="1586779"/>
            <a:chExt cx="6576059" cy="457200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6576059" cy="4572000"/>
            </a:xfrm>
            <a:custGeom>
              <a:avLst/>
              <a:gdLst/>
              <a:ahLst/>
              <a:cxnLst/>
              <a:rect l="l" t="t" r="r" b="b"/>
              <a:pathLst>
                <a:path w="6576059" h="4572000">
                  <a:moveTo>
                    <a:pt x="6461380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6461380" y="0"/>
                  </a:lnTo>
                  <a:lnTo>
                    <a:pt x="6505760" y="9018"/>
                  </a:lnTo>
                  <a:lnTo>
                    <a:pt x="6542104" y="33575"/>
                  </a:lnTo>
                  <a:lnTo>
                    <a:pt x="6566661" y="69919"/>
                  </a:lnTo>
                  <a:lnTo>
                    <a:pt x="6575680" y="114300"/>
                  </a:lnTo>
                  <a:lnTo>
                    <a:pt x="6575680" y="4457700"/>
                  </a:lnTo>
                  <a:lnTo>
                    <a:pt x="6566661" y="4502080"/>
                  </a:lnTo>
                  <a:lnTo>
                    <a:pt x="6542104" y="4538424"/>
                  </a:lnTo>
                  <a:lnTo>
                    <a:pt x="6505760" y="4562981"/>
                  </a:lnTo>
                  <a:lnTo>
                    <a:pt x="6461380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6576059" cy="4572000"/>
            </a:xfrm>
            <a:custGeom>
              <a:avLst/>
              <a:gdLst/>
              <a:ahLst/>
              <a:cxnLst/>
              <a:rect l="l" t="t" r="r" b="b"/>
              <a:pathLst>
                <a:path w="6576059" h="4572000">
                  <a:moveTo>
                    <a:pt x="6461380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6461380" y="0"/>
                  </a:lnTo>
                  <a:lnTo>
                    <a:pt x="6505760" y="9018"/>
                  </a:lnTo>
                  <a:lnTo>
                    <a:pt x="6513558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6513558" y="4557712"/>
                  </a:lnTo>
                  <a:lnTo>
                    <a:pt x="6505760" y="4562981"/>
                  </a:lnTo>
                  <a:lnTo>
                    <a:pt x="6461380" y="4572000"/>
                  </a:lnTo>
                  <a:close/>
                </a:path>
                <a:path w="6576059" h="4572000">
                  <a:moveTo>
                    <a:pt x="6513558" y="4557712"/>
                  </a:moveTo>
                  <a:lnTo>
                    <a:pt x="6461380" y="4557712"/>
                  </a:lnTo>
                  <a:lnTo>
                    <a:pt x="6500213" y="4549821"/>
                  </a:lnTo>
                  <a:lnTo>
                    <a:pt x="6532013" y="4528333"/>
                  </a:lnTo>
                  <a:lnTo>
                    <a:pt x="6553501" y="4496533"/>
                  </a:lnTo>
                  <a:lnTo>
                    <a:pt x="6561392" y="4457700"/>
                  </a:lnTo>
                  <a:lnTo>
                    <a:pt x="6561392" y="114300"/>
                  </a:lnTo>
                  <a:lnTo>
                    <a:pt x="6553501" y="75467"/>
                  </a:lnTo>
                  <a:lnTo>
                    <a:pt x="6532013" y="43666"/>
                  </a:lnTo>
                  <a:lnTo>
                    <a:pt x="6500213" y="22179"/>
                  </a:lnTo>
                  <a:lnTo>
                    <a:pt x="6461380" y="14287"/>
                  </a:lnTo>
                  <a:lnTo>
                    <a:pt x="6513558" y="14287"/>
                  </a:lnTo>
                  <a:lnTo>
                    <a:pt x="6542104" y="33575"/>
                  </a:lnTo>
                  <a:lnTo>
                    <a:pt x="6566661" y="69919"/>
                  </a:lnTo>
                  <a:lnTo>
                    <a:pt x="6575680" y="114300"/>
                  </a:lnTo>
                  <a:lnTo>
                    <a:pt x="6575680" y="4457700"/>
                  </a:lnTo>
                  <a:lnTo>
                    <a:pt x="6566661" y="4502080"/>
                  </a:lnTo>
                  <a:lnTo>
                    <a:pt x="6542104" y="4538424"/>
                  </a:lnTo>
                  <a:lnTo>
                    <a:pt x="6513558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314943" y="1586779"/>
            <a:ext cx="3188335" cy="4572000"/>
            <a:chOff x="7314943" y="1586779"/>
            <a:chExt cx="3188335" cy="4572000"/>
          </a:xfrm>
        </p:grpSpPr>
        <p:sp>
          <p:nvSpPr>
            <p:cNvPr id="6" name="object 6"/>
            <p:cNvSpPr/>
            <p:nvPr/>
          </p:nvSpPr>
          <p:spPr>
            <a:xfrm>
              <a:off x="7314943" y="1586779"/>
              <a:ext cx="3188335" cy="4572000"/>
            </a:xfrm>
            <a:custGeom>
              <a:avLst/>
              <a:gdLst/>
              <a:ahLst/>
              <a:cxnLst/>
              <a:rect l="l" t="t" r="r" b="b"/>
              <a:pathLst>
                <a:path w="3188334" h="4572000">
                  <a:moveTo>
                    <a:pt x="307387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3073879" y="0"/>
                  </a:lnTo>
                  <a:lnTo>
                    <a:pt x="3118260" y="9018"/>
                  </a:lnTo>
                  <a:lnTo>
                    <a:pt x="3154603" y="33575"/>
                  </a:lnTo>
                  <a:lnTo>
                    <a:pt x="3179160" y="69919"/>
                  </a:lnTo>
                  <a:lnTo>
                    <a:pt x="3188179" y="114300"/>
                  </a:lnTo>
                  <a:lnTo>
                    <a:pt x="3188179" y="4457700"/>
                  </a:lnTo>
                  <a:lnTo>
                    <a:pt x="3179160" y="4502080"/>
                  </a:lnTo>
                  <a:lnTo>
                    <a:pt x="3154603" y="4538424"/>
                  </a:lnTo>
                  <a:lnTo>
                    <a:pt x="3118260" y="4562981"/>
                  </a:lnTo>
                  <a:lnTo>
                    <a:pt x="3073879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4943" y="1586779"/>
              <a:ext cx="3188335" cy="4572000"/>
            </a:xfrm>
            <a:custGeom>
              <a:avLst/>
              <a:gdLst/>
              <a:ahLst/>
              <a:cxnLst/>
              <a:rect l="l" t="t" r="r" b="b"/>
              <a:pathLst>
                <a:path w="3188334" h="4572000">
                  <a:moveTo>
                    <a:pt x="307387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3073879" y="0"/>
                  </a:lnTo>
                  <a:lnTo>
                    <a:pt x="3118260" y="9018"/>
                  </a:lnTo>
                  <a:lnTo>
                    <a:pt x="3126057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3126057" y="4557712"/>
                  </a:lnTo>
                  <a:lnTo>
                    <a:pt x="3118260" y="4562981"/>
                  </a:lnTo>
                  <a:lnTo>
                    <a:pt x="3073879" y="4572000"/>
                  </a:lnTo>
                  <a:close/>
                </a:path>
                <a:path w="3188334" h="4572000">
                  <a:moveTo>
                    <a:pt x="3126057" y="4557712"/>
                  </a:moveTo>
                  <a:lnTo>
                    <a:pt x="3073879" y="4557712"/>
                  </a:lnTo>
                  <a:lnTo>
                    <a:pt x="3112732" y="4549821"/>
                  </a:lnTo>
                  <a:lnTo>
                    <a:pt x="3144531" y="4528333"/>
                  </a:lnTo>
                  <a:lnTo>
                    <a:pt x="3166007" y="4496533"/>
                  </a:lnTo>
                  <a:lnTo>
                    <a:pt x="3173892" y="4457700"/>
                  </a:lnTo>
                  <a:lnTo>
                    <a:pt x="3173892" y="114300"/>
                  </a:lnTo>
                  <a:lnTo>
                    <a:pt x="3166007" y="75467"/>
                  </a:lnTo>
                  <a:lnTo>
                    <a:pt x="3144531" y="43666"/>
                  </a:lnTo>
                  <a:lnTo>
                    <a:pt x="3112732" y="22179"/>
                  </a:lnTo>
                  <a:lnTo>
                    <a:pt x="3073879" y="14287"/>
                  </a:lnTo>
                  <a:lnTo>
                    <a:pt x="3126057" y="14287"/>
                  </a:lnTo>
                  <a:lnTo>
                    <a:pt x="3154603" y="33575"/>
                  </a:lnTo>
                  <a:lnTo>
                    <a:pt x="3179160" y="69919"/>
                  </a:lnTo>
                  <a:lnTo>
                    <a:pt x="3188179" y="114300"/>
                  </a:lnTo>
                  <a:lnTo>
                    <a:pt x="3188179" y="4457700"/>
                  </a:lnTo>
                  <a:lnTo>
                    <a:pt x="3179160" y="4502080"/>
                  </a:lnTo>
                  <a:lnTo>
                    <a:pt x="3154603" y="4538424"/>
                  </a:lnTo>
                  <a:lnTo>
                    <a:pt x="3126057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72096" y="2032241"/>
              <a:ext cx="2874010" cy="1939289"/>
            </a:xfrm>
            <a:custGeom>
              <a:avLst/>
              <a:gdLst/>
              <a:ahLst/>
              <a:cxnLst/>
              <a:rect l="l" t="t" r="r" b="b"/>
              <a:pathLst>
                <a:path w="2874009" h="1939289">
                  <a:moveTo>
                    <a:pt x="2873883" y="1924672"/>
                  </a:moveTo>
                  <a:lnTo>
                    <a:pt x="0" y="1924672"/>
                  </a:lnTo>
                  <a:lnTo>
                    <a:pt x="0" y="1938959"/>
                  </a:lnTo>
                  <a:lnTo>
                    <a:pt x="2873883" y="1938959"/>
                  </a:lnTo>
                  <a:lnTo>
                    <a:pt x="2873883" y="1924672"/>
                  </a:lnTo>
                  <a:close/>
                </a:path>
                <a:path w="2874009" h="1939289">
                  <a:moveTo>
                    <a:pt x="2873883" y="0"/>
                  </a:moveTo>
                  <a:lnTo>
                    <a:pt x="0" y="0"/>
                  </a:lnTo>
                  <a:lnTo>
                    <a:pt x="0" y="14287"/>
                  </a:lnTo>
                  <a:lnTo>
                    <a:pt x="2873883" y="14287"/>
                  </a:lnTo>
                  <a:lnTo>
                    <a:pt x="2873883" y="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105" y="4356649"/>
              <a:ext cx="114300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105" y="4564932"/>
              <a:ext cx="114300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2105" y="4773206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2105" y="4981489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2105" y="5189772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2105" y="5398046"/>
              <a:ext cx="114300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72105" y="5829528"/>
              <a:ext cx="2874010" cy="9525"/>
            </a:xfrm>
            <a:custGeom>
              <a:avLst/>
              <a:gdLst/>
              <a:ahLst/>
              <a:cxnLst/>
              <a:rect l="l" t="t" r="r" b="b"/>
              <a:pathLst>
                <a:path w="2874009" h="9525">
                  <a:moveTo>
                    <a:pt x="2873883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3883" y="0"/>
                  </a:lnTo>
                  <a:lnTo>
                    <a:pt x="2873883" y="9525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27298" y="1063710"/>
            <a:ext cx="1053440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Análisis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Tráfico:</a:t>
            </a:r>
            <a:r>
              <a:rPr spc="-75" dirty="0"/>
              <a:t> </a:t>
            </a:r>
            <a:r>
              <a:rPr dirty="0"/>
              <a:t>Spaghetti</a:t>
            </a:r>
            <a:r>
              <a:rPr spc="-80" dirty="0"/>
              <a:t> </a:t>
            </a:r>
            <a:r>
              <a:rPr dirty="0"/>
              <a:t>Map</a:t>
            </a:r>
            <a:r>
              <a:rPr spc="-8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Rutas</a:t>
            </a:r>
            <a:r>
              <a:rPr lang="es-MX" spc="-10" dirty="0"/>
              <a:t> / Data GPS</a:t>
            </a:r>
            <a:endParaRPr spc="-10" dirty="0"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92573" y="2095934"/>
            <a:ext cx="3369666" cy="39238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79655" y="4727078"/>
            <a:ext cx="1163955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b="1" dirty="0">
                <a:solidFill>
                  <a:srgbClr val="93A3B8"/>
                </a:solidFill>
                <a:latin typeface="Verdana"/>
                <a:cs typeface="Verdana"/>
              </a:rPr>
              <a:t>OCEANO</a:t>
            </a:r>
            <a:r>
              <a:rPr sz="850" b="1" spc="-70" dirty="0">
                <a:solidFill>
                  <a:srgbClr val="93A3B8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93A3B8"/>
                </a:solidFill>
                <a:latin typeface="Verdana"/>
                <a:cs typeface="Verdana"/>
              </a:rPr>
              <a:t>PACIFICO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3829" y="4269228"/>
            <a:ext cx="230504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20" dirty="0">
                <a:solidFill>
                  <a:srgbClr val="93A3B8"/>
                </a:solidFill>
                <a:latin typeface="Verdana"/>
                <a:cs typeface="Verdana"/>
              </a:rPr>
              <a:t>IVIA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19073" y="2097847"/>
            <a:ext cx="30988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5631" y="3137265"/>
            <a:ext cx="42037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Marcona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19025" y="3585374"/>
            <a:ext cx="917575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Matarani</a:t>
            </a:r>
            <a:endParaRPr sz="6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6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650" b="1" spc="-25" dirty="0">
                <a:solidFill>
                  <a:srgbClr val="0F2B59"/>
                </a:solidFill>
                <a:latin typeface="Verdana"/>
                <a:cs typeface="Verdana"/>
              </a:rPr>
              <a:t>Ilo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99222" y="5492760"/>
            <a:ext cx="49720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10" dirty="0">
                <a:solidFill>
                  <a:srgbClr val="0F2B59"/>
                </a:solidFill>
                <a:latin typeface="Verdana"/>
                <a:cs typeface="Verdana"/>
              </a:rPr>
              <a:t>Mejillones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59405" y="1738957"/>
            <a:ext cx="16770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Filtros</a:t>
            </a:r>
            <a:r>
              <a:rPr sz="1300" b="1" spc="-5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300" b="1" spc="-4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Arial"/>
                <a:cs typeface="Arial"/>
              </a:rPr>
              <a:t>Dashboard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59405" y="2134111"/>
            <a:ext cx="931544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Periodo</a:t>
            </a:r>
            <a:r>
              <a:rPr sz="850" b="1" spc="-3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mensual: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59405" y="2677671"/>
            <a:ext cx="9372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Filtrar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por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Buque: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59405" y="3221231"/>
            <a:ext cx="84137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Filtrar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465469"/>
                </a:solidFill>
                <a:latin typeface="Arial"/>
                <a:cs typeface="Arial"/>
              </a:rPr>
              <a:t>por</a:t>
            </a:r>
            <a:r>
              <a:rPr sz="850" b="1" spc="-4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Arial"/>
                <a:cs typeface="Arial"/>
              </a:rPr>
              <a:t>Ruta:</a:t>
            </a:r>
            <a:endParaRPr sz="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59405" y="4060275"/>
            <a:ext cx="977900" cy="146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Rutas</a:t>
            </a:r>
            <a:r>
              <a:rPr sz="11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1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Viaje</a:t>
            </a:r>
            <a:endParaRPr sz="1100">
              <a:latin typeface="Arial"/>
              <a:cs typeface="Arial"/>
            </a:endParaRPr>
          </a:p>
          <a:p>
            <a:pPr marL="203200" marR="5080" algn="just">
              <a:lnSpc>
                <a:spcPct val="160800"/>
              </a:lnSpc>
              <a:spcBef>
                <a:spcPts val="185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Callao-Marcona Callao-Matarani Ilo-Callao</a:t>
            </a:r>
            <a:endParaRPr sz="850">
              <a:latin typeface="Arial"/>
              <a:cs typeface="Arial"/>
            </a:endParaRPr>
          </a:p>
          <a:p>
            <a:pPr marL="203200" marR="136525" algn="just">
              <a:lnSpc>
                <a:spcPct val="160800"/>
              </a:lnSpc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Ilo-Matarani Ilo-Marcona Ilo-Mejillones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06647" y="5868615"/>
            <a:ext cx="16052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GeekSoft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Forecast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System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|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Mockup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V2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72105" y="2321470"/>
            <a:ext cx="2997835" cy="268605"/>
            <a:chOff x="7472105" y="2321470"/>
            <a:chExt cx="2997835" cy="268605"/>
          </a:xfrm>
        </p:grpSpPr>
        <p:sp>
          <p:nvSpPr>
            <p:cNvPr id="31" name="object 31"/>
            <p:cNvSpPr/>
            <p:nvPr/>
          </p:nvSpPr>
          <p:spPr>
            <a:xfrm>
              <a:off x="7472105" y="2321470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72105" y="2321471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5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317067" y="2376322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21317" y="2376322"/>
            <a:ext cx="14204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Junio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2026</a:t>
            </a:r>
            <a:r>
              <a:rPr sz="950" b="1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(Proyectado)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472105" y="2865034"/>
            <a:ext cx="2997835" cy="268605"/>
            <a:chOff x="7472105" y="2865034"/>
            <a:chExt cx="2997835" cy="268605"/>
          </a:xfrm>
        </p:grpSpPr>
        <p:sp>
          <p:nvSpPr>
            <p:cNvPr id="36" name="object 36"/>
            <p:cNvSpPr/>
            <p:nvPr/>
          </p:nvSpPr>
          <p:spPr>
            <a:xfrm>
              <a:off x="7472105" y="2865034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72105" y="2865034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5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5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317067" y="2919876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21317" y="2919876"/>
            <a:ext cx="21056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334154"/>
                </a:solidFill>
                <a:latin typeface="Segoe UI Emoji"/>
                <a:cs typeface="Segoe UI Emoji"/>
              </a:rPr>
              <a:t>🚢</a:t>
            </a:r>
            <a:r>
              <a:rPr sz="950" spc="-20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Todos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los</a:t>
            </a:r>
            <a:r>
              <a:rPr sz="950" b="1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Buques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(Consolidado)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72105" y="3408597"/>
            <a:ext cx="2997835" cy="268605"/>
            <a:chOff x="7472105" y="3408597"/>
            <a:chExt cx="2997835" cy="268605"/>
          </a:xfrm>
        </p:grpSpPr>
        <p:sp>
          <p:nvSpPr>
            <p:cNvPr id="41" name="object 41"/>
            <p:cNvSpPr/>
            <p:nvPr/>
          </p:nvSpPr>
          <p:spPr>
            <a:xfrm>
              <a:off x="7472105" y="3408597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4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72105" y="3408597"/>
              <a:ext cx="2997835" cy="268605"/>
            </a:xfrm>
            <a:custGeom>
              <a:avLst/>
              <a:gdLst/>
              <a:ahLst/>
              <a:cxnLst/>
              <a:rect l="l" t="t" r="r" b="b"/>
              <a:pathLst>
                <a:path w="2997834" h="268604">
                  <a:moveTo>
                    <a:pt x="2940529" y="268605"/>
                  </a:moveTo>
                  <a:lnTo>
                    <a:pt x="57150" y="268605"/>
                  </a:lnTo>
                  <a:lnTo>
                    <a:pt x="34959" y="264095"/>
                  </a:lnTo>
                  <a:lnTo>
                    <a:pt x="16787" y="251817"/>
                  </a:lnTo>
                  <a:lnTo>
                    <a:pt x="4509" y="233645"/>
                  </a:lnTo>
                  <a:lnTo>
                    <a:pt x="0" y="21145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2940529" y="0"/>
                  </a:lnTo>
                  <a:lnTo>
                    <a:pt x="2962719" y="4509"/>
                  </a:lnTo>
                  <a:lnTo>
                    <a:pt x="2977191" y="14287"/>
                  </a:lnTo>
                  <a:lnTo>
                    <a:pt x="57150" y="14287"/>
                  </a:lnTo>
                  <a:lnTo>
                    <a:pt x="40507" y="17669"/>
                  </a:lnTo>
                  <a:lnTo>
                    <a:pt x="26878" y="26878"/>
                  </a:lnTo>
                  <a:lnTo>
                    <a:pt x="17669" y="40507"/>
                  </a:lnTo>
                  <a:lnTo>
                    <a:pt x="14287" y="57150"/>
                  </a:lnTo>
                  <a:lnTo>
                    <a:pt x="14287" y="211455"/>
                  </a:lnTo>
                  <a:lnTo>
                    <a:pt x="17669" y="228097"/>
                  </a:lnTo>
                  <a:lnTo>
                    <a:pt x="26878" y="241726"/>
                  </a:lnTo>
                  <a:lnTo>
                    <a:pt x="40507" y="250935"/>
                  </a:lnTo>
                  <a:lnTo>
                    <a:pt x="57150" y="254317"/>
                  </a:lnTo>
                  <a:lnTo>
                    <a:pt x="2977191" y="254317"/>
                  </a:lnTo>
                  <a:lnTo>
                    <a:pt x="2962719" y="264095"/>
                  </a:lnTo>
                  <a:lnTo>
                    <a:pt x="2940529" y="268605"/>
                  </a:lnTo>
                  <a:close/>
                </a:path>
                <a:path w="2997834" h="268604">
                  <a:moveTo>
                    <a:pt x="2977191" y="254317"/>
                  </a:moveTo>
                  <a:lnTo>
                    <a:pt x="2940529" y="254317"/>
                  </a:lnTo>
                  <a:lnTo>
                    <a:pt x="2957192" y="250935"/>
                  </a:lnTo>
                  <a:lnTo>
                    <a:pt x="2970819" y="241726"/>
                  </a:lnTo>
                  <a:lnTo>
                    <a:pt x="2980016" y="228097"/>
                  </a:lnTo>
                  <a:lnTo>
                    <a:pt x="2983392" y="211455"/>
                  </a:lnTo>
                  <a:lnTo>
                    <a:pt x="2983392" y="57150"/>
                  </a:lnTo>
                  <a:lnTo>
                    <a:pt x="2980016" y="40507"/>
                  </a:lnTo>
                  <a:lnTo>
                    <a:pt x="2970819" y="26878"/>
                  </a:lnTo>
                  <a:lnTo>
                    <a:pt x="2957192" y="17669"/>
                  </a:lnTo>
                  <a:lnTo>
                    <a:pt x="2940529" y="14287"/>
                  </a:lnTo>
                  <a:lnTo>
                    <a:pt x="2977191" y="14287"/>
                  </a:lnTo>
                  <a:lnTo>
                    <a:pt x="2980891" y="16787"/>
                  </a:lnTo>
                  <a:lnTo>
                    <a:pt x="2993170" y="34959"/>
                  </a:lnTo>
                  <a:lnTo>
                    <a:pt x="2997679" y="57150"/>
                  </a:lnTo>
                  <a:lnTo>
                    <a:pt x="2997679" y="211455"/>
                  </a:lnTo>
                  <a:lnTo>
                    <a:pt x="2993170" y="233645"/>
                  </a:lnTo>
                  <a:lnTo>
                    <a:pt x="2980891" y="251817"/>
                  </a:lnTo>
                  <a:lnTo>
                    <a:pt x="2977191" y="254317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317067" y="3463438"/>
            <a:ext cx="9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334154"/>
                </a:solidFill>
                <a:latin typeface="Arial"/>
                <a:cs typeface="Arial"/>
              </a:rPr>
              <a:t>˅</a:t>
            </a:r>
            <a:endParaRPr sz="9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21317" y="3463438"/>
            <a:ext cx="23742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334154"/>
                </a:solidFill>
                <a:latin typeface="Segoe UI Emoji"/>
                <a:cs typeface="Segoe UI Emoji"/>
              </a:rPr>
              <a:t>🎨</a:t>
            </a:r>
            <a:r>
              <a:rPr sz="950" spc="-15" dirty="0">
                <a:solidFill>
                  <a:srgbClr val="334154"/>
                </a:solidFill>
                <a:latin typeface="Segoe UI Emoji"/>
                <a:cs typeface="Segoe UI Emoji"/>
              </a:rPr>
              <a:t> 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Todas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las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Rutas</a:t>
            </a:r>
            <a:r>
              <a:rPr sz="950" b="1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334154"/>
                </a:solidFill>
                <a:latin typeface="Arial"/>
                <a:cs typeface="Arial"/>
              </a:rPr>
              <a:t>(Spaghetti</a:t>
            </a:r>
            <a:r>
              <a:rPr sz="950" b="1" spc="-10" dirty="0">
                <a:solidFill>
                  <a:srgbClr val="334154"/>
                </a:solidFill>
                <a:latin typeface="Arial"/>
                <a:cs typeface="Arial"/>
              </a:rPr>
              <a:t> completo)</a:t>
            </a:r>
            <a:endParaRPr sz="950">
              <a:latin typeface="Arial"/>
              <a:cs typeface="Aria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999" y="1586779"/>
            <a:ext cx="7173595" cy="4572000"/>
            <a:chOff x="539999" y="1586779"/>
            <a:chExt cx="7173595" cy="4572000"/>
          </a:xfrm>
        </p:grpSpPr>
        <p:sp>
          <p:nvSpPr>
            <p:cNvPr id="3" name="object 3"/>
            <p:cNvSpPr/>
            <p:nvPr/>
          </p:nvSpPr>
          <p:spPr>
            <a:xfrm>
              <a:off x="539999" y="1586779"/>
              <a:ext cx="7173595" cy="4572000"/>
            </a:xfrm>
            <a:custGeom>
              <a:avLst/>
              <a:gdLst/>
              <a:ahLst/>
              <a:cxnLst/>
              <a:rect l="l" t="t" r="r" b="b"/>
              <a:pathLst>
                <a:path w="7173595" h="4572000">
                  <a:moveTo>
                    <a:pt x="705916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7059169" y="0"/>
                  </a:lnTo>
                  <a:lnTo>
                    <a:pt x="7103549" y="9018"/>
                  </a:lnTo>
                  <a:lnTo>
                    <a:pt x="7139893" y="33575"/>
                  </a:lnTo>
                  <a:lnTo>
                    <a:pt x="7164450" y="69919"/>
                  </a:lnTo>
                  <a:lnTo>
                    <a:pt x="7173469" y="114300"/>
                  </a:lnTo>
                  <a:lnTo>
                    <a:pt x="7173469" y="4457700"/>
                  </a:lnTo>
                  <a:lnTo>
                    <a:pt x="7164450" y="4502080"/>
                  </a:lnTo>
                  <a:lnTo>
                    <a:pt x="7139893" y="4538424"/>
                  </a:lnTo>
                  <a:lnTo>
                    <a:pt x="7103549" y="4562981"/>
                  </a:lnTo>
                  <a:lnTo>
                    <a:pt x="7059169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9999" y="1586779"/>
              <a:ext cx="7173595" cy="4572000"/>
            </a:xfrm>
            <a:custGeom>
              <a:avLst/>
              <a:gdLst/>
              <a:ahLst/>
              <a:cxnLst/>
              <a:rect l="l" t="t" r="r" b="b"/>
              <a:pathLst>
                <a:path w="7173595" h="4572000">
                  <a:moveTo>
                    <a:pt x="7059169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7059169" y="0"/>
                  </a:lnTo>
                  <a:lnTo>
                    <a:pt x="7103549" y="9018"/>
                  </a:lnTo>
                  <a:lnTo>
                    <a:pt x="7111347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7111347" y="4557712"/>
                  </a:lnTo>
                  <a:lnTo>
                    <a:pt x="7103549" y="4562981"/>
                  </a:lnTo>
                  <a:lnTo>
                    <a:pt x="7059169" y="4572000"/>
                  </a:lnTo>
                  <a:close/>
                </a:path>
                <a:path w="7173595" h="4572000">
                  <a:moveTo>
                    <a:pt x="7111347" y="4557712"/>
                  </a:moveTo>
                  <a:lnTo>
                    <a:pt x="7059169" y="4557712"/>
                  </a:lnTo>
                  <a:lnTo>
                    <a:pt x="7098002" y="4549821"/>
                  </a:lnTo>
                  <a:lnTo>
                    <a:pt x="7129802" y="4528333"/>
                  </a:lnTo>
                  <a:lnTo>
                    <a:pt x="7151290" y="4496533"/>
                  </a:lnTo>
                  <a:lnTo>
                    <a:pt x="7159181" y="4457700"/>
                  </a:lnTo>
                  <a:lnTo>
                    <a:pt x="7159181" y="114300"/>
                  </a:lnTo>
                  <a:lnTo>
                    <a:pt x="7151290" y="75467"/>
                  </a:lnTo>
                  <a:lnTo>
                    <a:pt x="7129802" y="43666"/>
                  </a:lnTo>
                  <a:lnTo>
                    <a:pt x="7098002" y="22179"/>
                  </a:lnTo>
                  <a:lnTo>
                    <a:pt x="7059169" y="14287"/>
                  </a:lnTo>
                  <a:lnTo>
                    <a:pt x="7111347" y="14287"/>
                  </a:lnTo>
                  <a:lnTo>
                    <a:pt x="7139893" y="33575"/>
                  </a:lnTo>
                  <a:lnTo>
                    <a:pt x="7164450" y="69919"/>
                  </a:lnTo>
                  <a:lnTo>
                    <a:pt x="7173469" y="114300"/>
                  </a:lnTo>
                  <a:lnTo>
                    <a:pt x="7173469" y="4457700"/>
                  </a:lnTo>
                  <a:lnTo>
                    <a:pt x="7164450" y="4502080"/>
                  </a:lnTo>
                  <a:lnTo>
                    <a:pt x="7139893" y="4538424"/>
                  </a:lnTo>
                  <a:lnTo>
                    <a:pt x="7111347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012363" y="1586779"/>
            <a:ext cx="2491105" cy="4572000"/>
            <a:chOff x="8012363" y="1586779"/>
            <a:chExt cx="2491105" cy="4572000"/>
          </a:xfrm>
        </p:grpSpPr>
        <p:sp>
          <p:nvSpPr>
            <p:cNvPr id="6" name="object 6"/>
            <p:cNvSpPr/>
            <p:nvPr/>
          </p:nvSpPr>
          <p:spPr>
            <a:xfrm>
              <a:off x="8012363" y="1586779"/>
              <a:ext cx="2491105" cy="4572000"/>
            </a:xfrm>
            <a:custGeom>
              <a:avLst/>
              <a:gdLst/>
              <a:ahLst/>
              <a:cxnLst/>
              <a:rect l="l" t="t" r="r" b="b"/>
              <a:pathLst>
                <a:path w="2491104" h="4572000">
                  <a:moveTo>
                    <a:pt x="2376458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376458" y="0"/>
                  </a:lnTo>
                  <a:lnTo>
                    <a:pt x="2420839" y="9018"/>
                  </a:lnTo>
                  <a:lnTo>
                    <a:pt x="2457183" y="33575"/>
                  </a:lnTo>
                  <a:lnTo>
                    <a:pt x="2481740" y="69919"/>
                  </a:lnTo>
                  <a:lnTo>
                    <a:pt x="2490758" y="114300"/>
                  </a:lnTo>
                  <a:lnTo>
                    <a:pt x="2490758" y="4457700"/>
                  </a:lnTo>
                  <a:lnTo>
                    <a:pt x="2481740" y="4502080"/>
                  </a:lnTo>
                  <a:lnTo>
                    <a:pt x="2457183" y="4538424"/>
                  </a:lnTo>
                  <a:lnTo>
                    <a:pt x="2420839" y="4562981"/>
                  </a:lnTo>
                  <a:lnTo>
                    <a:pt x="2376458" y="457200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2363" y="1586779"/>
              <a:ext cx="2491105" cy="4572000"/>
            </a:xfrm>
            <a:custGeom>
              <a:avLst/>
              <a:gdLst/>
              <a:ahLst/>
              <a:cxnLst/>
              <a:rect l="l" t="t" r="r" b="b"/>
              <a:pathLst>
                <a:path w="2491104" h="4572000">
                  <a:moveTo>
                    <a:pt x="2376458" y="4572000"/>
                  </a:moveTo>
                  <a:lnTo>
                    <a:pt x="114300" y="4572000"/>
                  </a:lnTo>
                  <a:lnTo>
                    <a:pt x="69919" y="4562981"/>
                  </a:lnTo>
                  <a:lnTo>
                    <a:pt x="33575" y="4538424"/>
                  </a:lnTo>
                  <a:lnTo>
                    <a:pt x="9018" y="4502080"/>
                  </a:lnTo>
                  <a:lnTo>
                    <a:pt x="0" y="4457700"/>
                  </a:lnTo>
                  <a:lnTo>
                    <a:pt x="0" y="114300"/>
                  </a:lnTo>
                  <a:lnTo>
                    <a:pt x="9018" y="69919"/>
                  </a:lnTo>
                  <a:lnTo>
                    <a:pt x="33575" y="33575"/>
                  </a:lnTo>
                  <a:lnTo>
                    <a:pt x="69919" y="9018"/>
                  </a:lnTo>
                  <a:lnTo>
                    <a:pt x="114300" y="0"/>
                  </a:lnTo>
                  <a:lnTo>
                    <a:pt x="2376458" y="0"/>
                  </a:lnTo>
                  <a:lnTo>
                    <a:pt x="2420839" y="9018"/>
                  </a:lnTo>
                  <a:lnTo>
                    <a:pt x="2428636" y="14287"/>
                  </a:lnTo>
                  <a:lnTo>
                    <a:pt x="114300" y="14287"/>
                  </a:lnTo>
                  <a:lnTo>
                    <a:pt x="75467" y="22179"/>
                  </a:lnTo>
                  <a:lnTo>
                    <a:pt x="43666" y="43666"/>
                  </a:lnTo>
                  <a:lnTo>
                    <a:pt x="22179" y="75467"/>
                  </a:lnTo>
                  <a:lnTo>
                    <a:pt x="14287" y="114300"/>
                  </a:lnTo>
                  <a:lnTo>
                    <a:pt x="14287" y="4457700"/>
                  </a:lnTo>
                  <a:lnTo>
                    <a:pt x="22179" y="4496533"/>
                  </a:lnTo>
                  <a:lnTo>
                    <a:pt x="43666" y="4528333"/>
                  </a:lnTo>
                  <a:lnTo>
                    <a:pt x="75467" y="4549821"/>
                  </a:lnTo>
                  <a:lnTo>
                    <a:pt x="114300" y="4557712"/>
                  </a:lnTo>
                  <a:lnTo>
                    <a:pt x="2428636" y="4557712"/>
                  </a:lnTo>
                  <a:lnTo>
                    <a:pt x="2420839" y="4562981"/>
                  </a:lnTo>
                  <a:lnTo>
                    <a:pt x="2376458" y="4572000"/>
                  </a:lnTo>
                  <a:close/>
                </a:path>
                <a:path w="2491104" h="4572000">
                  <a:moveTo>
                    <a:pt x="2428636" y="4557712"/>
                  </a:moveTo>
                  <a:lnTo>
                    <a:pt x="2376458" y="4557712"/>
                  </a:lnTo>
                  <a:lnTo>
                    <a:pt x="2415312" y="4549821"/>
                  </a:lnTo>
                  <a:lnTo>
                    <a:pt x="2447110" y="4528333"/>
                  </a:lnTo>
                  <a:lnTo>
                    <a:pt x="2468586" y="4496533"/>
                  </a:lnTo>
                  <a:lnTo>
                    <a:pt x="2476471" y="4457700"/>
                  </a:lnTo>
                  <a:lnTo>
                    <a:pt x="2476471" y="114300"/>
                  </a:lnTo>
                  <a:lnTo>
                    <a:pt x="2468586" y="75467"/>
                  </a:lnTo>
                  <a:lnTo>
                    <a:pt x="2447110" y="43666"/>
                  </a:lnTo>
                  <a:lnTo>
                    <a:pt x="2415312" y="22179"/>
                  </a:lnTo>
                  <a:lnTo>
                    <a:pt x="2376458" y="14287"/>
                  </a:lnTo>
                  <a:lnTo>
                    <a:pt x="2428636" y="14287"/>
                  </a:lnTo>
                  <a:lnTo>
                    <a:pt x="2457183" y="33575"/>
                  </a:lnTo>
                  <a:lnTo>
                    <a:pt x="2481740" y="69919"/>
                  </a:lnTo>
                  <a:lnTo>
                    <a:pt x="2490758" y="114300"/>
                  </a:lnTo>
                  <a:lnTo>
                    <a:pt x="2490758" y="4457700"/>
                  </a:lnTo>
                  <a:lnTo>
                    <a:pt x="2481740" y="4502080"/>
                  </a:lnTo>
                  <a:lnTo>
                    <a:pt x="2457183" y="4538424"/>
                  </a:lnTo>
                  <a:lnTo>
                    <a:pt x="2428636" y="4557712"/>
                  </a:lnTo>
                  <a:close/>
                </a:path>
              </a:pathLst>
            </a:custGeom>
            <a:solidFill>
              <a:srgbClr val="CAD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69526" y="2032231"/>
              <a:ext cx="2176780" cy="14604"/>
            </a:xfrm>
            <a:custGeom>
              <a:avLst/>
              <a:gdLst/>
              <a:ahLst/>
              <a:cxnLst/>
              <a:rect l="l" t="t" r="r" b="b"/>
              <a:pathLst>
                <a:path w="2176779" h="14605">
                  <a:moveTo>
                    <a:pt x="2176462" y="14287"/>
                  </a:moveTo>
                  <a:lnTo>
                    <a:pt x="0" y="14287"/>
                  </a:lnTo>
                  <a:lnTo>
                    <a:pt x="0" y="0"/>
                  </a:lnTo>
                  <a:lnTo>
                    <a:pt x="2176462" y="0"/>
                  </a:lnTo>
                  <a:lnTo>
                    <a:pt x="2176462" y="14287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69526" y="2160822"/>
              <a:ext cx="2176780" cy="638810"/>
            </a:xfrm>
            <a:custGeom>
              <a:avLst/>
              <a:gdLst/>
              <a:ahLst/>
              <a:cxnLst/>
              <a:rect l="l" t="t" r="r" b="b"/>
              <a:pathLst>
                <a:path w="2176779" h="638810">
                  <a:moveTo>
                    <a:pt x="2100233" y="638803"/>
                  </a:moveTo>
                  <a:lnTo>
                    <a:pt x="76200" y="638803"/>
                  </a:lnTo>
                  <a:lnTo>
                    <a:pt x="46612" y="632791"/>
                  </a:lnTo>
                  <a:lnTo>
                    <a:pt x="22383" y="616419"/>
                  </a:lnTo>
                  <a:lnTo>
                    <a:pt x="6012" y="592190"/>
                  </a:lnTo>
                  <a:lnTo>
                    <a:pt x="0" y="56260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62603"/>
                  </a:lnTo>
                  <a:lnTo>
                    <a:pt x="2170421" y="592190"/>
                  </a:lnTo>
                  <a:lnTo>
                    <a:pt x="2154050" y="616419"/>
                  </a:lnTo>
                  <a:lnTo>
                    <a:pt x="2129821" y="632791"/>
                  </a:lnTo>
                  <a:lnTo>
                    <a:pt x="2100233" y="638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69526" y="2160822"/>
              <a:ext cx="2176780" cy="638810"/>
            </a:xfrm>
            <a:custGeom>
              <a:avLst/>
              <a:gdLst/>
              <a:ahLst/>
              <a:cxnLst/>
              <a:rect l="l" t="t" r="r" b="b"/>
              <a:pathLst>
                <a:path w="2176779" h="638810">
                  <a:moveTo>
                    <a:pt x="2100233" y="638803"/>
                  </a:moveTo>
                  <a:lnTo>
                    <a:pt x="76200" y="638803"/>
                  </a:lnTo>
                  <a:lnTo>
                    <a:pt x="46612" y="632791"/>
                  </a:lnTo>
                  <a:lnTo>
                    <a:pt x="22383" y="616419"/>
                  </a:lnTo>
                  <a:lnTo>
                    <a:pt x="6012" y="592190"/>
                  </a:lnTo>
                  <a:lnTo>
                    <a:pt x="0" y="56260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35019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62603"/>
                  </a:lnTo>
                  <a:lnTo>
                    <a:pt x="14786" y="588492"/>
                  </a:lnTo>
                  <a:lnTo>
                    <a:pt x="29110" y="609692"/>
                  </a:lnTo>
                  <a:lnTo>
                    <a:pt x="50311" y="624017"/>
                  </a:lnTo>
                  <a:lnTo>
                    <a:pt x="76200" y="629278"/>
                  </a:lnTo>
                  <a:lnTo>
                    <a:pt x="2135019" y="629278"/>
                  </a:lnTo>
                  <a:lnTo>
                    <a:pt x="2129821" y="632791"/>
                  </a:lnTo>
                  <a:lnTo>
                    <a:pt x="2100233" y="638803"/>
                  </a:lnTo>
                  <a:close/>
                </a:path>
                <a:path w="2176779" h="638810">
                  <a:moveTo>
                    <a:pt x="2135019" y="629278"/>
                  </a:moveTo>
                  <a:lnTo>
                    <a:pt x="2100233" y="629278"/>
                  </a:lnTo>
                  <a:lnTo>
                    <a:pt x="2126122" y="624017"/>
                  </a:lnTo>
                  <a:lnTo>
                    <a:pt x="2147323" y="609692"/>
                  </a:lnTo>
                  <a:lnTo>
                    <a:pt x="2161647" y="588492"/>
                  </a:lnTo>
                  <a:lnTo>
                    <a:pt x="2166908" y="562603"/>
                  </a:lnTo>
                  <a:lnTo>
                    <a:pt x="2166908" y="76200"/>
                  </a:lnTo>
                  <a:lnTo>
                    <a:pt x="2161647" y="50311"/>
                  </a:lnTo>
                  <a:lnTo>
                    <a:pt x="2147323" y="29110"/>
                  </a:lnTo>
                  <a:lnTo>
                    <a:pt x="2126122" y="14786"/>
                  </a:lnTo>
                  <a:lnTo>
                    <a:pt x="2100233" y="9525"/>
                  </a:lnTo>
                  <a:lnTo>
                    <a:pt x="2135019" y="9525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62603"/>
                  </a:lnTo>
                  <a:lnTo>
                    <a:pt x="2170421" y="592190"/>
                  </a:lnTo>
                  <a:lnTo>
                    <a:pt x="2154050" y="616419"/>
                  </a:lnTo>
                  <a:lnTo>
                    <a:pt x="2135019" y="629278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69526" y="2913926"/>
              <a:ext cx="2176780" cy="621030"/>
            </a:xfrm>
            <a:custGeom>
              <a:avLst/>
              <a:gdLst/>
              <a:ahLst/>
              <a:cxnLst/>
              <a:rect l="l" t="t" r="r" b="b"/>
              <a:pathLst>
                <a:path w="2176779" h="621029">
                  <a:moveTo>
                    <a:pt x="2100233" y="621030"/>
                  </a:moveTo>
                  <a:lnTo>
                    <a:pt x="76200" y="621030"/>
                  </a:lnTo>
                  <a:lnTo>
                    <a:pt x="46612" y="615017"/>
                  </a:lnTo>
                  <a:lnTo>
                    <a:pt x="22383" y="598646"/>
                  </a:lnTo>
                  <a:lnTo>
                    <a:pt x="6012" y="574417"/>
                  </a:lnTo>
                  <a:lnTo>
                    <a:pt x="0" y="54483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44830"/>
                  </a:lnTo>
                  <a:lnTo>
                    <a:pt x="2170421" y="574417"/>
                  </a:lnTo>
                  <a:lnTo>
                    <a:pt x="2154050" y="598646"/>
                  </a:lnTo>
                  <a:lnTo>
                    <a:pt x="2129821" y="615017"/>
                  </a:lnTo>
                  <a:lnTo>
                    <a:pt x="2100233" y="62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69526" y="2913926"/>
              <a:ext cx="2176780" cy="621030"/>
            </a:xfrm>
            <a:custGeom>
              <a:avLst/>
              <a:gdLst/>
              <a:ahLst/>
              <a:cxnLst/>
              <a:rect l="l" t="t" r="r" b="b"/>
              <a:pathLst>
                <a:path w="2176779" h="621029">
                  <a:moveTo>
                    <a:pt x="2100233" y="621030"/>
                  </a:moveTo>
                  <a:lnTo>
                    <a:pt x="76200" y="621030"/>
                  </a:lnTo>
                  <a:lnTo>
                    <a:pt x="46612" y="615017"/>
                  </a:lnTo>
                  <a:lnTo>
                    <a:pt x="22383" y="598646"/>
                  </a:lnTo>
                  <a:lnTo>
                    <a:pt x="6012" y="574417"/>
                  </a:lnTo>
                  <a:lnTo>
                    <a:pt x="0" y="54483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35019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544830"/>
                  </a:lnTo>
                  <a:lnTo>
                    <a:pt x="14786" y="570718"/>
                  </a:lnTo>
                  <a:lnTo>
                    <a:pt x="29110" y="591919"/>
                  </a:lnTo>
                  <a:lnTo>
                    <a:pt x="50311" y="606243"/>
                  </a:lnTo>
                  <a:lnTo>
                    <a:pt x="76200" y="611505"/>
                  </a:lnTo>
                  <a:lnTo>
                    <a:pt x="2135019" y="611505"/>
                  </a:lnTo>
                  <a:lnTo>
                    <a:pt x="2129821" y="615017"/>
                  </a:lnTo>
                  <a:lnTo>
                    <a:pt x="2100233" y="621030"/>
                  </a:lnTo>
                  <a:close/>
                </a:path>
                <a:path w="2176779" h="621029">
                  <a:moveTo>
                    <a:pt x="2135019" y="611505"/>
                  </a:moveTo>
                  <a:lnTo>
                    <a:pt x="2100233" y="611505"/>
                  </a:lnTo>
                  <a:lnTo>
                    <a:pt x="2126122" y="606243"/>
                  </a:lnTo>
                  <a:lnTo>
                    <a:pt x="2147323" y="591919"/>
                  </a:lnTo>
                  <a:lnTo>
                    <a:pt x="2161647" y="570718"/>
                  </a:lnTo>
                  <a:lnTo>
                    <a:pt x="2166908" y="544830"/>
                  </a:lnTo>
                  <a:lnTo>
                    <a:pt x="2166908" y="76200"/>
                  </a:lnTo>
                  <a:lnTo>
                    <a:pt x="2161647" y="50311"/>
                  </a:lnTo>
                  <a:lnTo>
                    <a:pt x="2147323" y="29110"/>
                  </a:lnTo>
                  <a:lnTo>
                    <a:pt x="2126122" y="14786"/>
                  </a:lnTo>
                  <a:lnTo>
                    <a:pt x="2100233" y="9525"/>
                  </a:lnTo>
                  <a:lnTo>
                    <a:pt x="2135019" y="9525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44830"/>
                  </a:lnTo>
                  <a:lnTo>
                    <a:pt x="2170421" y="574417"/>
                  </a:lnTo>
                  <a:lnTo>
                    <a:pt x="2154050" y="598646"/>
                  </a:lnTo>
                  <a:lnTo>
                    <a:pt x="2135019" y="61150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69526" y="3649255"/>
              <a:ext cx="2176780" cy="603885"/>
            </a:xfrm>
            <a:custGeom>
              <a:avLst/>
              <a:gdLst/>
              <a:ahLst/>
              <a:cxnLst/>
              <a:rect l="l" t="t" r="r" b="b"/>
              <a:pathLst>
                <a:path w="2176779" h="603885">
                  <a:moveTo>
                    <a:pt x="2100233" y="603256"/>
                  </a:moveTo>
                  <a:lnTo>
                    <a:pt x="76200" y="603256"/>
                  </a:lnTo>
                  <a:lnTo>
                    <a:pt x="46612" y="597243"/>
                  </a:lnTo>
                  <a:lnTo>
                    <a:pt x="22383" y="580872"/>
                  </a:lnTo>
                  <a:lnTo>
                    <a:pt x="6012" y="556643"/>
                  </a:lnTo>
                  <a:lnTo>
                    <a:pt x="0" y="52705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100233" y="0"/>
                  </a:lnTo>
                  <a:lnTo>
                    <a:pt x="2129821" y="6012"/>
                  </a:lnTo>
                  <a:lnTo>
                    <a:pt x="2154050" y="22383"/>
                  </a:lnTo>
                  <a:lnTo>
                    <a:pt x="2170421" y="46612"/>
                  </a:lnTo>
                  <a:lnTo>
                    <a:pt x="2176433" y="76200"/>
                  </a:lnTo>
                  <a:lnTo>
                    <a:pt x="2176433" y="527056"/>
                  </a:lnTo>
                  <a:lnTo>
                    <a:pt x="2170421" y="556643"/>
                  </a:lnTo>
                  <a:lnTo>
                    <a:pt x="2154050" y="580872"/>
                  </a:lnTo>
                  <a:lnTo>
                    <a:pt x="2129821" y="597243"/>
                  </a:lnTo>
                  <a:lnTo>
                    <a:pt x="2100233" y="603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69516" y="3649268"/>
              <a:ext cx="2176780" cy="779780"/>
            </a:xfrm>
            <a:custGeom>
              <a:avLst/>
              <a:gdLst/>
              <a:ahLst/>
              <a:cxnLst/>
              <a:rect l="l" t="t" r="r" b="b"/>
              <a:pathLst>
                <a:path w="2176779" h="779779">
                  <a:moveTo>
                    <a:pt x="2176437" y="76200"/>
                  </a:moveTo>
                  <a:lnTo>
                    <a:pt x="2170430" y="46609"/>
                  </a:lnTo>
                  <a:lnTo>
                    <a:pt x="2166912" y="41402"/>
                  </a:lnTo>
                  <a:lnTo>
                    <a:pt x="2166912" y="76200"/>
                  </a:lnTo>
                  <a:lnTo>
                    <a:pt x="2166912" y="527050"/>
                  </a:lnTo>
                  <a:lnTo>
                    <a:pt x="2161654" y="552932"/>
                  </a:lnTo>
                  <a:lnTo>
                    <a:pt x="2147328" y="574141"/>
                  </a:lnTo>
                  <a:lnTo>
                    <a:pt x="2126132" y="588467"/>
                  </a:lnTo>
                  <a:lnTo>
                    <a:pt x="2100237" y="593725"/>
                  </a:lnTo>
                  <a:lnTo>
                    <a:pt x="76200" y="593725"/>
                  </a:lnTo>
                  <a:lnTo>
                    <a:pt x="50317" y="588467"/>
                  </a:lnTo>
                  <a:lnTo>
                    <a:pt x="29108" y="574141"/>
                  </a:lnTo>
                  <a:lnTo>
                    <a:pt x="14795" y="552932"/>
                  </a:lnTo>
                  <a:lnTo>
                    <a:pt x="9525" y="527050"/>
                  </a:lnTo>
                  <a:lnTo>
                    <a:pt x="9525" y="76200"/>
                  </a:lnTo>
                  <a:lnTo>
                    <a:pt x="14795" y="50304"/>
                  </a:lnTo>
                  <a:lnTo>
                    <a:pt x="29108" y="29108"/>
                  </a:lnTo>
                  <a:lnTo>
                    <a:pt x="50317" y="14782"/>
                  </a:lnTo>
                  <a:lnTo>
                    <a:pt x="76200" y="9525"/>
                  </a:lnTo>
                  <a:lnTo>
                    <a:pt x="2100237" y="9525"/>
                  </a:lnTo>
                  <a:lnTo>
                    <a:pt x="2126132" y="14782"/>
                  </a:lnTo>
                  <a:lnTo>
                    <a:pt x="2147328" y="29108"/>
                  </a:lnTo>
                  <a:lnTo>
                    <a:pt x="2161654" y="50304"/>
                  </a:lnTo>
                  <a:lnTo>
                    <a:pt x="2166912" y="76200"/>
                  </a:lnTo>
                  <a:lnTo>
                    <a:pt x="2166912" y="41402"/>
                  </a:lnTo>
                  <a:lnTo>
                    <a:pt x="2154059" y="22377"/>
                  </a:lnTo>
                  <a:lnTo>
                    <a:pt x="2135022" y="9525"/>
                  </a:lnTo>
                  <a:lnTo>
                    <a:pt x="2129828" y="6007"/>
                  </a:lnTo>
                  <a:lnTo>
                    <a:pt x="2100237" y="0"/>
                  </a:lnTo>
                  <a:lnTo>
                    <a:pt x="76200" y="0"/>
                  </a:lnTo>
                  <a:lnTo>
                    <a:pt x="46621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527050"/>
                  </a:lnTo>
                  <a:lnTo>
                    <a:pt x="6019" y="556641"/>
                  </a:lnTo>
                  <a:lnTo>
                    <a:pt x="22390" y="580872"/>
                  </a:lnTo>
                  <a:lnTo>
                    <a:pt x="46621" y="597242"/>
                  </a:lnTo>
                  <a:lnTo>
                    <a:pt x="76200" y="603250"/>
                  </a:lnTo>
                  <a:lnTo>
                    <a:pt x="2100237" y="603250"/>
                  </a:lnTo>
                  <a:lnTo>
                    <a:pt x="2129828" y="597242"/>
                  </a:lnTo>
                  <a:lnTo>
                    <a:pt x="2135022" y="593725"/>
                  </a:lnTo>
                  <a:lnTo>
                    <a:pt x="2154059" y="580872"/>
                  </a:lnTo>
                  <a:lnTo>
                    <a:pt x="2170430" y="556641"/>
                  </a:lnTo>
                  <a:lnTo>
                    <a:pt x="2176437" y="527050"/>
                  </a:lnTo>
                  <a:lnTo>
                    <a:pt x="2176437" y="76200"/>
                  </a:lnTo>
                  <a:close/>
                </a:path>
                <a:path w="2176779" h="779779">
                  <a:moveTo>
                    <a:pt x="2176462" y="765492"/>
                  </a:moveTo>
                  <a:lnTo>
                    <a:pt x="0" y="765492"/>
                  </a:lnTo>
                  <a:lnTo>
                    <a:pt x="0" y="779780"/>
                  </a:lnTo>
                  <a:lnTo>
                    <a:pt x="2176462" y="779780"/>
                  </a:lnTo>
                  <a:lnTo>
                    <a:pt x="2176462" y="765492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9526" y="4824012"/>
              <a:ext cx="133350" cy="1333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9526" y="5051335"/>
              <a:ext cx="133350" cy="133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9526" y="5506002"/>
              <a:ext cx="133350" cy="133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9526" y="5278669"/>
              <a:ext cx="133350" cy="1333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169526" y="5829528"/>
              <a:ext cx="2176780" cy="9525"/>
            </a:xfrm>
            <a:custGeom>
              <a:avLst/>
              <a:gdLst/>
              <a:ahLst/>
              <a:cxnLst/>
              <a:rect l="l" t="t" r="r" b="b"/>
              <a:pathLst>
                <a:path w="2176779" h="9525">
                  <a:moveTo>
                    <a:pt x="2176462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176462" y="0"/>
                  </a:lnTo>
                  <a:lnTo>
                    <a:pt x="2176462" y="9525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Estructura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Flota:</a:t>
            </a:r>
            <a:r>
              <a:rPr spc="-70" dirty="0"/>
              <a:t> </a:t>
            </a:r>
            <a:r>
              <a:rPr dirty="0"/>
              <a:t>Participación</a:t>
            </a:r>
            <a:r>
              <a:rPr spc="-65" dirty="0"/>
              <a:t> </a:t>
            </a:r>
            <a:r>
              <a:rPr dirty="0"/>
              <a:t>por</a:t>
            </a:r>
            <a:r>
              <a:rPr spc="-70" dirty="0"/>
              <a:t> </a:t>
            </a:r>
            <a:r>
              <a:rPr dirty="0"/>
              <a:t>Puerto</a:t>
            </a:r>
            <a:r>
              <a:rPr spc="-70" dirty="0"/>
              <a:t> </a:t>
            </a:r>
            <a:r>
              <a:rPr dirty="0"/>
              <a:t>y</a:t>
            </a:r>
            <a:r>
              <a:rPr spc="-70" dirty="0"/>
              <a:t> </a:t>
            </a:r>
            <a:r>
              <a:rPr spc="-20" dirty="0"/>
              <a:t>Ruta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1326764" y="2278294"/>
            <a:ext cx="6017895" cy="3017520"/>
            <a:chOff x="1326764" y="2278294"/>
            <a:chExt cx="6017895" cy="3017520"/>
          </a:xfrm>
        </p:grpSpPr>
        <p:sp>
          <p:nvSpPr>
            <p:cNvPr id="22" name="object 22"/>
            <p:cNvSpPr/>
            <p:nvPr/>
          </p:nvSpPr>
          <p:spPr>
            <a:xfrm>
              <a:off x="1335337" y="28012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5337" y="28012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35337" y="45157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35337" y="4515716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49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49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64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64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78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786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93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318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0287">
              <a:solidFill>
                <a:srgbClr val="E2E8E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3533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300037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35337" y="2286866"/>
              <a:ext cx="0" cy="3000375"/>
            </a:xfrm>
            <a:custGeom>
              <a:avLst/>
              <a:gdLst/>
              <a:ahLst/>
              <a:cxnLst/>
              <a:rect l="l" t="t" r="r" b="b"/>
              <a:pathLst>
                <a:path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ln w="1714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35337" y="5287241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60007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35337" y="5287241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ln w="17145">
              <a:solidFill>
                <a:srgbClr val="CA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41238" y="2719936"/>
            <a:ext cx="3784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32110" y="4434436"/>
            <a:ext cx="1879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25" dirty="0">
                <a:solidFill>
                  <a:srgbClr val="0F2B59"/>
                </a:solidFill>
                <a:latin typeface="Verdana"/>
                <a:cs typeface="Verdana"/>
              </a:rPr>
              <a:t>Ilo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6246" y="3227280"/>
            <a:ext cx="161290" cy="1120140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Puertos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de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Verdana"/>
                <a:cs typeface="Verdana"/>
              </a:rPr>
              <a:t>Salida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60581" y="5325976"/>
            <a:ext cx="3784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Callao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10946" y="5325976"/>
            <a:ext cx="53594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Matarani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87498" y="5325976"/>
            <a:ext cx="6115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Mejillones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06241" y="5273750"/>
            <a:ext cx="1642110" cy="3917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800" b="1" spc="-10" dirty="0">
                <a:solidFill>
                  <a:srgbClr val="0F2B59"/>
                </a:solidFill>
                <a:latin typeface="Verdana"/>
                <a:cs typeface="Verdana"/>
              </a:rPr>
              <a:t>Marcona</a:t>
            </a:r>
            <a:endParaRPr sz="800">
              <a:latin typeface="Verdana"/>
              <a:cs typeface="Verdana"/>
            </a:endParaRPr>
          </a:p>
          <a:p>
            <a:pPr marL="429259">
              <a:lnSpc>
                <a:spcPct val="100000"/>
              </a:lnSpc>
              <a:spcBef>
                <a:spcPts val="475"/>
              </a:spcBef>
            </a:pP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Puertos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dirty="0">
                <a:solidFill>
                  <a:srgbClr val="465469"/>
                </a:solidFill>
                <a:latin typeface="Verdana"/>
                <a:cs typeface="Verdana"/>
              </a:rPr>
              <a:t>de</a:t>
            </a:r>
            <a:r>
              <a:rPr sz="850" b="1" spc="70" dirty="0">
                <a:solidFill>
                  <a:srgbClr val="465469"/>
                </a:solidFill>
                <a:latin typeface="Verdana"/>
                <a:cs typeface="Verdana"/>
              </a:rPr>
              <a:t> </a:t>
            </a:r>
            <a:r>
              <a:rPr sz="850" b="1" spc="-10" dirty="0">
                <a:solidFill>
                  <a:srgbClr val="465469"/>
                </a:solidFill>
                <a:latin typeface="Verdana"/>
                <a:cs typeface="Verdana"/>
              </a:rPr>
              <a:t>Llegada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102129" y="2339158"/>
            <a:ext cx="924560" cy="924560"/>
            <a:chOff x="3102129" y="2339158"/>
            <a:chExt cx="924560" cy="924560"/>
          </a:xfrm>
        </p:grpSpPr>
        <p:sp>
          <p:nvSpPr>
            <p:cNvPr id="46" name="object 46"/>
            <p:cNvSpPr/>
            <p:nvPr/>
          </p:nvSpPr>
          <p:spPr>
            <a:xfrm>
              <a:off x="3110702" y="2347731"/>
              <a:ext cx="907415" cy="907415"/>
            </a:xfrm>
            <a:custGeom>
              <a:avLst/>
              <a:gdLst/>
              <a:ahLst/>
              <a:cxnLst/>
              <a:rect l="l" t="t" r="r" b="b"/>
              <a:pathLst>
                <a:path w="907414" h="907414">
                  <a:moveTo>
                    <a:pt x="906970" y="453485"/>
                  </a:moveTo>
                  <a:lnTo>
                    <a:pt x="904688" y="500741"/>
                  </a:lnTo>
                  <a:lnTo>
                    <a:pt x="897978" y="546429"/>
                  </a:lnTo>
                  <a:lnTo>
                    <a:pt x="887045" y="590343"/>
                  </a:lnTo>
                  <a:lnTo>
                    <a:pt x="872093" y="632281"/>
                  </a:lnTo>
                  <a:lnTo>
                    <a:pt x="853325" y="672036"/>
                  </a:lnTo>
                  <a:lnTo>
                    <a:pt x="830946" y="709407"/>
                  </a:lnTo>
                  <a:lnTo>
                    <a:pt x="805161" y="744187"/>
                  </a:lnTo>
                  <a:lnTo>
                    <a:pt x="776173" y="776173"/>
                  </a:lnTo>
                  <a:lnTo>
                    <a:pt x="744187" y="805161"/>
                  </a:lnTo>
                  <a:lnTo>
                    <a:pt x="709407" y="830946"/>
                  </a:lnTo>
                  <a:lnTo>
                    <a:pt x="672036" y="853325"/>
                  </a:lnTo>
                  <a:lnTo>
                    <a:pt x="632281" y="872093"/>
                  </a:lnTo>
                  <a:lnTo>
                    <a:pt x="590343" y="887045"/>
                  </a:lnTo>
                  <a:lnTo>
                    <a:pt x="546429" y="897978"/>
                  </a:lnTo>
                  <a:lnTo>
                    <a:pt x="500741" y="904688"/>
                  </a:lnTo>
                  <a:lnTo>
                    <a:pt x="453485" y="906970"/>
                  </a:lnTo>
                  <a:lnTo>
                    <a:pt x="406228" y="904688"/>
                  </a:lnTo>
                  <a:lnTo>
                    <a:pt x="360541" y="897978"/>
                  </a:lnTo>
                  <a:lnTo>
                    <a:pt x="316626" y="887045"/>
                  </a:lnTo>
                  <a:lnTo>
                    <a:pt x="274689" y="872093"/>
                  </a:lnTo>
                  <a:lnTo>
                    <a:pt x="234933" y="853325"/>
                  </a:lnTo>
                  <a:lnTo>
                    <a:pt x="197563" y="830946"/>
                  </a:lnTo>
                  <a:lnTo>
                    <a:pt x="162783" y="805161"/>
                  </a:lnTo>
                  <a:lnTo>
                    <a:pt x="130797" y="776173"/>
                  </a:lnTo>
                  <a:lnTo>
                    <a:pt x="101809" y="744187"/>
                  </a:lnTo>
                  <a:lnTo>
                    <a:pt x="76023" y="709407"/>
                  </a:lnTo>
                  <a:lnTo>
                    <a:pt x="53645" y="672036"/>
                  </a:lnTo>
                  <a:lnTo>
                    <a:pt x="34877" y="632281"/>
                  </a:lnTo>
                  <a:lnTo>
                    <a:pt x="19924" y="590343"/>
                  </a:lnTo>
                  <a:lnTo>
                    <a:pt x="8991" y="546429"/>
                  </a:lnTo>
                  <a:lnTo>
                    <a:pt x="2281" y="500741"/>
                  </a:lnTo>
                  <a:lnTo>
                    <a:pt x="0" y="453485"/>
                  </a:lnTo>
                  <a:lnTo>
                    <a:pt x="2281" y="406229"/>
                  </a:lnTo>
                  <a:lnTo>
                    <a:pt x="8991" y="360542"/>
                  </a:lnTo>
                  <a:lnTo>
                    <a:pt x="19924" y="316627"/>
                  </a:lnTo>
                  <a:lnTo>
                    <a:pt x="34877" y="274690"/>
                  </a:lnTo>
                  <a:lnTo>
                    <a:pt x="53645" y="234935"/>
                  </a:lnTo>
                  <a:lnTo>
                    <a:pt x="76023" y="197564"/>
                  </a:lnTo>
                  <a:lnTo>
                    <a:pt x="101809" y="162784"/>
                  </a:lnTo>
                  <a:lnTo>
                    <a:pt x="130797" y="130798"/>
                  </a:lnTo>
                  <a:lnTo>
                    <a:pt x="162783" y="101810"/>
                  </a:lnTo>
                  <a:lnTo>
                    <a:pt x="197563" y="76024"/>
                  </a:lnTo>
                  <a:lnTo>
                    <a:pt x="234933" y="53645"/>
                  </a:lnTo>
                  <a:lnTo>
                    <a:pt x="274689" y="34877"/>
                  </a:lnTo>
                  <a:lnTo>
                    <a:pt x="316626" y="19925"/>
                  </a:lnTo>
                  <a:lnTo>
                    <a:pt x="360541" y="8991"/>
                  </a:lnTo>
                  <a:lnTo>
                    <a:pt x="406228" y="2281"/>
                  </a:lnTo>
                  <a:lnTo>
                    <a:pt x="453485" y="0"/>
                  </a:lnTo>
                  <a:lnTo>
                    <a:pt x="500741" y="2281"/>
                  </a:lnTo>
                  <a:lnTo>
                    <a:pt x="546429" y="8991"/>
                  </a:lnTo>
                  <a:lnTo>
                    <a:pt x="590343" y="19925"/>
                  </a:lnTo>
                  <a:lnTo>
                    <a:pt x="632281" y="34877"/>
                  </a:lnTo>
                  <a:lnTo>
                    <a:pt x="672036" y="53645"/>
                  </a:lnTo>
                  <a:lnTo>
                    <a:pt x="709407" y="76024"/>
                  </a:lnTo>
                  <a:lnTo>
                    <a:pt x="744187" y="101810"/>
                  </a:lnTo>
                  <a:lnTo>
                    <a:pt x="776173" y="130798"/>
                  </a:lnTo>
                  <a:lnTo>
                    <a:pt x="805161" y="162784"/>
                  </a:lnTo>
                  <a:lnTo>
                    <a:pt x="830946" y="197564"/>
                  </a:lnTo>
                  <a:lnTo>
                    <a:pt x="853325" y="234935"/>
                  </a:lnTo>
                  <a:lnTo>
                    <a:pt x="872093" y="274690"/>
                  </a:lnTo>
                  <a:lnTo>
                    <a:pt x="887045" y="316627"/>
                  </a:lnTo>
                  <a:lnTo>
                    <a:pt x="897978" y="360542"/>
                  </a:lnTo>
                  <a:lnTo>
                    <a:pt x="904688" y="406229"/>
                  </a:lnTo>
                  <a:lnTo>
                    <a:pt x="906970" y="453485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64187" y="2347731"/>
              <a:ext cx="454659" cy="820419"/>
            </a:xfrm>
            <a:custGeom>
              <a:avLst/>
              <a:gdLst/>
              <a:ahLst/>
              <a:cxnLst/>
              <a:rect l="l" t="t" r="r" b="b"/>
              <a:pathLst>
                <a:path w="454660" h="820419">
                  <a:moveTo>
                    <a:pt x="266519" y="820388"/>
                  </a:moveTo>
                  <a:lnTo>
                    <a:pt x="0" y="453485"/>
                  </a:lnTo>
                  <a:lnTo>
                    <a:pt x="0" y="0"/>
                  </a:lnTo>
                  <a:lnTo>
                    <a:pt x="44520" y="1969"/>
                  </a:lnTo>
                  <a:lnTo>
                    <a:pt x="87139" y="7737"/>
                  </a:lnTo>
                  <a:lnTo>
                    <a:pt x="127789" y="17089"/>
                  </a:lnTo>
                  <a:lnTo>
                    <a:pt x="166400" y="29813"/>
                  </a:lnTo>
                  <a:lnTo>
                    <a:pt x="202903" y="45695"/>
                  </a:lnTo>
                  <a:lnTo>
                    <a:pt x="237228" y="64523"/>
                  </a:lnTo>
                  <a:lnTo>
                    <a:pt x="269307" y="86083"/>
                  </a:lnTo>
                  <a:lnTo>
                    <a:pt x="299070" y="110163"/>
                  </a:lnTo>
                  <a:lnTo>
                    <a:pt x="351372" y="165027"/>
                  </a:lnTo>
                  <a:lnTo>
                    <a:pt x="393579" y="227411"/>
                  </a:lnTo>
                  <a:lnTo>
                    <a:pt x="425138" y="295611"/>
                  </a:lnTo>
                  <a:lnTo>
                    <a:pt x="445495" y="367921"/>
                  </a:lnTo>
                  <a:lnTo>
                    <a:pt x="454097" y="442636"/>
                  </a:lnTo>
                  <a:lnTo>
                    <a:pt x="453816" y="480363"/>
                  </a:lnTo>
                  <a:lnTo>
                    <a:pt x="443745" y="555490"/>
                  </a:lnTo>
                  <a:lnTo>
                    <a:pt x="433816" y="592464"/>
                  </a:lnTo>
                  <a:lnTo>
                    <a:pt x="420534" y="628761"/>
                  </a:lnTo>
                  <a:lnTo>
                    <a:pt x="403827" y="664167"/>
                  </a:lnTo>
                  <a:lnTo>
                    <a:pt x="383628" y="698471"/>
                  </a:lnTo>
                  <a:lnTo>
                    <a:pt x="359867" y="731457"/>
                  </a:lnTo>
                  <a:lnTo>
                    <a:pt x="332474" y="762915"/>
                  </a:lnTo>
                  <a:lnTo>
                    <a:pt x="301381" y="792629"/>
                  </a:lnTo>
                  <a:lnTo>
                    <a:pt x="266519" y="820388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64187" y="2347731"/>
              <a:ext cx="454659" cy="820419"/>
            </a:xfrm>
            <a:custGeom>
              <a:avLst/>
              <a:gdLst/>
              <a:ahLst/>
              <a:cxnLst/>
              <a:rect l="l" t="t" r="r" b="b"/>
              <a:pathLst>
                <a:path w="454660" h="820419">
                  <a:moveTo>
                    <a:pt x="0" y="453485"/>
                  </a:moveTo>
                  <a:lnTo>
                    <a:pt x="0" y="0"/>
                  </a:lnTo>
                  <a:lnTo>
                    <a:pt x="44520" y="1969"/>
                  </a:lnTo>
                  <a:lnTo>
                    <a:pt x="87139" y="7737"/>
                  </a:lnTo>
                  <a:lnTo>
                    <a:pt x="127789" y="17089"/>
                  </a:lnTo>
                  <a:lnTo>
                    <a:pt x="166400" y="29813"/>
                  </a:lnTo>
                  <a:lnTo>
                    <a:pt x="202903" y="45695"/>
                  </a:lnTo>
                  <a:lnTo>
                    <a:pt x="237228" y="64523"/>
                  </a:lnTo>
                  <a:lnTo>
                    <a:pt x="269307" y="86083"/>
                  </a:lnTo>
                  <a:lnTo>
                    <a:pt x="299070" y="110163"/>
                  </a:lnTo>
                  <a:lnTo>
                    <a:pt x="351372" y="165027"/>
                  </a:lnTo>
                  <a:lnTo>
                    <a:pt x="393579" y="227411"/>
                  </a:lnTo>
                  <a:lnTo>
                    <a:pt x="425138" y="295611"/>
                  </a:lnTo>
                  <a:lnTo>
                    <a:pt x="445495" y="367921"/>
                  </a:lnTo>
                  <a:lnTo>
                    <a:pt x="454097" y="442636"/>
                  </a:lnTo>
                  <a:lnTo>
                    <a:pt x="453816" y="480363"/>
                  </a:lnTo>
                  <a:lnTo>
                    <a:pt x="443745" y="555490"/>
                  </a:lnTo>
                  <a:lnTo>
                    <a:pt x="433816" y="592464"/>
                  </a:lnTo>
                  <a:lnTo>
                    <a:pt x="420534" y="628761"/>
                  </a:lnTo>
                  <a:lnTo>
                    <a:pt x="403827" y="664167"/>
                  </a:lnTo>
                  <a:lnTo>
                    <a:pt x="383628" y="698471"/>
                  </a:lnTo>
                  <a:lnTo>
                    <a:pt x="359867" y="731457"/>
                  </a:lnTo>
                  <a:lnTo>
                    <a:pt x="332474" y="762915"/>
                  </a:lnTo>
                  <a:lnTo>
                    <a:pt x="301381" y="792629"/>
                  </a:lnTo>
                  <a:lnTo>
                    <a:pt x="266519" y="820388"/>
                  </a:lnTo>
                  <a:lnTo>
                    <a:pt x="0" y="4534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797036" y="2659072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29729" y="2798041"/>
            <a:ext cx="704215" cy="460375"/>
            <a:chOff x="3129729" y="2798041"/>
            <a:chExt cx="704215" cy="460375"/>
          </a:xfrm>
        </p:grpSpPr>
        <p:sp>
          <p:nvSpPr>
            <p:cNvPr id="51" name="object 51"/>
            <p:cNvSpPr/>
            <p:nvPr/>
          </p:nvSpPr>
          <p:spPr>
            <a:xfrm>
              <a:off x="3132904" y="2801216"/>
              <a:ext cx="697865" cy="454025"/>
            </a:xfrm>
            <a:custGeom>
              <a:avLst/>
              <a:gdLst/>
              <a:ahLst/>
              <a:cxnLst/>
              <a:rect l="l" t="t" r="r" b="b"/>
              <a:pathLst>
                <a:path w="697864" h="454025">
                  <a:moveTo>
                    <a:pt x="441942" y="453616"/>
                  </a:moveTo>
                  <a:lnTo>
                    <a:pt x="398049" y="452419"/>
                  </a:lnTo>
                  <a:lnTo>
                    <a:pt x="354643" y="447025"/>
                  </a:lnTo>
                  <a:lnTo>
                    <a:pt x="312042" y="437537"/>
                  </a:lnTo>
                  <a:lnTo>
                    <a:pt x="270562" y="424059"/>
                  </a:lnTo>
                  <a:lnTo>
                    <a:pt x="230521" y="406693"/>
                  </a:lnTo>
                  <a:lnTo>
                    <a:pt x="192235" y="385542"/>
                  </a:lnTo>
                  <a:lnTo>
                    <a:pt x="156021" y="360709"/>
                  </a:lnTo>
                  <a:lnTo>
                    <a:pt x="122197" y="332297"/>
                  </a:lnTo>
                  <a:lnTo>
                    <a:pt x="91078" y="300410"/>
                  </a:lnTo>
                  <a:lnTo>
                    <a:pt x="62982" y="265149"/>
                  </a:lnTo>
                  <a:lnTo>
                    <a:pt x="38225" y="226619"/>
                  </a:lnTo>
                  <a:lnTo>
                    <a:pt x="17126" y="184921"/>
                  </a:lnTo>
                  <a:lnTo>
                    <a:pt x="0" y="140160"/>
                  </a:lnTo>
                  <a:lnTo>
                    <a:pt x="431282" y="0"/>
                  </a:lnTo>
                  <a:lnTo>
                    <a:pt x="697801" y="366903"/>
                  </a:lnTo>
                  <a:lnTo>
                    <a:pt x="657635" y="393048"/>
                  </a:lnTo>
                  <a:lnTo>
                    <a:pt x="616056" y="414379"/>
                  </a:lnTo>
                  <a:lnTo>
                    <a:pt x="573381" y="430998"/>
                  </a:lnTo>
                  <a:lnTo>
                    <a:pt x="529925" y="443009"/>
                  </a:lnTo>
                  <a:lnTo>
                    <a:pt x="486007" y="450514"/>
                  </a:lnTo>
                  <a:lnTo>
                    <a:pt x="441942" y="453616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32904" y="2801216"/>
              <a:ext cx="697865" cy="454025"/>
            </a:xfrm>
            <a:custGeom>
              <a:avLst/>
              <a:gdLst/>
              <a:ahLst/>
              <a:cxnLst/>
              <a:rect l="l" t="t" r="r" b="b"/>
              <a:pathLst>
                <a:path w="697864" h="454025">
                  <a:moveTo>
                    <a:pt x="431282" y="0"/>
                  </a:moveTo>
                  <a:lnTo>
                    <a:pt x="697801" y="366903"/>
                  </a:lnTo>
                  <a:lnTo>
                    <a:pt x="657635" y="393048"/>
                  </a:lnTo>
                  <a:lnTo>
                    <a:pt x="616056" y="414379"/>
                  </a:lnTo>
                  <a:lnTo>
                    <a:pt x="573381" y="430998"/>
                  </a:lnTo>
                  <a:lnTo>
                    <a:pt x="529925" y="443009"/>
                  </a:lnTo>
                  <a:lnTo>
                    <a:pt x="486007" y="450514"/>
                  </a:lnTo>
                  <a:lnTo>
                    <a:pt x="441942" y="453616"/>
                  </a:lnTo>
                  <a:lnTo>
                    <a:pt x="398049" y="452419"/>
                  </a:lnTo>
                  <a:lnTo>
                    <a:pt x="354643" y="447025"/>
                  </a:lnTo>
                  <a:lnTo>
                    <a:pt x="312042" y="437537"/>
                  </a:lnTo>
                  <a:lnTo>
                    <a:pt x="270562" y="424059"/>
                  </a:lnTo>
                  <a:lnTo>
                    <a:pt x="230521" y="406693"/>
                  </a:lnTo>
                  <a:lnTo>
                    <a:pt x="192235" y="385542"/>
                  </a:lnTo>
                  <a:lnTo>
                    <a:pt x="156021" y="360709"/>
                  </a:lnTo>
                  <a:lnTo>
                    <a:pt x="122197" y="332297"/>
                  </a:lnTo>
                  <a:lnTo>
                    <a:pt x="91078" y="300410"/>
                  </a:lnTo>
                  <a:lnTo>
                    <a:pt x="62982" y="265149"/>
                  </a:lnTo>
                  <a:lnTo>
                    <a:pt x="38225" y="226619"/>
                  </a:lnTo>
                  <a:lnTo>
                    <a:pt x="17126" y="184921"/>
                  </a:lnTo>
                  <a:lnTo>
                    <a:pt x="0" y="140160"/>
                  </a:lnTo>
                  <a:lnTo>
                    <a:pt x="431282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447136" y="3013116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107499" y="2431138"/>
            <a:ext cx="460375" cy="513715"/>
            <a:chOff x="3107499" y="2431138"/>
            <a:chExt cx="460375" cy="513715"/>
          </a:xfrm>
        </p:grpSpPr>
        <p:sp>
          <p:nvSpPr>
            <p:cNvPr id="55" name="object 55"/>
            <p:cNvSpPr/>
            <p:nvPr/>
          </p:nvSpPr>
          <p:spPr>
            <a:xfrm>
              <a:off x="3110674" y="2434313"/>
              <a:ext cx="454025" cy="507365"/>
            </a:xfrm>
            <a:custGeom>
              <a:avLst/>
              <a:gdLst/>
              <a:ahLst/>
              <a:cxnLst/>
              <a:rect l="l" t="t" r="r" b="b"/>
              <a:pathLst>
                <a:path w="454025" h="507364">
                  <a:moveTo>
                    <a:pt x="22230" y="507063"/>
                  </a:moveTo>
                  <a:lnTo>
                    <a:pt x="9679" y="460036"/>
                  </a:lnTo>
                  <a:lnTo>
                    <a:pt x="2309" y="412638"/>
                  </a:lnTo>
                  <a:lnTo>
                    <a:pt x="0" y="365239"/>
                  </a:lnTo>
                  <a:lnTo>
                    <a:pt x="2630" y="318212"/>
                  </a:lnTo>
                  <a:lnTo>
                    <a:pt x="10079" y="271928"/>
                  </a:lnTo>
                  <a:lnTo>
                    <a:pt x="22225" y="226760"/>
                  </a:lnTo>
                  <a:lnTo>
                    <a:pt x="38949" y="183079"/>
                  </a:lnTo>
                  <a:lnTo>
                    <a:pt x="60129" y="141258"/>
                  </a:lnTo>
                  <a:lnTo>
                    <a:pt x="85644" y="101667"/>
                  </a:lnTo>
                  <a:lnTo>
                    <a:pt x="115374" y="64679"/>
                  </a:lnTo>
                  <a:lnTo>
                    <a:pt x="149197" y="30666"/>
                  </a:lnTo>
                  <a:lnTo>
                    <a:pt x="186993" y="0"/>
                  </a:lnTo>
                  <a:lnTo>
                    <a:pt x="453512" y="366903"/>
                  </a:lnTo>
                  <a:lnTo>
                    <a:pt x="22230" y="507063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10674" y="2434313"/>
              <a:ext cx="454025" cy="507365"/>
            </a:xfrm>
            <a:custGeom>
              <a:avLst/>
              <a:gdLst/>
              <a:ahLst/>
              <a:cxnLst/>
              <a:rect l="l" t="t" r="r" b="b"/>
              <a:pathLst>
                <a:path w="454025" h="507364">
                  <a:moveTo>
                    <a:pt x="453512" y="366903"/>
                  </a:moveTo>
                  <a:lnTo>
                    <a:pt x="22230" y="507063"/>
                  </a:lnTo>
                  <a:lnTo>
                    <a:pt x="9679" y="460036"/>
                  </a:lnTo>
                  <a:lnTo>
                    <a:pt x="2309" y="412638"/>
                  </a:lnTo>
                  <a:lnTo>
                    <a:pt x="0" y="365239"/>
                  </a:lnTo>
                  <a:lnTo>
                    <a:pt x="2630" y="318212"/>
                  </a:lnTo>
                  <a:lnTo>
                    <a:pt x="10079" y="271928"/>
                  </a:lnTo>
                  <a:lnTo>
                    <a:pt x="22225" y="226760"/>
                  </a:lnTo>
                  <a:lnTo>
                    <a:pt x="38949" y="183079"/>
                  </a:lnTo>
                  <a:lnTo>
                    <a:pt x="60129" y="141258"/>
                  </a:lnTo>
                  <a:lnTo>
                    <a:pt x="85644" y="101667"/>
                  </a:lnTo>
                  <a:lnTo>
                    <a:pt x="115374" y="64679"/>
                  </a:lnTo>
                  <a:lnTo>
                    <a:pt x="149197" y="30666"/>
                  </a:lnTo>
                  <a:lnTo>
                    <a:pt x="186993" y="0"/>
                  </a:lnTo>
                  <a:lnTo>
                    <a:pt x="453512" y="366903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238848" y="2659072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294493" y="2344556"/>
            <a:ext cx="273050" cy="460375"/>
            <a:chOff x="3294493" y="2344556"/>
            <a:chExt cx="273050" cy="460375"/>
          </a:xfrm>
        </p:grpSpPr>
        <p:sp>
          <p:nvSpPr>
            <p:cNvPr id="59" name="object 59"/>
            <p:cNvSpPr/>
            <p:nvPr/>
          </p:nvSpPr>
          <p:spPr>
            <a:xfrm>
              <a:off x="3297668" y="2347731"/>
              <a:ext cx="266700" cy="454025"/>
            </a:xfrm>
            <a:custGeom>
              <a:avLst/>
              <a:gdLst/>
              <a:ahLst/>
              <a:cxnLst/>
              <a:rect l="l" t="t" r="r" b="b"/>
              <a:pathLst>
                <a:path w="266700" h="454025">
                  <a:moveTo>
                    <a:pt x="266519" y="453485"/>
                  </a:moveTo>
                  <a:lnTo>
                    <a:pt x="0" y="86582"/>
                  </a:lnTo>
                  <a:lnTo>
                    <a:pt x="39991" y="60629"/>
                  </a:lnTo>
                  <a:lnTo>
                    <a:pt x="82249" y="39124"/>
                  </a:lnTo>
                  <a:lnTo>
                    <a:pt x="126402" y="22187"/>
                  </a:lnTo>
                  <a:lnTo>
                    <a:pt x="172079" y="9941"/>
                  </a:lnTo>
                  <a:lnTo>
                    <a:pt x="218908" y="2505"/>
                  </a:lnTo>
                  <a:lnTo>
                    <a:pt x="266519" y="0"/>
                  </a:lnTo>
                  <a:lnTo>
                    <a:pt x="266519" y="4534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97668" y="2347731"/>
              <a:ext cx="266700" cy="454025"/>
            </a:xfrm>
            <a:custGeom>
              <a:avLst/>
              <a:gdLst/>
              <a:ahLst/>
              <a:cxnLst/>
              <a:rect l="l" t="t" r="r" b="b"/>
              <a:pathLst>
                <a:path w="266700" h="454025">
                  <a:moveTo>
                    <a:pt x="266519" y="453485"/>
                  </a:moveTo>
                  <a:lnTo>
                    <a:pt x="0" y="86582"/>
                  </a:lnTo>
                  <a:lnTo>
                    <a:pt x="39991" y="60629"/>
                  </a:lnTo>
                  <a:lnTo>
                    <a:pt x="82249" y="39124"/>
                  </a:lnTo>
                  <a:lnTo>
                    <a:pt x="126402" y="22187"/>
                  </a:lnTo>
                  <a:lnTo>
                    <a:pt x="172079" y="9941"/>
                  </a:lnTo>
                  <a:lnTo>
                    <a:pt x="218908" y="2505"/>
                  </a:lnTo>
                  <a:lnTo>
                    <a:pt x="266519" y="0"/>
                  </a:lnTo>
                  <a:lnTo>
                    <a:pt x="266519" y="4534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437986" y="2478192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110702" y="2347731"/>
            <a:ext cx="907415" cy="907415"/>
          </a:xfrm>
          <a:custGeom>
            <a:avLst/>
            <a:gdLst/>
            <a:ahLst/>
            <a:cxnLst/>
            <a:rect l="l" t="t" r="r" b="b"/>
            <a:pathLst>
              <a:path w="907414" h="907414">
                <a:moveTo>
                  <a:pt x="906970" y="453485"/>
                </a:moveTo>
                <a:lnTo>
                  <a:pt x="904688" y="500741"/>
                </a:lnTo>
                <a:lnTo>
                  <a:pt x="897978" y="546429"/>
                </a:lnTo>
                <a:lnTo>
                  <a:pt x="887045" y="590343"/>
                </a:lnTo>
                <a:lnTo>
                  <a:pt x="872093" y="632281"/>
                </a:lnTo>
                <a:lnTo>
                  <a:pt x="853325" y="672036"/>
                </a:lnTo>
                <a:lnTo>
                  <a:pt x="830946" y="709407"/>
                </a:lnTo>
                <a:lnTo>
                  <a:pt x="805161" y="744187"/>
                </a:lnTo>
                <a:lnTo>
                  <a:pt x="776173" y="776173"/>
                </a:lnTo>
                <a:lnTo>
                  <a:pt x="744187" y="805161"/>
                </a:lnTo>
                <a:lnTo>
                  <a:pt x="709407" y="830946"/>
                </a:lnTo>
                <a:lnTo>
                  <a:pt x="672036" y="853325"/>
                </a:lnTo>
                <a:lnTo>
                  <a:pt x="632281" y="872093"/>
                </a:lnTo>
                <a:lnTo>
                  <a:pt x="590343" y="887045"/>
                </a:lnTo>
                <a:lnTo>
                  <a:pt x="546429" y="897978"/>
                </a:lnTo>
                <a:lnTo>
                  <a:pt x="500741" y="904688"/>
                </a:lnTo>
                <a:lnTo>
                  <a:pt x="453485" y="906970"/>
                </a:lnTo>
                <a:lnTo>
                  <a:pt x="406228" y="904688"/>
                </a:lnTo>
                <a:lnTo>
                  <a:pt x="360541" y="897978"/>
                </a:lnTo>
                <a:lnTo>
                  <a:pt x="316626" y="887045"/>
                </a:lnTo>
                <a:lnTo>
                  <a:pt x="274689" y="872093"/>
                </a:lnTo>
                <a:lnTo>
                  <a:pt x="234933" y="853325"/>
                </a:lnTo>
                <a:lnTo>
                  <a:pt x="197563" y="830946"/>
                </a:lnTo>
                <a:lnTo>
                  <a:pt x="162783" y="805161"/>
                </a:lnTo>
                <a:lnTo>
                  <a:pt x="130797" y="776173"/>
                </a:lnTo>
                <a:lnTo>
                  <a:pt x="101809" y="744187"/>
                </a:lnTo>
                <a:lnTo>
                  <a:pt x="76023" y="709407"/>
                </a:lnTo>
                <a:lnTo>
                  <a:pt x="53645" y="672036"/>
                </a:lnTo>
                <a:lnTo>
                  <a:pt x="34877" y="632281"/>
                </a:lnTo>
                <a:lnTo>
                  <a:pt x="19924" y="590343"/>
                </a:lnTo>
                <a:lnTo>
                  <a:pt x="8991" y="546429"/>
                </a:lnTo>
                <a:lnTo>
                  <a:pt x="2281" y="500741"/>
                </a:lnTo>
                <a:lnTo>
                  <a:pt x="0" y="453485"/>
                </a:lnTo>
                <a:lnTo>
                  <a:pt x="2281" y="406229"/>
                </a:lnTo>
                <a:lnTo>
                  <a:pt x="8991" y="360542"/>
                </a:lnTo>
                <a:lnTo>
                  <a:pt x="19924" y="316627"/>
                </a:lnTo>
                <a:lnTo>
                  <a:pt x="34877" y="274690"/>
                </a:lnTo>
                <a:lnTo>
                  <a:pt x="53645" y="234935"/>
                </a:lnTo>
                <a:lnTo>
                  <a:pt x="76023" y="197564"/>
                </a:lnTo>
                <a:lnTo>
                  <a:pt x="101809" y="162784"/>
                </a:lnTo>
                <a:lnTo>
                  <a:pt x="130797" y="130798"/>
                </a:lnTo>
                <a:lnTo>
                  <a:pt x="162783" y="101810"/>
                </a:lnTo>
                <a:lnTo>
                  <a:pt x="197563" y="76024"/>
                </a:lnTo>
                <a:lnTo>
                  <a:pt x="234933" y="53645"/>
                </a:lnTo>
                <a:lnTo>
                  <a:pt x="274689" y="34877"/>
                </a:lnTo>
                <a:lnTo>
                  <a:pt x="316626" y="19925"/>
                </a:lnTo>
                <a:lnTo>
                  <a:pt x="360541" y="8991"/>
                </a:lnTo>
                <a:lnTo>
                  <a:pt x="406228" y="2281"/>
                </a:lnTo>
                <a:lnTo>
                  <a:pt x="453485" y="0"/>
                </a:lnTo>
                <a:lnTo>
                  <a:pt x="500741" y="2281"/>
                </a:lnTo>
                <a:lnTo>
                  <a:pt x="546429" y="8991"/>
                </a:lnTo>
                <a:lnTo>
                  <a:pt x="590343" y="19925"/>
                </a:lnTo>
                <a:lnTo>
                  <a:pt x="632281" y="34877"/>
                </a:lnTo>
                <a:lnTo>
                  <a:pt x="672036" y="53645"/>
                </a:lnTo>
                <a:lnTo>
                  <a:pt x="709407" y="76024"/>
                </a:lnTo>
                <a:lnTo>
                  <a:pt x="744187" y="101810"/>
                </a:lnTo>
                <a:lnTo>
                  <a:pt x="776173" y="130798"/>
                </a:lnTo>
                <a:lnTo>
                  <a:pt x="805161" y="162784"/>
                </a:lnTo>
                <a:lnTo>
                  <a:pt x="830946" y="197564"/>
                </a:lnTo>
                <a:lnTo>
                  <a:pt x="853325" y="234935"/>
                </a:lnTo>
                <a:lnTo>
                  <a:pt x="872093" y="274690"/>
                </a:lnTo>
                <a:lnTo>
                  <a:pt x="887045" y="316627"/>
                </a:lnTo>
                <a:lnTo>
                  <a:pt x="897978" y="360542"/>
                </a:lnTo>
                <a:lnTo>
                  <a:pt x="904688" y="406229"/>
                </a:lnTo>
                <a:lnTo>
                  <a:pt x="906970" y="453485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3374541" y="2189299"/>
            <a:ext cx="3797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$1,350k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877494" y="2400023"/>
            <a:ext cx="802640" cy="802640"/>
            <a:chOff x="4877494" y="2400023"/>
            <a:chExt cx="802640" cy="802640"/>
          </a:xfrm>
        </p:grpSpPr>
        <p:sp>
          <p:nvSpPr>
            <p:cNvPr id="65" name="object 65"/>
            <p:cNvSpPr/>
            <p:nvPr/>
          </p:nvSpPr>
          <p:spPr>
            <a:xfrm>
              <a:off x="4886067" y="2408596"/>
              <a:ext cx="785495" cy="785495"/>
            </a:xfrm>
            <a:custGeom>
              <a:avLst/>
              <a:gdLst/>
              <a:ahLst/>
              <a:cxnLst/>
              <a:rect l="l" t="t" r="r" b="b"/>
              <a:pathLst>
                <a:path w="785495" h="785494">
                  <a:moveTo>
                    <a:pt x="785241" y="392620"/>
                  </a:moveTo>
                  <a:lnTo>
                    <a:pt x="782258" y="442789"/>
                  </a:lnTo>
                  <a:lnTo>
                    <a:pt x="773530" y="490838"/>
                  </a:lnTo>
                  <a:lnTo>
                    <a:pt x="759387" y="536439"/>
                  </a:lnTo>
                  <a:lnTo>
                    <a:pt x="740158" y="579261"/>
                  </a:lnTo>
                  <a:lnTo>
                    <a:pt x="716173" y="618975"/>
                  </a:lnTo>
                  <a:lnTo>
                    <a:pt x="687761" y="655252"/>
                  </a:lnTo>
                  <a:lnTo>
                    <a:pt x="655252" y="687761"/>
                  </a:lnTo>
                  <a:lnTo>
                    <a:pt x="618975" y="716173"/>
                  </a:lnTo>
                  <a:lnTo>
                    <a:pt x="579261" y="740158"/>
                  </a:lnTo>
                  <a:lnTo>
                    <a:pt x="536439" y="759387"/>
                  </a:lnTo>
                  <a:lnTo>
                    <a:pt x="490838" y="773530"/>
                  </a:lnTo>
                  <a:lnTo>
                    <a:pt x="442789" y="782258"/>
                  </a:lnTo>
                  <a:lnTo>
                    <a:pt x="392620" y="785241"/>
                  </a:lnTo>
                  <a:lnTo>
                    <a:pt x="342451" y="782258"/>
                  </a:lnTo>
                  <a:lnTo>
                    <a:pt x="294402" y="773530"/>
                  </a:lnTo>
                  <a:lnTo>
                    <a:pt x="248801" y="759387"/>
                  </a:lnTo>
                  <a:lnTo>
                    <a:pt x="205979" y="740158"/>
                  </a:lnTo>
                  <a:lnTo>
                    <a:pt x="166265" y="716173"/>
                  </a:lnTo>
                  <a:lnTo>
                    <a:pt x="129988" y="687761"/>
                  </a:lnTo>
                  <a:lnTo>
                    <a:pt x="97479" y="655252"/>
                  </a:lnTo>
                  <a:lnTo>
                    <a:pt x="69067" y="618975"/>
                  </a:lnTo>
                  <a:lnTo>
                    <a:pt x="45082" y="579261"/>
                  </a:lnTo>
                  <a:lnTo>
                    <a:pt x="25853" y="536439"/>
                  </a:lnTo>
                  <a:lnTo>
                    <a:pt x="11710" y="490838"/>
                  </a:lnTo>
                  <a:lnTo>
                    <a:pt x="2982" y="442789"/>
                  </a:lnTo>
                  <a:lnTo>
                    <a:pt x="0" y="392620"/>
                  </a:lnTo>
                  <a:lnTo>
                    <a:pt x="2982" y="342451"/>
                  </a:lnTo>
                  <a:lnTo>
                    <a:pt x="11710" y="294402"/>
                  </a:lnTo>
                  <a:lnTo>
                    <a:pt x="25853" y="248801"/>
                  </a:lnTo>
                  <a:lnTo>
                    <a:pt x="45082" y="205979"/>
                  </a:lnTo>
                  <a:lnTo>
                    <a:pt x="69067" y="166265"/>
                  </a:lnTo>
                  <a:lnTo>
                    <a:pt x="97479" y="129989"/>
                  </a:lnTo>
                  <a:lnTo>
                    <a:pt x="129988" y="97480"/>
                  </a:lnTo>
                  <a:lnTo>
                    <a:pt x="166265" y="69067"/>
                  </a:lnTo>
                  <a:lnTo>
                    <a:pt x="205979" y="45082"/>
                  </a:lnTo>
                  <a:lnTo>
                    <a:pt x="248801" y="25853"/>
                  </a:lnTo>
                  <a:lnTo>
                    <a:pt x="294402" y="11710"/>
                  </a:lnTo>
                  <a:lnTo>
                    <a:pt x="342451" y="2982"/>
                  </a:lnTo>
                  <a:lnTo>
                    <a:pt x="392620" y="0"/>
                  </a:lnTo>
                  <a:lnTo>
                    <a:pt x="442789" y="2982"/>
                  </a:lnTo>
                  <a:lnTo>
                    <a:pt x="490838" y="11710"/>
                  </a:lnTo>
                  <a:lnTo>
                    <a:pt x="536439" y="25853"/>
                  </a:lnTo>
                  <a:lnTo>
                    <a:pt x="579261" y="45082"/>
                  </a:lnTo>
                  <a:lnTo>
                    <a:pt x="618975" y="69067"/>
                  </a:lnTo>
                  <a:lnTo>
                    <a:pt x="655252" y="97480"/>
                  </a:lnTo>
                  <a:lnTo>
                    <a:pt x="687761" y="129989"/>
                  </a:lnTo>
                  <a:lnTo>
                    <a:pt x="716173" y="166265"/>
                  </a:lnTo>
                  <a:lnTo>
                    <a:pt x="740158" y="205979"/>
                  </a:lnTo>
                  <a:lnTo>
                    <a:pt x="759387" y="248801"/>
                  </a:lnTo>
                  <a:lnTo>
                    <a:pt x="773530" y="294402"/>
                  </a:lnTo>
                  <a:lnTo>
                    <a:pt x="782258" y="342451"/>
                  </a:lnTo>
                  <a:lnTo>
                    <a:pt x="785241" y="392620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78687" y="2408596"/>
              <a:ext cx="374015" cy="393065"/>
            </a:xfrm>
            <a:custGeom>
              <a:avLst/>
              <a:gdLst/>
              <a:ahLst/>
              <a:cxnLst/>
              <a:rect l="l" t="t" r="r" b="b"/>
              <a:pathLst>
                <a:path w="374014" h="393064">
                  <a:moveTo>
                    <a:pt x="0" y="392620"/>
                  </a:moveTo>
                  <a:lnTo>
                    <a:pt x="0" y="0"/>
                  </a:lnTo>
                  <a:lnTo>
                    <a:pt x="50371" y="3228"/>
                  </a:lnTo>
                  <a:lnTo>
                    <a:pt x="99109" y="12685"/>
                  </a:lnTo>
                  <a:lnTo>
                    <a:pt x="145740" y="28026"/>
                  </a:lnTo>
                  <a:lnTo>
                    <a:pt x="189791" y="48909"/>
                  </a:lnTo>
                  <a:lnTo>
                    <a:pt x="230788" y="74989"/>
                  </a:lnTo>
                  <a:lnTo>
                    <a:pt x="268259" y="105923"/>
                  </a:lnTo>
                  <a:lnTo>
                    <a:pt x="301731" y="141367"/>
                  </a:lnTo>
                  <a:lnTo>
                    <a:pt x="330730" y="180977"/>
                  </a:lnTo>
                  <a:lnTo>
                    <a:pt x="354783" y="224409"/>
                  </a:lnTo>
                  <a:lnTo>
                    <a:pt x="373418" y="271319"/>
                  </a:lnTo>
                  <a:lnTo>
                    <a:pt x="0" y="392620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78687" y="2408596"/>
              <a:ext cx="374015" cy="393065"/>
            </a:xfrm>
            <a:custGeom>
              <a:avLst/>
              <a:gdLst/>
              <a:ahLst/>
              <a:cxnLst/>
              <a:rect l="l" t="t" r="r" b="b"/>
              <a:pathLst>
                <a:path w="374014" h="393064">
                  <a:moveTo>
                    <a:pt x="0" y="392620"/>
                  </a:moveTo>
                  <a:lnTo>
                    <a:pt x="0" y="0"/>
                  </a:lnTo>
                  <a:lnTo>
                    <a:pt x="50371" y="3228"/>
                  </a:lnTo>
                  <a:lnTo>
                    <a:pt x="99109" y="12685"/>
                  </a:lnTo>
                  <a:lnTo>
                    <a:pt x="145740" y="28026"/>
                  </a:lnTo>
                  <a:lnTo>
                    <a:pt x="189791" y="48909"/>
                  </a:lnTo>
                  <a:lnTo>
                    <a:pt x="230788" y="74989"/>
                  </a:lnTo>
                  <a:lnTo>
                    <a:pt x="268259" y="105923"/>
                  </a:lnTo>
                  <a:lnTo>
                    <a:pt x="301731" y="141367"/>
                  </a:lnTo>
                  <a:lnTo>
                    <a:pt x="330730" y="180977"/>
                  </a:lnTo>
                  <a:lnTo>
                    <a:pt x="354783" y="224409"/>
                  </a:lnTo>
                  <a:lnTo>
                    <a:pt x="373418" y="271319"/>
                  </a:lnTo>
                  <a:lnTo>
                    <a:pt x="0" y="39262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387235" y="2548486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902094" y="2676740"/>
            <a:ext cx="775970" cy="522605"/>
            <a:chOff x="4902094" y="2676740"/>
            <a:chExt cx="775970" cy="522605"/>
          </a:xfrm>
        </p:grpSpPr>
        <p:sp>
          <p:nvSpPr>
            <p:cNvPr id="70" name="object 70"/>
            <p:cNvSpPr/>
            <p:nvPr/>
          </p:nvSpPr>
          <p:spPr>
            <a:xfrm>
              <a:off x="4905269" y="2679915"/>
              <a:ext cx="769620" cy="516255"/>
            </a:xfrm>
            <a:custGeom>
              <a:avLst/>
              <a:gdLst/>
              <a:ahLst/>
              <a:cxnLst/>
              <a:rect l="l" t="t" r="r" b="b"/>
              <a:pathLst>
                <a:path w="769620" h="516255">
                  <a:moveTo>
                    <a:pt x="366307" y="516046"/>
                  </a:moveTo>
                  <a:lnTo>
                    <a:pt x="301449" y="511632"/>
                  </a:lnTo>
                  <a:lnTo>
                    <a:pt x="238206" y="496500"/>
                  </a:lnTo>
                  <a:lnTo>
                    <a:pt x="178114" y="470150"/>
                  </a:lnTo>
                  <a:lnTo>
                    <a:pt x="122711" y="432085"/>
                  </a:lnTo>
                  <a:lnTo>
                    <a:pt x="73533" y="381805"/>
                  </a:lnTo>
                  <a:lnTo>
                    <a:pt x="32117" y="318810"/>
                  </a:lnTo>
                  <a:lnTo>
                    <a:pt x="14800" y="282388"/>
                  </a:lnTo>
                  <a:lnTo>
                    <a:pt x="0" y="242601"/>
                  </a:lnTo>
                  <a:lnTo>
                    <a:pt x="373418" y="121300"/>
                  </a:lnTo>
                  <a:lnTo>
                    <a:pt x="746836" y="0"/>
                  </a:lnTo>
                  <a:lnTo>
                    <a:pt x="758243" y="40889"/>
                  </a:lnTo>
                  <a:lnTo>
                    <a:pt x="765635" y="80534"/>
                  </a:lnTo>
                  <a:lnTo>
                    <a:pt x="769206" y="118873"/>
                  </a:lnTo>
                  <a:lnTo>
                    <a:pt x="769146" y="155842"/>
                  </a:lnTo>
                  <a:lnTo>
                    <a:pt x="758905" y="225425"/>
                  </a:lnTo>
                  <a:lnTo>
                    <a:pt x="736449" y="288782"/>
                  </a:lnTo>
                  <a:lnTo>
                    <a:pt x="703313" y="345414"/>
                  </a:lnTo>
                  <a:lnTo>
                    <a:pt x="661036" y="394823"/>
                  </a:lnTo>
                  <a:lnTo>
                    <a:pt x="611154" y="436510"/>
                  </a:lnTo>
                  <a:lnTo>
                    <a:pt x="555203" y="469975"/>
                  </a:lnTo>
                  <a:lnTo>
                    <a:pt x="494721" y="494718"/>
                  </a:lnTo>
                  <a:lnTo>
                    <a:pt x="431243" y="510242"/>
                  </a:lnTo>
                  <a:lnTo>
                    <a:pt x="398861" y="514390"/>
                  </a:lnTo>
                  <a:lnTo>
                    <a:pt x="366307" y="516046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05269" y="2679915"/>
              <a:ext cx="769620" cy="516255"/>
            </a:xfrm>
            <a:custGeom>
              <a:avLst/>
              <a:gdLst/>
              <a:ahLst/>
              <a:cxnLst/>
              <a:rect l="l" t="t" r="r" b="b"/>
              <a:pathLst>
                <a:path w="769620" h="516255">
                  <a:moveTo>
                    <a:pt x="373418" y="121300"/>
                  </a:moveTo>
                  <a:lnTo>
                    <a:pt x="746836" y="0"/>
                  </a:lnTo>
                  <a:lnTo>
                    <a:pt x="758243" y="40889"/>
                  </a:lnTo>
                  <a:lnTo>
                    <a:pt x="765635" y="80534"/>
                  </a:lnTo>
                  <a:lnTo>
                    <a:pt x="769206" y="118873"/>
                  </a:lnTo>
                  <a:lnTo>
                    <a:pt x="769146" y="155842"/>
                  </a:lnTo>
                  <a:lnTo>
                    <a:pt x="758905" y="225425"/>
                  </a:lnTo>
                  <a:lnTo>
                    <a:pt x="736449" y="288782"/>
                  </a:lnTo>
                  <a:lnTo>
                    <a:pt x="703313" y="345414"/>
                  </a:lnTo>
                  <a:lnTo>
                    <a:pt x="661036" y="394823"/>
                  </a:lnTo>
                  <a:lnTo>
                    <a:pt x="611154" y="436510"/>
                  </a:lnTo>
                  <a:lnTo>
                    <a:pt x="555203" y="469975"/>
                  </a:lnTo>
                  <a:lnTo>
                    <a:pt x="494721" y="494718"/>
                  </a:lnTo>
                  <a:lnTo>
                    <a:pt x="431243" y="510242"/>
                  </a:lnTo>
                  <a:lnTo>
                    <a:pt x="366307" y="516046"/>
                  </a:lnTo>
                  <a:lnTo>
                    <a:pt x="333772" y="515147"/>
                  </a:lnTo>
                  <a:lnTo>
                    <a:pt x="269529" y="505437"/>
                  </a:lnTo>
                  <a:lnTo>
                    <a:pt x="207670" y="484758"/>
                  </a:lnTo>
                  <a:lnTo>
                    <a:pt x="149731" y="452614"/>
                  </a:lnTo>
                  <a:lnTo>
                    <a:pt x="97248" y="408503"/>
                  </a:lnTo>
                  <a:lnTo>
                    <a:pt x="51759" y="351928"/>
                  </a:lnTo>
                  <a:lnTo>
                    <a:pt x="32117" y="318810"/>
                  </a:lnTo>
                  <a:lnTo>
                    <a:pt x="14800" y="282388"/>
                  </a:lnTo>
                  <a:lnTo>
                    <a:pt x="0" y="242601"/>
                  </a:lnTo>
                  <a:lnTo>
                    <a:pt x="373418" y="12130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310956" y="2977111"/>
            <a:ext cx="863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882767" y="2405421"/>
            <a:ext cx="399415" cy="520700"/>
            <a:chOff x="4882767" y="2405421"/>
            <a:chExt cx="399415" cy="520700"/>
          </a:xfrm>
        </p:grpSpPr>
        <p:sp>
          <p:nvSpPr>
            <p:cNvPr id="74" name="object 74"/>
            <p:cNvSpPr/>
            <p:nvPr/>
          </p:nvSpPr>
          <p:spPr>
            <a:xfrm>
              <a:off x="4885942" y="2408596"/>
              <a:ext cx="393065" cy="514350"/>
            </a:xfrm>
            <a:custGeom>
              <a:avLst/>
              <a:gdLst/>
              <a:ahLst/>
              <a:cxnLst/>
              <a:rect l="l" t="t" r="r" b="b"/>
              <a:pathLst>
                <a:path w="393064" h="514350">
                  <a:moveTo>
                    <a:pt x="19327" y="513921"/>
                  </a:moveTo>
                  <a:lnTo>
                    <a:pt x="7563" y="469141"/>
                  </a:lnTo>
                  <a:lnTo>
                    <a:pt x="1200" y="424550"/>
                  </a:lnTo>
                  <a:lnTo>
                    <a:pt x="0" y="380474"/>
                  </a:lnTo>
                  <a:lnTo>
                    <a:pt x="3726" y="337240"/>
                  </a:lnTo>
                  <a:lnTo>
                    <a:pt x="12142" y="295172"/>
                  </a:lnTo>
                  <a:lnTo>
                    <a:pt x="25011" y="254598"/>
                  </a:lnTo>
                  <a:lnTo>
                    <a:pt x="42096" y="215842"/>
                  </a:lnTo>
                  <a:lnTo>
                    <a:pt x="63161" y="179230"/>
                  </a:lnTo>
                  <a:lnTo>
                    <a:pt x="87968" y="145089"/>
                  </a:lnTo>
                  <a:lnTo>
                    <a:pt x="116281" y="113744"/>
                  </a:lnTo>
                  <a:lnTo>
                    <a:pt x="147863" y="85522"/>
                  </a:lnTo>
                  <a:lnTo>
                    <a:pt x="182477" y="60747"/>
                  </a:lnTo>
                  <a:lnTo>
                    <a:pt x="219887" y="39747"/>
                  </a:lnTo>
                  <a:lnTo>
                    <a:pt x="259855" y="22846"/>
                  </a:lnTo>
                  <a:lnTo>
                    <a:pt x="302145" y="10370"/>
                  </a:lnTo>
                  <a:lnTo>
                    <a:pt x="346521" y="2646"/>
                  </a:lnTo>
                  <a:lnTo>
                    <a:pt x="392745" y="0"/>
                  </a:lnTo>
                  <a:lnTo>
                    <a:pt x="392745" y="392620"/>
                  </a:lnTo>
                  <a:lnTo>
                    <a:pt x="19327" y="513921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885942" y="2408596"/>
              <a:ext cx="393065" cy="514350"/>
            </a:xfrm>
            <a:custGeom>
              <a:avLst/>
              <a:gdLst/>
              <a:ahLst/>
              <a:cxnLst/>
              <a:rect l="l" t="t" r="r" b="b"/>
              <a:pathLst>
                <a:path w="393064" h="514350">
                  <a:moveTo>
                    <a:pt x="392745" y="392620"/>
                  </a:moveTo>
                  <a:lnTo>
                    <a:pt x="19327" y="513921"/>
                  </a:lnTo>
                  <a:lnTo>
                    <a:pt x="7563" y="469141"/>
                  </a:lnTo>
                  <a:lnTo>
                    <a:pt x="1200" y="424550"/>
                  </a:lnTo>
                  <a:lnTo>
                    <a:pt x="0" y="380474"/>
                  </a:lnTo>
                  <a:lnTo>
                    <a:pt x="3726" y="337240"/>
                  </a:lnTo>
                  <a:lnTo>
                    <a:pt x="12142" y="295172"/>
                  </a:lnTo>
                  <a:lnTo>
                    <a:pt x="25011" y="254598"/>
                  </a:lnTo>
                  <a:lnTo>
                    <a:pt x="42096" y="215842"/>
                  </a:lnTo>
                  <a:lnTo>
                    <a:pt x="63161" y="179230"/>
                  </a:lnTo>
                  <a:lnTo>
                    <a:pt x="87968" y="145089"/>
                  </a:lnTo>
                  <a:lnTo>
                    <a:pt x="116281" y="113744"/>
                  </a:lnTo>
                  <a:lnTo>
                    <a:pt x="147863" y="85522"/>
                  </a:lnTo>
                  <a:lnTo>
                    <a:pt x="182477" y="60747"/>
                  </a:lnTo>
                  <a:lnTo>
                    <a:pt x="219887" y="39747"/>
                  </a:lnTo>
                  <a:lnTo>
                    <a:pt x="259855" y="22846"/>
                  </a:lnTo>
                  <a:lnTo>
                    <a:pt x="302145" y="10370"/>
                  </a:lnTo>
                  <a:lnTo>
                    <a:pt x="346521" y="2646"/>
                  </a:lnTo>
                  <a:lnTo>
                    <a:pt x="392745" y="0"/>
                  </a:lnTo>
                  <a:lnTo>
                    <a:pt x="392745" y="39262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023642" y="2602493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886066" y="2408596"/>
            <a:ext cx="785495" cy="785495"/>
          </a:xfrm>
          <a:custGeom>
            <a:avLst/>
            <a:gdLst/>
            <a:ahLst/>
            <a:cxnLst/>
            <a:rect l="l" t="t" r="r" b="b"/>
            <a:pathLst>
              <a:path w="785495" h="785494">
                <a:moveTo>
                  <a:pt x="785241" y="392620"/>
                </a:moveTo>
                <a:lnTo>
                  <a:pt x="782258" y="442789"/>
                </a:lnTo>
                <a:lnTo>
                  <a:pt x="773530" y="490838"/>
                </a:lnTo>
                <a:lnTo>
                  <a:pt x="759387" y="536439"/>
                </a:lnTo>
                <a:lnTo>
                  <a:pt x="740158" y="579261"/>
                </a:lnTo>
                <a:lnTo>
                  <a:pt x="716173" y="618975"/>
                </a:lnTo>
                <a:lnTo>
                  <a:pt x="687761" y="655252"/>
                </a:lnTo>
                <a:lnTo>
                  <a:pt x="655252" y="687761"/>
                </a:lnTo>
                <a:lnTo>
                  <a:pt x="618975" y="716173"/>
                </a:lnTo>
                <a:lnTo>
                  <a:pt x="579261" y="740158"/>
                </a:lnTo>
                <a:lnTo>
                  <a:pt x="536439" y="759387"/>
                </a:lnTo>
                <a:lnTo>
                  <a:pt x="490838" y="773530"/>
                </a:lnTo>
                <a:lnTo>
                  <a:pt x="442789" y="782258"/>
                </a:lnTo>
                <a:lnTo>
                  <a:pt x="392620" y="785241"/>
                </a:lnTo>
                <a:lnTo>
                  <a:pt x="342451" y="782258"/>
                </a:lnTo>
                <a:lnTo>
                  <a:pt x="294402" y="773530"/>
                </a:lnTo>
                <a:lnTo>
                  <a:pt x="248801" y="759387"/>
                </a:lnTo>
                <a:lnTo>
                  <a:pt x="205979" y="740158"/>
                </a:lnTo>
                <a:lnTo>
                  <a:pt x="166265" y="716173"/>
                </a:lnTo>
                <a:lnTo>
                  <a:pt x="129988" y="687761"/>
                </a:lnTo>
                <a:lnTo>
                  <a:pt x="97479" y="655252"/>
                </a:lnTo>
                <a:lnTo>
                  <a:pt x="69067" y="618975"/>
                </a:lnTo>
                <a:lnTo>
                  <a:pt x="45082" y="579261"/>
                </a:lnTo>
                <a:lnTo>
                  <a:pt x="25853" y="536439"/>
                </a:lnTo>
                <a:lnTo>
                  <a:pt x="11710" y="490838"/>
                </a:lnTo>
                <a:lnTo>
                  <a:pt x="2982" y="442789"/>
                </a:lnTo>
                <a:lnTo>
                  <a:pt x="0" y="392620"/>
                </a:lnTo>
                <a:lnTo>
                  <a:pt x="2982" y="342451"/>
                </a:lnTo>
                <a:lnTo>
                  <a:pt x="11710" y="294402"/>
                </a:lnTo>
                <a:lnTo>
                  <a:pt x="25853" y="248801"/>
                </a:lnTo>
                <a:lnTo>
                  <a:pt x="45082" y="205979"/>
                </a:lnTo>
                <a:lnTo>
                  <a:pt x="69067" y="166265"/>
                </a:lnTo>
                <a:lnTo>
                  <a:pt x="97479" y="129989"/>
                </a:lnTo>
                <a:lnTo>
                  <a:pt x="129988" y="97480"/>
                </a:lnTo>
                <a:lnTo>
                  <a:pt x="166265" y="69067"/>
                </a:lnTo>
                <a:lnTo>
                  <a:pt x="205979" y="45082"/>
                </a:lnTo>
                <a:lnTo>
                  <a:pt x="248801" y="25853"/>
                </a:lnTo>
                <a:lnTo>
                  <a:pt x="294402" y="11710"/>
                </a:lnTo>
                <a:lnTo>
                  <a:pt x="342451" y="2982"/>
                </a:lnTo>
                <a:lnTo>
                  <a:pt x="392620" y="0"/>
                </a:lnTo>
                <a:lnTo>
                  <a:pt x="442789" y="2982"/>
                </a:lnTo>
                <a:lnTo>
                  <a:pt x="490838" y="11710"/>
                </a:lnTo>
                <a:lnTo>
                  <a:pt x="536439" y="25853"/>
                </a:lnTo>
                <a:lnTo>
                  <a:pt x="579261" y="45082"/>
                </a:lnTo>
                <a:lnTo>
                  <a:pt x="618975" y="69067"/>
                </a:lnTo>
                <a:lnTo>
                  <a:pt x="655252" y="97480"/>
                </a:lnTo>
                <a:lnTo>
                  <a:pt x="687761" y="129989"/>
                </a:lnTo>
                <a:lnTo>
                  <a:pt x="716173" y="166265"/>
                </a:lnTo>
                <a:lnTo>
                  <a:pt x="740158" y="205979"/>
                </a:lnTo>
                <a:lnTo>
                  <a:pt x="759387" y="248801"/>
                </a:lnTo>
                <a:lnTo>
                  <a:pt x="773530" y="294402"/>
                </a:lnTo>
                <a:lnTo>
                  <a:pt x="782258" y="342451"/>
                </a:lnTo>
                <a:lnTo>
                  <a:pt x="785241" y="392620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130405" y="225016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$950k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622855" y="4145384"/>
            <a:ext cx="741045" cy="741045"/>
            <a:chOff x="6622855" y="4145384"/>
            <a:chExt cx="741045" cy="741045"/>
          </a:xfrm>
        </p:grpSpPr>
        <p:sp>
          <p:nvSpPr>
            <p:cNvPr id="80" name="object 80"/>
            <p:cNvSpPr/>
            <p:nvPr/>
          </p:nvSpPr>
          <p:spPr>
            <a:xfrm>
              <a:off x="6631427" y="4153957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723519" y="361759"/>
                  </a:moveTo>
                  <a:lnTo>
                    <a:pt x="720298" y="411753"/>
                  </a:lnTo>
                  <a:lnTo>
                    <a:pt x="710895" y="459425"/>
                  </a:lnTo>
                  <a:lnTo>
                    <a:pt x="695696" y="504390"/>
                  </a:lnTo>
                  <a:lnTo>
                    <a:pt x="675085" y="546261"/>
                  </a:lnTo>
                  <a:lnTo>
                    <a:pt x="649450" y="584652"/>
                  </a:lnTo>
                  <a:lnTo>
                    <a:pt x="619177" y="619177"/>
                  </a:lnTo>
                  <a:lnTo>
                    <a:pt x="584652" y="649450"/>
                  </a:lnTo>
                  <a:lnTo>
                    <a:pt x="546261" y="675085"/>
                  </a:lnTo>
                  <a:lnTo>
                    <a:pt x="504390" y="695696"/>
                  </a:lnTo>
                  <a:lnTo>
                    <a:pt x="459425" y="710895"/>
                  </a:lnTo>
                  <a:lnTo>
                    <a:pt x="411753" y="720298"/>
                  </a:lnTo>
                  <a:lnTo>
                    <a:pt x="361759" y="723519"/>
                  </a:lnTo>
                  <a:lnTo>
                    <a:pt x="311765" y="720298"/>
                  </a:lnTo>
                  <a:lnTo>
                    <a:pt x="264093" y="710895"/>
                  </a:lnTo>
                  <a:lnTo>
                    <a:pt x="219128" y="695696"/>
                  </a:lnTo>
                  <a:lnTo>
                    <a:pt x="177257" y="675085"/>
                  </a:lnTo>
                  <a:lnTo>
                    <a:pt x="138866" y="649450"/>
                  </a:lnTo>
                  <a:lnTo>
                    <a:pt x="104341" y="619177"/>
                  </a:lnTo>
                  <a:lnTo>
                    <a:pt x="74068" y="584652"/>
                  </a:lnTo>
                  <a:lnTo>
                    <a:pt x="48433" y="546261"/>
                  </a:lnTo>
                  <a:lnTo>
                    <a:pt x="27822" y="504390"/>
                  </a:lnTo>
                  <a:lnTo>
                    <a:pt x="12623" y="459425"/>
                  </a:lnTo>
                  <a:lnTo>
                    <a:pt x="3220" y="411753"/>
                  </a:lnTo>
                  <a:lnTo>
                    <a:pt x="0" y="361759"/>
                  </a:lnTo>
                  <a:lnTo>
                    <a:pt x="3220" y="311765"/>
                  </a:lnTo>
                  <a:lnTo>
                    <a:pt x="12623" y="264093"/>
                  </a:lnTo>
                  <a:lnTo>
                    <a:pt x="27822" y="219128"/>
                  </a:lnTo>
                  <a:lnTo>
                    <a:pt x="48433" y="177257"/>
                  </a:lnTo>
                  <a:lnTo>
                    <a:pt x="74068" y="138866"/>
                  </a:lnTo>
                  <a:lnTo>
                    <a:pt x="104341" y="104341"/>
                  </a:lnTo>
                  <a:lnTo>
                    <a:pt x="138866" y="74068"/>
                  </a:lnTo>
                  <a:lnTo>
                    <a:pt x="177257" y="48433"/>
                  </a:lnTo>
                  <a:lnTo>
                    <a:pt x="219128" y="27822"/>
                  </a:lnTo>
                  <a:lnTo>
                    <a:pt x="264093" y="12623"/>
                  </a:lnTo>
                  <a:lnTo>
                    <a:pt x="311765" y="3220"/>
                  </a:lnTo>
                  <a:lnTo>
                    <a:pt x="361759" y="0"/>
                  </a:lnTo>
                  <a:lnTo>
                    <a:pt x="411753" y="3220"/>
                  </a:lnTo>
                  <a:lnTo>
                    <a:pt x="459425" y="12623"/>
                  </a:lnTo>
                  <a:lnTo>
                    <a:pt x="504390" y="27822"/>
                  </a:lnTo>
                  <a:lnTo>
                    <a:pt x="546261" y="48433"/>
                  </a:lnTo>
                  <a:lnTo>
                    <a:pt x="584652" y="74068"/>
                  </a:lnTo>
                  <a:lnTo>
                    <a:pt x="619177" y="104341"/>
                  </a:lnTo>
                  <a:lnTo>
                    <a:pt x="649450" y="138866"/>
                  </a:lnTo>
                  <a:lnTo>
                    <a:pt x="675085" y="177257"/>
                  </a:lnTo>
                  <a:lnTo>
                    <a:pt x="695696" y="219128"/>
                  </a:lnTo>
                  <a:lnTo>
                    <a:pt x="710895" y="264093"/>
                  </a:lnTo>
                  <a:lnTo>
                    <a:pt x="720298" y="311765"/>
                  </a:lnTo>
                  <a:lnTo>
                    <a:pt x="723519" y="361759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993187" y="4153957"/>
              <a:ext cx="344170" cy="361950"/>
            </a:xfrm>
            <a:custGeom>
              <a:avLst/>
              <a:gdLst/>
              <a:ahLst/>
              <a:cxnLst/>
              <a:rect l="l" t="t" r="r" b="b"/>
              <a:pathLst>
                <a:path w="344170" h="361950">
                  <a:moveTo>
                    <a:pt x="0" y="361759"/>
                  </a:moveTo>
                  <a:lnTo>
                    <a:pt x="0" y="0"/>
                  </a:lnTo>
                  <a:lnTo>
                    <a:pt x="46406" y="2979"/>
                  </a:lnTo>
                  <a:lnTo>
                    <a:pt x="91306" y="11695"/>
                  </a:lnTo>
                  <a:lnTo>
                    <a:pt x="134265" y="25833"/>
                  </a:lnTo>
                  <a:lnTo>
                    <a:pt x="174846" y="45074"/>
                  </a:lnTo>
                  <a:lnTo>
                    <a:pt x="212615" y="69102"/>
                  </a:lnTo>
                  <a:lnTo>
                    <a:pt x="247134" y="97602"/>
                  </a:lnTo>
                  <a:lnTo>
                    <a:pt x="277970" y="130255"/>
                  </a:lnTo>
                  <a:lnTo>
                    <a:pt x="304685" y="166746"/>
                  </a:lnTo>
                  <a:lnTo>
                    <a:pt x="326845" y="206758"/>
                  </a:lnTo>
                  <a:lnTo>
                    <a:pt x="344014" y="249974"/>
                  </a:lnTo>
                  <a:lnTo>
                    <a:pt x="0" y="361759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993187" y="4153957"/>
              <a:ext cx="344170" cy="361950"/>
            </a:xfrm>
            <a:custGeom>
              <a:avLst/>
              <a:gdLst/>
              <a:ahLst/>
              <a:cxnLst/>
              <a:rect l="l" t="t" r="r" b="b"/>
              <a:pathLst>
                <a:path w="344170" h="361950">
                  <a:moveTo>
                    <a:pt x="0" y="361759"/>
                  </a:moveTo>
                  <a:lnTo>
                    <a:pt x="0" y="0"/>
                  </a:lnTo>
                  <a:lnTo>
                    <a:pt x="46406" y="2979"/>
                  </a:lnTo>
                  <a:lnTo>
                    <a:pt x="91306" y="11695"/>
                  </a:lnTo>
                  <a:lnTo>
                    <a:pt x="134265" y="25833"/>
                  </a:lnTo>
                  <a:lnTo>
                    <a:pt x="174846" y="45074"/>
                  </a:lnTo>
                  <a:lnTo>
                    <a:pt x="212615" y="69102"/>
                  </a:lnTo>
                  <a:lnTo>
                    <a:pt x="247134" y="97602"/>
                  </a:lnTo>
                  <a:lnTo>
                    <a:pt x="277970" y="130255"/>
                  </a:lnTo>
                  <a:lnTo>
                    <a:pt x="304685" y="166746"/>
                  </a:lnTo>
                  <a:lnTo>
                    <a:pt x="326845" y="206758"/>
                  </a:lnTo>
                  <a:lnTo>
                    <a:pt x="344014" y="249974"/>
                  </a:lnTo>
                  <a:lnTo>
                    <a:pt x="0" y="361759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082035" y="4278417"/>
            <a:ext cx="863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777414" y="4400756"/>
            <a:ext cx="581660" cy="481330"/>
            <a:chOff x="6777414" y="4400756"/>
            <a:chExt cx="581660" cy="481330"/>
          </a:xfrm>
        </p:grpSpPr>
        <p:sp>
          <p:nvSpPr>
            <p:cNvPr id="85" name="object 85"/>
            <p:cNvSpPr/>
            <p:nvPr/>
          </p:nvSpPr>
          <p:spPr>
            <a:xfrm>
              <a:off x="6780589" y="4403931"/>
              <a:ext cx="575310" cy="474980"/>
            </a:xfrm>
            <a:custGeom>
              <a:avLst/>
              <a:gdLst/>
              <a:ahLst/>
              <a:cxnLst/>
              <a:rect l="l" t="t" r="r" b="b"/>
              <a:pathLst>
                <a:path w="575309" h="474979">
                  <a:moveTo>
                    <a:pt x="231409" y="474517"/>
                  </a:moveTo>
                  <a:lnTo>
                    <a:pt x="192722" y="474602"/>
                  </a:lnTo>
                  <a:lnTo>
                    <a:pt x="153697" y="470263"/>
                  </a:lnTo>
                  <a:lnTo>
                    <a:pt x="114623" y="461289"/>
                  </a:lnTo>
                  <a:lnTo>
                    <a:pt x="75788" y="447468"/>
                  </a:lnTo>
                  <a:lnTo>
                    <a:pt x="37484" y="428592"/>
                  </a:lnTo>
                  <a:lnTo>
                    <a:pt x="0" y="404450"/>
                  </a:lnTo>
                  <a:lnTo>
                    <a:pt x="212598" y="111785"/>
                  </a:lnTo>
                  <a:lnTo>
                    <a:pt x="556612" y="0"/>
                  </a:lnTo>
                  <a:lnTo>
                    <a:pt x="567994" y="43109"/>
                  </a:lnTo>
                  <a:lnTo>
                    <a:pt x="574115" y="85370"/>
                  </a:lnTo>
                  <a:lnTo>
                    <a:pt x="575263" y="126574"/>
                  </a:lnTo>
                  <a:lnTo>
                    <a:pt x="571728" y="166510"/>
                  </a:lnTo>
                  <a:lnTo>
                    <a:pt x="563800" y="204966"/>
                  </a:lnTo>
                  <a:lnTo>
                    <a:pt x="551769" y="241734"/>
                  </a:lnTo>
                  <a:lnTo>
                    <a:pt x="535923" y="276603"/>
                  </a:lnTo>
                  <a:lnTo>
                    <a:pt x="493949" y="339799"/>
                  </a:lnTo>
                  <a:lnTo>
                    <a:pt x="440193" y="392872"/>
                  </a:lnTo>
                  <a:lnTo>
                    <a:pt x="376973" y="434138"/>
                  </a:lnTo>
                  <a:lnTo>
                    <a:pt x="306606" y="461915"/>
                  </a:lnTo>
                  <a:lnTo>
                    <a:pt x="231409" y="47451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780589" y="4403931"/>
              <a:ext cx="575310" cy="474980"/>
            </a:xfrm>
            <a:custGeom>
              <a:avLst/>
              <a:gdLst/>
              <a:ahLst/>
              <a:cxnLst/>
              <a:rect l="l" t="t" r="r" b="b"/>
              <a:pathLst>
                <a:path w="575309" h="474979">
                  <a:moveTo>
                    <a:pt x="212598" y="111785"/>
                  </a:moveTo>
                  <a:lnTo>
                    <a:pt x="556612" y="0"/>
                  </a:lnTo>
                  <a:lnTo>
                    <a:pt x="567994" y="43109"/>
                  </a:lnTo>
                  <a:lnTo>
                    <a:pt x="574115" y="85370"/>
                  </a:lnTo>
                  <a:lnTo>
                    <a:pt x="575263" y="126574"/>
                  </a:lnTo>
                  <a:lnTo>
                    <a:pt x="571728" y="166510"/>
                  </a:lnTo>
                  <a:lnTo>
                    <a:pt x="563800" y="204966"/>
                  </a:lnTo>
                  <a:lnTo>
                    <a:pt x="551769" y="241734"/>
                  </a:lnTo>
                  <a:lnTo>
                    <a:pt x="535923" y="276603"/>
                  </a:lnTo>
                  <a:lnTo>
                    <a:pt x="493949" y="339799"/>
                  </a:lnTo>
                  <a:lnTo>
                    <a:pt x="440193" y="392872"/>
                  </a:lnTo>
                  <a:lnTo>
                    <a:pt x="376973" y="434138"/>
                  </a:lnTo>
                  <a:lnTo>
                    <a:pt x="306606" y="461915"/>
                  </a:lnTo>
                  <a:lnTo>
                    <a:pt x="231409" y="474517"/>
                  </a:lnTo>
                  <a:lnTo>
                    <a:pt x="192722" y="474602"/>
                  </a:lnTo>
                  <a:lnTo>
                    <a:pt x="153697" y="470263"/>
                  </a:lnTo>
                  <a:lnTo>
                    <a:pt x="114623" y="461289"/>
                  </a:lnTo>
                  <a:lnTo>
                    <a:pt x="75788" y="447468"/>
                  </a:lnTo>
                  <a:lnTo>
                    <a:pt x="37484" y="428592"/>
                  </a:lnTo>
                  <a:lnTo>
                    <a:pt x="0" y="404450"/>
                  </a:lnTo>
                  <a:lnTo>
                    <a:pt x="212598" y="11178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7067326" y="4641891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6627917" y="4150782"/>
            <a:ext cx="368935" cy="661035"/>
            <a:chOff x="6627917" y="4150782"/>
            <a:chExt cx="368935" cy="661035"/>
          </a:xfrm>
        </p:grpSpPr>
        <p:sp>
          <p:nvSpPr>
            <p:cNvPr id="89" name="object 89"/>
            <p:cNvSpPr/>
            <p:nvPr/>
          </p:nvSpPr>
          <p:spPr>
            <a:xfrm>
              <a:off x="6631092" y="4153957"/>
              <a:ext cx="362585" cy="654685"/>
            </a:xfrm>
            <a:custGeom>
              <a:avLst/>
              <a:gdLst/>
              <a:ahLst/>
              <a:cxnLst/>
              <a:rect l="l" t="t" r="r" b="b"/>
              <a:pathLst>
                <a:path w="362584" h="654685">
                  <a:moveTo>
                    <a:pt x="149497" y="654424"/>
                  </a:moveTo>
                  <a:lnTo>
                    <a:pt x="114935" y="626239"/>
                  </a:lnTo>
                  <a:lnTo>
                    <a:pt x="85130" y="595645"/>
                  </a:lnTo>
                  <a:lnTo>
                    <a:pt x="59971" y="562983"/>
                  </a:lnTo>
                  <a:lnTo>
                    <a:pt x="39348" y="528593"/>
                  </a:lnTo>
                  <a:lnTo>
                    <a:pt x="23150" y="492816"/>
                  </a:lnTo>
                  <a:lnTo>
                    <a:pt x="11267" y="455993"/>
                  </a:lnTo>
                  <a:lnTo>
                    <a:pt x="3587" y="418464"/>
                  </a:lnTo>
                  <a:lnTo>
                    <a:pt x="0" y="380571"/>
                  </a:lnTo>
                  <a:lnTo>
                    <a:pt x="395" y="342652"/>
                  </a:lnTo>
                  <a:lnTo>
                    <a:pt x="12689" y="268105"/>
                  </a:lnTo>
                  <a:lnTo>
                    <a:pt x="39585" y="197548"/>
                  </a:lnTo>
                  <a:lnTo>
                    <a:pt x="80197" y="133707"/>
                  </a:lnTo>
                  <a:lnTo>
                    <a:pt x="133639" y="79306"/>
                  </a:lnTo>
                  <a:lnTo>
                    <a:pt x="164895" y="56498"/>
                  </a:lnTo>
                  <a:lnTo>
                    <a:pt x="199026" y="37071"/>
                  </a:lnTo>
                  <a:lnTo>
                    <a:pt x="235923" y="21367"/>
                  </a:lnTo>
                  <a:lnTo>
                    <a:pt x="275473" y="9727"/>
                  </a:lnTo>
                  <a:lnTo>
                    <a:pt x="317568" y="2491"/>
                  </a:lnTo>
                  <a:lnTo>
                    <a:pt x="362095" y="0"/>
                  </a:lnTo>
                  <a:lnTo>
                    <a:pt x="362095" y="361759"/>
                  </a:lnTo>
                  <a:lnTo>
                    <a:pt x="149497" y="654424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631092" y="4153957"/>
              <a:ext cx="362585" cy="654685"/>
            </a:xfrm>
            <a:custGeom>
              <a:avLst/>
              <a:gdLst/>
              <a:ahLst/>
              <a:cxnLst/>
              <a:rect l="l" t="t" r="r" b="b"/>
              <a:pathLst>
                <a:path w="362584" h="654685">
                  <a:moveTo>
                    <a:pt x="362095" y="361759"/>
                  </a:moveTo>
                  <a:lnTo>
                    <a:pt x="149497" y="654424"/>
                  </a:lnTo>
                  <a:lnTo>
                    <a:pt x="114935" y="626239"/>
                  </a:lnTo>
                  <a:lnTo>
                    <a:pt x="85130" y="595645"/>
                  </a:lnTo>
                  <a:lnTo>
                    <a:pt x="59971" y="562983"/>
                  </a:lnTo>
                  <a:lnTo>
                    <a:pt x="39348" y="528593"/>
                  </a:lnTo>
                  <a:lnTo>
                    <a:pt x="23150" y="492816"/>
                  </a:lnTo>
                  <a:lnTo>
                    <a:pt x="11267" y="455993"/>
                  </a:lnTo>
                  <a:lnTo>
                    <a:pt x="3587" y="418464"/>
                  </a:lnTo>
                  <a:lnTo>
                    <a:pt x="0" y="380571"/>
                  </a:lnTo>
                  <a:lnTo>
                    <a:pt x="395" y="342652"/>
                  </a:lnTo>
                  <a:lnTo>
                    <a:pt x="12689" y="268105"/>
                  </a:lnTo>
                  <a:lnTo>
                    <a:pt x="39585" y="197548"/>
                  </a:lnTo>
                  <a:lnTo>
                    <a:pt x="80197" y="133707"/>
                  </a:lnTo>
                  <a:lnTo>
                    <a:pt x="133639" y="79306"/>
                  </a:lnTo>
                  <a:lnTo>
                    <a:pt x="164895" y="56498"/>
                  </a:lnTo>
                  <a:lnTo>
                    <a:pt x="199026" y="37071"/>
                  </a:lnTo>
                  <a:lnTo>
                    <a:pt x="235923" y="21367"/>
                  </a:lnTo>
                  <a:lnTo>
                    <a:pt x="275473" y="9727"/>
                  </a:lnTo>
                  <a:lnTo>
                    <a:pt x="317568" y="2491"/>
                  </a:lnTo>
                  <a:lnTo>
                    <a:pt x="362095" y="0"/>
                  </a:lnTo>
                  <a:lnTo>
                    <a:pt x="362095" y="361759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6740113" y="4390717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631427" y="4153957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723519" y="361759"/>
                </a:moveTo>
                <a:lnTo>
                  <a:pt x="720298" y="411753"/>
                </a:lnTo>
                <a:lnTo>
                  <a:pt x="710895" y="459425"/>
                </a:lnTo>
                <a:lnTo>
                  <a:pt x="695696" y="504390"/>
                </a:lnTo>
                <a:lnTo>
                  <a:pt x="675085" y="546261"/>
                </a:lnTo>
                <a:lnTo>
                  <a:pt x="649450" y="584652"/>
                </a:lnTo>
                <a:lnTo>
                  <a:pt x="619177" y="619177"/>
                </a:lnTo>
                <a:lnTo>
                  <a:pt x="584652" y="649450"/>
                </a:lnTo>
                <a:lnTo>
                  <a:pt x="546261" y="675085"/>
                </a:lnTo>
                <a:lnTo>
                  <a:pt x="504390" y="695696"/>
                </a:lnTo>
                <a:lnTo>
                  <a:pt x="459425" y="710895"/>
                </a:lnTo>
                <a:lnTo>
                  <a:pt x="411753" y="720298"/>
                </a:lnTo>
                <a:lnTo>
                  <a:pt x="361759" y="723519"/>
                </a:lnTo>
                <a:lnTo>
                  <a:pt x="311765" y="720298"/>
                </a:lnTo>
                <a:lnTo>
                  <a:pt x="264093" y="710895"/>
                </a:lnTo>
                <a:lnTo>
                  <a:pt x="219128" y="695696"/>
                </a:lnTo>
                <a:lnTo>
                  <a:pt x="177257" y="675085"/>
                </a:lnTo>
                <a:lnTo>
                  <a:pt x="138866" y="649450"/>
                </a:lnTo>
                <a:lnTo>
                  <a:pt x="104341" y="619177"/>
                </a:lnTo>
                <a:lnTo>
                  <a:pt x="74068" y="584652"/>
                </a:lnTo>
                <a:lnTo>
                  <a:pt x="48433" y="546261"/>
                </a:lnTo>
                <a:lnTo>
                  <a:pt x="27822" y="504390"/>
                </a:lnTo>
                <a:lnTo>
                  <a:pt x="12623" y="459425"/>
                </a:lnTo>
                <a:lnTo>
                  <a:pt x="3220" y="411753"/>
                </a:lnTo>
                <a:lnTo>
                  <a:pt x="0" y="361759"/>
                </a:lnTo>
                <a:lnTo>
                  <a:pt x="3220" y="311765"/>
                </a:lnTo>
                <a:lnTo>
                  <a:pt x="12623" y="264093"/>
                </a:lnTo>
                <a:lnTo>
                  <a:pt x="27822" y="219128"/>
                </a:lnTo>
                <a:lnTo>
                  <a:pt x="48433" y="177257"/>
                </a:lnTo>
                <a:lnTo>
                  <a:pt x="74068" y="138866"/>
                </a:lnTo>
                <a:lnTo>
                  <a:pt x="104341" y="104341"/>
                </a:lnTo>
                <a:lnTo>
                  <a:pt x="138866" y="74068"/>
                </a:lnTo>
                <a:lnTo>
                  <a:pt x="177257" y="48433"/>
                </a:lnTo>
                <a:lnTo>
                  <a:pt x="219128" y="27822"/>
                </a:lnTo>
                <a:lnTo>
                  <a:pt x="264093" y="12623"/>
                </a:lnTo>
                <a:lnTo>
                  <a:pt x="311765" y="3220"/>
                </a:lnTo>
                <a:lnTo>
                  <a:pt x="361759" y="0"/>
                </a:lnTo>
                <a:lnTo>
                  <a:pt x="411753" y="3220"/>
                </a:lnTo>
                <a:lnTo>
                  <a:pt x="459425" y="12623"/>
                </a:lnTo>
                <a:lnTo>
                  <a:pt x="504390" y="27822"/>
                </a:lnTo>
                <a:lnTo>
                  <a:pt x="546261" y="48433"/>
                </a:lnTo>
                <a:lnTo>
                  <a:pt x="584652" y="74068"/>
                </a:lnTo>
                <a:lnTo>
                  <a:pt x="619177" y="104341"/>
                </a:lnTo>
                <a:lnTo>
                  <a:pt x="649450" y="138866"/>
                </a:lnTo>
                <a:lnTo>
                  <a:pt x="675085" y="177257"/>
                </a:lnTo>
                <a:lnTo>
                  <a:pt x="695696" y="219128"/>
                </a:lnTo>
                <a:lnTo>
                  <a:pt x="710895" y="264093"/>
                </a:lnTo>
                <a:lnTo>
                  <a:pt x="720298" y="311765"/>
                </a:lnTo>
                <a:lnTo>
                  <a:pt x="723519" y="361759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844905" y="399552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$750k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892924" y="4129954"/>
            <a:ext cx="771525" cy="771525"/>
            <a:chOff x="4892924" y="4129954"/>
            <a:chExt cx="771525" cy="771525"/>
          </a:xfrm>
        </p:grpSpPr>
        <p:sp>
          <p:nvSpPr>
            <p:cNvPr id="95" name="object 95"/>
            <p:cNvSpPr/>
            <p:nvPr/>
          </p:nvSpPr>
          <p:spPr>
            <a:xfrm>
              <a:off x="4901497" y="4138527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754380" y="377190"/>
                  </a:moveTo>
                  <a:lnTo>
                    <a:pt x="751514" y="425386"/>
                  </a:lnTo>
                  <a:lnTo>
                    <a:pt x="743129" y="471546"/>
                  </a:lnTo>
                  <a:lnTo>
                    <a:pt x="729542" y="515355"/>
                  </a:lnTo>
                  <a:lnTo>
                    <a:pt x="711068" y="556494"/>
                  </a:lnTo>
                  <a:lnTo>
                    <a:pt x="688025" y="594647"/>
                  </a:lnTo>
                  <a:lnTo>
                    <a:pt x="660730" y="629498"/>
                  </a:lnTo>
                  <a:lnTo>
                    <a:pt x="629498" y="660730"/>
                  </a:lnTo>
                  <a:lnTo>
                    <a:pt x="594647" y="688025"/>
                  </a:lnTo>
                  <a:lnTo>
                    <a:pt x="556494" y="711068"/>
                  </a:lnTo>
                  <a:lnTo>
                    <a:pt x="515355" y="729542"/>
                  </a:lnTo>
                  <a:lnTo>
                    <a:pt x="471546" y="743129"/>
                  </a:lnTo>
                  <a:lnTo>
                    <a:pt x="425386" y="751514"/>
                  </a:lnTo>
                  <a:lnTo>
                    <a:pt x="377190" y="754380"/>
                  </a:lnTo>
                  <a:lnTo>
                    <a:pt x="328993" y="751514"/>
                  </a:lnTo>
                  <a:lnTo>
                    <a:pt x="282833" y="743129"/>
                  </a:lnTo>
                  <a:lnTo>
                    <a:pt x="239024" y="729542"/>
                  </a:lnTo>
                  <a:lnTo>
                    <a:pt x="197885" y="711068"/>
                  </a:lnTo>
                  <a:lnTo>
                    <a:pt x="159732" y="688025"/>
                  </a:lnTo>
                  <a:lnTo>
                    <a:pt x="124881" y="660730"/>
                  </a:lnTo>
                  <a:lnTo>
                    <a:pt x="93650" y="629498"/>
                  </a:lnTo>
                  <a:lnTo>
                    <a:pt x="66354" y="594647"/>
                  </a:lnTo>
                  <a:lnTo>
                    <a:pt x="43311" y="556494"/>
                  </a:lnTo>
                  <a:lnTo>
                    <a:pt x="24837" y="515355"/>
                  </a:lnTo>
                  <a:lnTo>
                    <a:pt x="11250" y="471546"/>
                  </a:lnTo>
                  <a:lnTo>
                    <a:pt x="2865" y="425386"/>
                  </a:lnTo>
                  <a:lnTo>
                    <a:pt x="0" y="377190"/>
                  </a:lnTo>
                  <a:lnTo>
                    <a:pt x="2865" y="328993"/>
                  </a:lnTo>
                  <a:lnTo>
                    <a:pt x="11250" y="282833"/>
                  </a:lnTo>
                  <a:lnTo>
                    <a:pt x="24837" y="239024"/>
                  </a:lnTo>
                  <a:lnTo>
                    <a:pt x="43311" y="197885"/>
                  </a:lnTo>
                  <a:lnTo>
                    <a:pt x="66354" y="159732"/>
                  </a:lnTo>
                  <a:lnTo>
                    <a:pt x="93650" y="124881"/>
                  </a:lnTo>
                  <a:lnTo>
                    <a:pt x="124881" y="93650"/>
                  </a:lnTo>
                  <a:lnTo>
                    <a:pt x="159732" y="66354"/>
                  </a:lnTo>
                  <a:lnTo>
                    <a:pt x="197885" y="43311"/>
                  </a:lnTo>
                  <a:lnTo>
                    <a:pt x="239024" y="24837"/>
                  </a:lnTo>
                  <a:lnTo>
                    <a:pt x="282833" y="11250"/>
                  </a:lnTo>
                  <a:lnTo>
                    <a:pt x="328993" y="2865"/>
                  </a:lnTo>
                  <a:lnTo>
                    <a:pt x="377190" y="0"/>
                  </a:lnTo>
                  <a:lnTo>
                    <a:pt x="425386" y="2865"/>
                  </a:lnTo>
                  <a:lnTo>
                    <a:pt x="471546" y="11250"/>
                  </a:lnTo>
                  <a:lnTo>
                    <a:pt x="515355" y="24837"/>
                  </a:lnTo>
                  <a:lnTo>
                    <a:pt x="556494" y="43311"/>
                  </a:lnTo>
                  <a:lnTo>
                    <a:pt x="594647" y="66354"/>
                  </a:lnTo>
                  <a:lnTo>
                    <a:pt x="629498" y="93650"/>
                  </a:lnTo>
                  <a:lnTo>
                    <a:pt x="660730" y="124881"/>
                  </a:lnTo>
                  <a:lnTo>
                    <a:pt x="688025" y="159732"/>
                  </a:lnTo>
                  <a:lnTo>
                    <a:pt x="711068" y="197885"/>
                  </a:lnTo>
                  <a:lnTo>
                    <a:pt x="729542" y="239024"/>
                  </a:lnTo>
                  <a:lnTo>
                    <a:pt x="743129" y="282833"/>
                  </a:lnTo>
                  <a:lnTo>
                    <a:pt x="751514" y="328993"/>
                  </a:lnTo>
                  <a:lnTo>
                    <a:pt x="754380" y="377190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278687" y="4138527"/>
              <a:ext cx="377190" cy="494030"/>
            </a:xfrm>
            <a:custGeom>
              <a:avLst/>
              <a:gdLst/>
              <a:ahLst/>
              <a:cxnLst/>
              <a:rect l="l" t="t" r="r" b="b"/>
              <a:pathLst>
                <a:path w="377189" h="494029">
                  <a:moveTo>
                    <a:pt x="358759" y="493776"/>
                  </a:moveTo>
                  <a:lnTo>
                    <a:pt x="0" y="377190"/>
                  </a:lnTo>
                  <a:lnTo>
                    <a:pt x="0" y="0"/>
                  </a:lnTo>
                  <a:lnTo>
                    <a:pt x="47133" y="2863"/>
                  </a:lnTo>
                  <a:lnTo>
                    <a:pt x="92245" y="11212"/>
                  </a:lnTo>
                  <a:lnTo>
                    <a:pt x="135063" y="24672"/>
                  </a:lnTo>
                  <a:lnTo>
                    <a:pt x="175314" y="42866"/>
                  </a:lnTo>
                  <a:lnTo>
                    <a:pt x="212725" y="65420"/>
                  </a:lnTo>
                  <a:lnTo>
                    <a:pt x="247023" y="91956"/>
                  </a:lnTo>
                  <a:lnTo>
                    <a:pt x="277935" y="122101"/>
                  </a:lnTo>
                  <a:lnTo>
                    <a:pt x="305189" y="155478"/>
                  </a:lnTo>
                  <a:lnTo>
                    <a:pt x="328511" y="191711"/>
                  </a:lnTo>
                  <a:lnTo>
                    <a:pt x="347629" y="230426"/>
                  </a:lnTo>
                  <a:lnTo>
                    <a:pt x="362269" y="271245"/>
                  </a:lnTo>
                  <a:lnTo>
                    <a:pt x="372159" y="313794"/>
                  </a:lnTo>
                  <a:lnTo>
                    <a:pt x="377026" y="357698"/>
                  </a:lnTo>
                  <a:lnTo>
                    <a:pt x="376597" y="402579"/>
                  </a:lnTo>
                  <a:lnTo>
                    <a:pt x="370599" y="448064"/>
                  </a:lnTo>
                  <a:lnTo>
                    <a:pt x="358759" y="493776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278687" y="4138527"/>
              <a:ext cx="377190" cy="494030"/>
            </a:xfrm>
            <a:custGeom>
              <a:avLst/>
              <a:gdLst/>
              <a:ahLst/>
              <a:cxnLst/>
              <a:rect l="l" t="t" r="r" b="b"/>
              <a:pathLst>
                <a:path w="377189" h="494029">
                  <a:moveTo>
                    <a:pt x="0" y="377190"/>
                  </a:moveTo>
                  <a:lnTo>
                    <a:pt x="0" y="0"/>
                  </a:lnTo>
                  <a:lnTo>
                    <a:pt x="47133" y="2863"/>
                  </a:lnTo>
                  <a:lnTo>
                    <a:pt x="92245" y="11212"/>
                  </a:lnTo>
                  <a:lnTo>
                    <a:pt x="135063" y="24672"/>
                  </a:lnTo>
                  <a:lnTo>
                    <a:pt x="175314" y="42866"/>
                  </a:lnTo>
                  <a:lnTo>
                    <a:pt x="212725" y="65420"/>
                  </a:lnTo>
                  <a:lnTo>
                    <a:pt x="247023" y="91956"/>
                  </a:lnTo>
                  <a:lnTo>
                    <a:pt x="277935" y="122101"/>
                  </a:lnTo>
                  <a:lnTo>
                    <a:pt x="305189" y="155478"/>
                  </a:lnTo>
                  <a:lnTo>
                    <a:pt x="328511" y="191711"/>
                  </a:lnTo>
                  <a:lnTo>
                    <a:pt x="347629" y="230426"/>
                  </a:lnTo>
                  <a:lnTo>
                    <a:pt x="362269" y="271245"/>
                  </a:lnTo>
                  <a:lnTo>
                    <a:pt x="372159" y="313794"/>
                  </a:lnTo>
                  <a:lnTo>
                    <a:pt x="377026" y="357698"/>
                  </a:lnTo>
                  <a:lnTo>
                    <a:pt x="376597" y="402579"/>
                  </a:lnTo>
                  <a:lnTo>
                    <a:pt x="370599" y="448064"/>
                  </a:lnTo>
                  <a:lnTo>
                    <a:pt x="358759" y="493776"/>
                  </a:lnTo>
                  <a:lnTo>
                    <a:pt x="0" y="37719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5433526" y="4322994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053827" y="4512542"/>
            <a:ext cx="587375" cy="384175"/>
            <a:chOff x="5053827" y="4512542"/>
            <a:chExt cx="587375" cy="384175"/>
          </a:xfrm>
        </p:grpSpPr>
        <p:sp>
          <p:nvSpPr>
            <p:cNvPr id="100" name="object 100"/>
            <p:cNvSpPr/>
            <p:nvPr/>
          </p:nvSpPr>
          <p:spPr>
            <a:xfrm>
              <a:off x="5057002" y="4515717"/>
              <a:ext cx="581025" cy="377825"/>
            </a:xfrm>
            <a:custGeom>
              <a:avLst/>
              <a:gdLst/>
              <a:ahLst/>
              <a:cxnLst/>
              <a:rect l="l" t="t" r="r" b="b"/>
              <a:pathLst>
                <a:path w="581025" h="377825">
                  <a:moveTo>
                    <a:pt x="210537" y="377273"/>
                  </a:moveTo>
                  <a:lnTo>
                    <a:pt x="167017" y="373531"/>
                  </a:lnTo>
                  <a:lnTo>
                    <a:pt x="123762" y="364595"/>
                  </a:lnTo>
                  <a:lnTo>
                    <a:pt x="81213" y="350320"/>
                  </a:lnTo>
                  <a:lnTo>
                    <a:pt x="39812" y="330563"/>
                  </a:lnTo>
                  <a:lnTo>
                    <a:pt x="0" y="305181"/>
                  </a:lnTo>
                  <a:lnTo>
                    <a:pt x="221684" y="0"/>
                  </a:lnTo>
                  <a:lnTo>
                    <a:pt x="580443" y="116586"/>
                  </a:lnTo>
                  <a:lnTo>
                    <a:pt x="563153" y="160522"/>
                  </a:lnTo>
                  <a:lnTo>
                    <a:pt x="541271" y="200840"/>
                  </a:lnTo>
                  <a:lnTo>
                    <a:pt x="515238" y="237399"/>
                  </a:lnTo>
                  <a:lnTo>
                    <a:pt x="485496" y="270053"/>
                  </a:lnTo>
                  <a:lnTo>
                    <a:pt x="452487" y="298660"/>
                  </a:lnTo>
                  <a:lnTo>
                    <a:pt x="416651" y="323076"/>
                  </a:lnTo>
                  <a:lnTo>
                    <a:pt x="378431" y="343158"/>
                  </a:lnTo>
                  <a:lnTo>
                    <a:pt x="338268" y="358762"/>
                  </a:lnTo>
                  <a:lnTo>
                    <a:pt x="296604" y="369745"/>
                  </a:lnTo>
                  <a:lnTo>
                    <a:pt x="253879" y="375963"/>
                  </a:lnTo>
                  <a:lnTo>
                    <a:pt x="210537" y="377273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057002" y="4515717"/>
              <a:ext cx="581025" cy="377825"/>
            </a:xfrm>
            <a:custGeom>
              <a:avLst/>
              <a:gdLst/>
              <a:ahLst/>
              <a:cxnLst/>
              <a:rect l="l" t="t" r="r" b="b"/>
              <a:pathLst>
                <a:path w="581025" h="377825">
                  <a:moveTo>
                    <a:pt x="221684" y="0"/>
                  </a:moveTo>
                  <a:lnTo>
                    <a:pt x="580443" y="116586"/>
                  </a:lnTo>
                  <a:lnTo>
                    <a:pt x="563153" y="160522"/>
                  </a:lnTo>
                  <a:lnTo>
                    <a:pt x="541271" y="200840"/>
                  </a:lnTo>
                  <a:lnTo>
                    <a:pt x="515238" y="237399"/>
                  </a:lnTo>
                  <a:lnTo>
                    <a:pt x="485496" y="270053"/>
                  </a:lnTo>
                  <a:lnTo>
                    <a:pt x="452487" y="298660"/>
                  </a:lnTo>
                  <a:lnTo>
                    <a:pt x="416651" y="323076"/>
                  </a:lnTo>
                  <a:lnTo>
                    <a:pt x="378431" y="343158"/>
                  </a:lnTo>
                  <a:lnTo>
                    <a:pt x="338268" y="358762"/>
                  </a:lnTo>
                  <a:lnTo>
                    <a:pt x="296604" y="369745"/>
                  </a:lnTo>
                  <a:lnTo>
                    <a:pt x="253879" y="375963"/>
                  </a:lnTo>
                  <a:lnTo>
                    <a:pt x="210537" y="377273"/>
                  </a:lnTo>
                  <a:lnTo>
                    <a:pt x="167017" y="373531"/>
                  </a:lnTo>
                  <a:lnTo>
                    <a:pt x="123762" y="364595"/>
                  </a:lnTo>
                  <a:lnTo>
                    <a:pt x="81213" y="350320"/>
                  </a:lnTo>
                  <a:lnTo>
                    <a:pt x="39812" y="330563"/>
                  </a:lnTo>
                  <a:lnTo>
                    <a:pt x="0" y="305181"/>
                  </a:lnTo>
                  <a:lnTo>
                    <a:pt x="221684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5320227" y="4682182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4898918" y="4395955"/>
            <a:ext cx="383540" cy="428625"/>
            <a:chOff x="4898918" y="4395955"/>
            <a:chExt cx="383540" cy="428625"/>
          </a:xfrm>
        </p:grpSpPr>
        <p:sp>
          <p:nvSpPr>
            <p:cNvPr id="104" name="object 104"/>
            <p:cNvSpPr/>
            <p:nvPr/>
          </p:nvSpPr>
          <p:spPr>
            <a:xfrm>
              <a:off x="4902093" y="4399130"/>
              <a:ext cx="377190" cy="422275"/>
            </a:xfrm>
            <a:custGeom>
              <a:avLst/>
              <a:gdLst/>
              <a:ahLst/>
              <a:cxnLst/>
              <a:rect l="l" t="t" r="r" b="b"/>
              <a:pathLst>
                <a:path w="377189" h="422275">
                  <a:moveTo>
                    <a:pt x="154909" y="421767"/>
                  </a:moveTo>
                  <a:lnTo>
                    <a:pt x="117573" y="390815"/>
                  </a:lnTo>
                  <a:lnTo>
                    <a:pt x="85024" y="355943"/>
                  </a:lnTo>
                  <a:lnTo>
                    <a:pt x="57437" y="317686"/>
                  </a:lnTo>
                  <a:lnTo>
                    <a:pt x="34984" y="276578"/>
                  </a:lnTo>
                  <a:lnTo>
                    <a:pt x="17841" y="233154"/>
                  </a:lnTo>
                  <a:lnTo>
                    <a:pt x="6180" y="187949"/>
                  </a:lnTo>
                  <a:lnTo>
                    <a:pt x="175" y="141496"/>
                  </a:lnTo>
                  <a:lnTo>
                    <a:pt x="0" y="94330"/>
                  </a:lnTo>
                  <a:lnTo>
                    <a:pt x="5828" y="46987"/>
                  </a:lnTo>
                  <a:lnTo>
                    <a:pt x="17834" y="0"/>
                  </a:lnTo>
                  <a:lnTo>
                    <a:pt x="376593" y="116586"/>
                  </a:lnTo>
                  <a:lnTo>
                    <a:pt x="154909" y="421767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02093" y="4399130"/>
              <a:ext cx="377190" cy="422275"/>
            </a:xfrm>
            <a:custGeom>
              <a:avLst/>
              <a:gdLst/>
              <a:ahLst/>
              <a:cxnLst/>
              <a:rect l="l" t="t" r="r" b="b"/>
              <a:pathLst>
                <a:path w="377189" h="422275">
                  <a:moveTo>
                    <a:pt x="376593" y="116586"/>
                  </a:moveTo>
                  <a:lnTo>
                    <a:pt x="154909" y="421767"/>
                  </a:lnTo>
                  <a:lnTo>
                    <a:pt x="117573" y="390815"/>
                  </a:lnTo>
                  <a:lnTo>
                    <a:pt x="85024" y="355943"/>
                  </a:lnTo>
                  <a:lnTo>
                    <a:pt x="57437" y="317686"/>
                  </a:lnTo>
                  <a:lnTo>
                    <a:pt x="34984" y="276578"/>
                  </a:lnTo>
                  <a:lnTo>
                    <a:pt x="17841" y="233154"/>
                  </a:lnTo>
                  <a:lnTo>
                    <a:pt x="6180" y="187949"/>
                  </a:lnTo>
                  <a:lnTo>
                    <a:pt x="175" y="141496"/>
                  </a:lnTo>
                  <a:lnTo>
                    <a:pt x="0" y="94330"/>
                  </a:lnTo>
                  <a:lnTo>
                    <a:pt x="5828" y="46987"/>
                  </a:lnTo>
                  <a:lnTo>
                    <a:pt x="17834" y="0"/>
                  </a:lnTo>
                  <a:lnTo>
                    <a:pt x="376593" y="11658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4998782" y="4532163"/>
            <a:ext cx="1162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4916753" y="4135351"/>
            <a:ext cx="365125" cy="383540"/>
            <a:chOff x="4916753" y="4135351"/>
            <a:chExt cx="365125" cy="383540"/>
          </a:xfrm>
        </p:grpSpPr>
        <p:sp>
          <p:nvSpPr>
            <p:cNvPr id="108" name="object 108"/>
            <p:cNvSpPr/>
            <p:nvPr/>
          </p:nvSpPr>
          <p:spPr>
            <a:xfrm>
              <a:off x="4919928" y="4138526"/>
              <a:ext cx="358775" cy="377190"/>
            </a:xfrm>
            <a:custGeom>
              <a:avLst/>
              <a:gdLst/>
              <a:ahLst/>
              <a:cxnLst/>
              <a:rect l="l" t="t" r="r" b="b"/>
              <a:pathLst>
                <a:path w="358775" h="377189">
                  <a:moveTo>
                    <a:pt x="358759" y="377190"/>
                  </a:moveTo>
                  <a:lnTo>
                    <a:pt x="0" y="260604"/>
                  </a:lnTo>
                  <a:lnTo>
                    <a:pt x="17906" y="215541"/>
                  </a:lnTo>
                  <a:lnTo>
                    <a:pt x="41019" y="173821"/>
                  </a:lnTo>
                  <a:lnTo>
                    <a:pt x="68882" y="135774"/>
                  </a:lnTo>
                  <a:lnTo>
                    <a:pt x="101041" y="101728"/>
                  </a:lnTo>
                  <a:lnTo>
                    <a:pt x="137042" y="72016"/>
                  </a:lnTo>
                  <a:lnTo>
                    <a:pt x="176429" y="46966"/>
                  </a:lnTo>
                  <a:lnTo>
                    <a:pt x="218750" y="26910"/>
                  </a:lnTo>
                  <a:lnTo>
                    <a:pt x="263548" y="12176"/>
                  </a:lnTo>
                  <a:lnTo>
                    <a:pt x="310369" y="3096"/>
                  </a:lnTo>
                  <a:lnTo>
                    <a:pt x="358759" y="0"/>
                  </a:lnTo>
                  <a:lnTo>
                    <a:pt x="358759" y="37719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919928" y="4138526"/>
              <a:ext cx="358775" cy="377190"/>
            </a:xfrm>
            <a:custGeom>
              <a:avLst/>
              <a:gdLst/>
              <a:ahLst/>
              <a:cxnLst/>
              <a:rect l="l" t="t" r="r" b="b"/>
              <a:pathLst>
                <a:path w="358775" h="377189">
                  <a:moveTo>
                    <a:pt x="358759" y="377190"/>
                  </a:moveTo>
                  <a:lnTo>
                    <a:pt x="0" y="260604"/>
                  </a:lnTo>
                  <a:lnTo>
                    <a:pt x="17906" y="215541"/>
                  </a:lnTo>
                  <a:lnTo>
                    <a:pt x="41019" y="173821"/>
                  </a:lnTo>
                  <a:lnTo>
                    <a:pt x="68882" y="135774"/>
                  </a:lnTo>
                  <a:lnTo>
                    <a:pt x="101041" y="101728"/>
                  </a:lnTo>
                  <a:lnTo>
                    <a:pt x="137042" y="72016"/>
                  </a:lnTo>
                  <a:lnTo>
                    <a:pt x="176429" y="46966"/>
                  </a:lnTo>
                  <a:lnTo>
                    <a:pt x="218750" y="26910"/>
                  </a:lnTo>
                  <a:lnTo>
                    <a:pt x="263548" y="12176"/>
                  </a:lnTo>
                  <a:lnTo>
                    <a:pt x="310369" y="3096"/>
                  </a:lnTo>
                  <a:lnTo>
                    <a:pt x="358759" y="0"/>
                  </a:lnTo>
                  <a:lnTo>
                    <a:pt x="358759" y="37719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5101908" y="4270702"/>
            <a:ext cx="793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901497" y="413852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754380" y="377190"/>
                </a:moveTo>
                <a:lnTo>
                  <a:pt x="751514" y="425386"/>
                </a:lnTo>
                <a:lnTo>
                  <a:pt x="743129" y="471546"/>
                </a:lnTo>
                <a:lnTo>
                  <a:pt x="729542" y="515355"/>
                </a:lnTo>
                <a:lnTo>
                  <a:pt x="711068" y="556494"/>
                </a:lnTo>
                <a:lnTo>
                  <a:pt x="688025" y="594647"/>
                </a:lnTo>
                <a:lnTo>
                  <a:pt x="660730" y="629498"/>
                </a:lnTo>
                <a:lnTo>
                  <a:pt x="629498" y="660730"/>
                </a:lnTo>
                <a:lnTo>
                  <a:pt x="594647" y="688025"/>
                </a:lnTo>
                <a:lnTo>
                  <a:pt x="556494" y="711068"/>
                </a:lnTo>
                <a:lnTo>
                  <a:pt x="515355" y="729542"/>
                </a:lnTo>
                <a:lnTo>
                  <a:pt x="471546" y="743129"/>
                </a:lnTo>
                <a:lnTo>
                  <a:pt x="425386" y="751514"/>
                </a:lnTo>
                <a:lnTo>
                  <a:pt x="377190" y="754380"/>
                </a:lnTo>
                <a:lnTo>
                  <a:pt x="328993" y="751514"/>
                </a:lnTo>
                <a:lnTo>
                  <a:pt x="282833" y="743129"/>
                </a:lnTo>
                <a:lnTo>
                  <a:pt x="239024" y="729542"/>
                </a:lnTo>
                <a:lnTo>
                  <a:pt x="197885" y="711068"/>
                </a:lnTo>
                <a:lnTo>
                  <a:pt x="159732" y="688025"/>
                </a:lnTo>
                <a:lnTo>
                  <a:pt x="124881" y="660730"/>
                </a:lnTo>
                <a:lnTo>
                  <a:pt x="93650" y="629498"/>
                </a:lnTo>
                <a:lnTo>
                  <a:pt x="66354" y="594647"/>
                </a:lnTo>
                <a:lnTo>
                  <a:pt x="43311" y="556494"/>
                </a:lnTo>
                <a:lnTo>
                  <a:pt x="24837" y="515355"/>
                </a:lnTo>
                <a:lnTo>
                  <a:pt x="11250" y="471546"/>
                </a:lnTo>
                <a:lnTo>
                  <a:pt x="2865" y="425386"/>
                </a:lnTo>
                <a:lnTo>
                  <a:pt x="0" y="377190"/>
                </a:lnTo>
                <a:lnTo>
                  <a:pt x="2865" y="328993"/>
                </a:lnTo>
                <a:lnTo>
                  <a:pt x="11250" y="282833"/>
                </a:lnTo>
                <a:lnTo>
                  <a:pt x="24837" y="239024"/>
                </a:lnTo>
                <a:lnTo>
                  <a:pt x="43311" y="197885"/>
                </a:lnTo>
                <a:lnTo>
                  <a:pt x="66354" y="159732"/>
                </a:lnTo>
                <a:lnTo>
                  <a:pt x="93650" y="124881"/>
                </a:lnTo>
                <a:lnTo>
                  <a:pt x="124881" y="93650"/>
                </a:lnTo>
                <a:lnTo>
                  <a:pt x="159732" y="66354"/>
                </a:lnTo>
                <a:lnTo>
                  <a:pt x="197885" y="43311"/>
                </a:lnTo>
                <a:lnTo>
                  <a:pt x="239024" y="24837"/>
                </a:lnTo>
                <a:lnTo>
                  <a:pt x="282833" y="11250"/>
                </a:lnTo>
                <a:lnTo>
                  <a:pt x="328993" y="2865"/>
                </a:lnTo>
                <a:lnTo>
                  <a:pt x="377190" y="0"/>
                </a:lnTo>
                <a:lnTo>
                  <a:pt x="425386" y="2865"/>
                </a:lnTo>
                <a:lnTo>
                  <a:pt x="471546" y="11250"/>
                </a:lnTo>
                <a:lnTo>
                  <a:pt x="515355" y="24837"/>
                </a:lnTo>
                <a:lnTo>
                  <a:pt x="556494" y="43311"/>
                </a:lnTo>
                <a:lnTo>
                  <a:pt x="594647" y="66354"/>
                </a:lnTo>
                <a:lnTo>
                  <a:pt x="629498" y="93650"/>
                </a:lnTo>
                <a:lnTo>
                  <a:pt x="660730" y="124881"/>
                </a:lnTo>
                <a:lnTo>
                  <a:pt x="688025" y="159732"/>
                </a:lnTo>
                <a:lnTo>
                  <a:pt x="711068" y="197885"/>
                </a:lnTo>
                <a:lnTo>
                  <a:pt x="729542" y="239024"/>
                </a:lnTo>
                <a:lnTo>
                  <a:pt x="743129" y="282833"/>
                </a:lnTo>
                <a:lnTo>
                  <a:pt x="751514" y="328993"/>
                </a:lnTo>
                <a:lnTo>
                  <a:pt x="754380" y="377190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5130405" y="3980094"/>
            <a:ext cx="29718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$850k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3086699" y="4038228"/>
            <a:ext cx="955040" cy="955040"/>
            <a:chOff x="3086699" y="4038228"/>
            <a:chExt cx="955040" cy="955040"/>
          </a:xfrm>
        </p:grpSpPr>
        <p:sp>
          <p:nvSpPr>
            <p:cNvPr id="114" name="object 114"/>
            <p:cNvSpPr/>
            <p:nvPr/>
          </p:nvSpPr>
          <p:spPr>
            <a:xfrm>
              <a:off x="3095271" y="4046801"/>
              <a:ext cx="937894" cy="937894"/>
            </a:xfrm>
            <a:custGeom>
              <a:avLst/>
              <a:gdLst/>
              <a:ahLst/>
              <a:cxnLst/>
              <a:rect l="l" t="t" r="r" b="b"/>
              <a:pathLst>
                <a:path w="937895" h="937895">
                  <a:moveTo>
                    <a:pt x="937831" y="468915"/>
                  </a:moveTo>
                  <a:lnTo>
                    <a:pt x="935471" y="517779"/>
                  </a:lnTo>
                  <a:lnTo>
                    <a:pt x="928533" y="565020"/>
                  </a:lnTo>
                  <a:lnTo>
                    <a:pt x="917228" y="610429"/>
                  </a:lnTo>
                  <a:lnTo>
                    <a:pt x="901766" y="653793"/>
                  </a:lnTo>
                  <a:lnTo>
                    <a:pt x="882360" y="694901"/>
                  </a:lnTo>
                  <a:lnTo>
                    <a:pt x="859219" y="733543"/>
                  </a:lnTo>
                  <a:lnTo>
                    <a:pt x="832556" y="769507"/>
                  </a:lnTo>
                  <a:lnTo>
                    <a:pt x="802582" y="802582"/>
                  </a:lnTo>
                  <a:lnTo>
                    <a:pt x="769507" y="832556"/>
                  </a:lnTo>
                  <a:lnTo>
                    <a:pt x="733543" y="859219"/>
                  </a:lnTo>
                  <a:lnTo>
                    <a:pt x="694901" y="882360"/>
                  </a:lnTo>
                  <a:lnTo>
                    <a:pt x="653793" y="901766"/>
                  </a:lnTo>
                  <a:lnTo>
                    <a:pt x="610429" y="917228"/>
                  </a:lnTo>
                  <a:lnTo>
                    <a:pt x="565020" y="928533"/>
                  </a:lnTo>
                  <a:lnTo>
                    <a:pt x="517779" y="935471"/>
                  </a:lnTo>
                  <a:lnTo>
                    <a:pt x="468915" y="937831"/>
                  </a:lnTo>
                  <a:lnTo>
                    <a:pt x="420052" y="935471"/>
                  </a:lnTo>
                  <a:lnTo>
                    <a:pt x="372810" y="928533"/>
                  </a:lnTo>
                  <a:lnTo>
                    <a:pt x="327402" y="917228"/>
                  </a:lnTo>
                  <a:lnTo>
                    <a:pt x="284038" y="901766"/>
                  </a:lnTo>
                  <a:lnTo>
                    <a:pt x="242929" y="882360"/>
                  </a:lnTo>
                  <a:lnTo>
                    <a:pt x="204287" y="859219"/>
                  </a:lnTo>
                  <a:lnTo>
                    <a:pt x="168324" y="832556"/>
                  </a:lnTo>
                  <a:lnTo>
                    <a:pt x="135249" y="802582"/>
                  </a:lnTo>
                  <a:lnTo>
                    <a:pt x="105274" y="769507"/>
                  </a:lnTo>
                  <a:lnTo>
                    <a:pt x="78611" y="733543"/>
                  </a:lnTo>
                  <a:lnTo>
                    <a:pt x="55471" y="694901"/>
                  </a:lnTo>
                  <a:lnTo>
                    <a:pt x="36064" y="653793"/>
                  </a:lnTo>
                  <a:lnTo>
                    <a:pt x="20603" y="610429"/>
                  </a:lnTo>
                  <a:lnTo>
                    <a:pt x="9297" y="565020"/>
                  </a:lnTo>
                  <a:lnTo>
                    <a:pt x="2359" y="517779"/>
                  </a:lnTo>
                  <a:lnTo>
                    <a:pt x="0" y="468915"/>
                  </a:lnTo>
                  <a:lnTo>
                    <a:pt x="2359" y="420052"/>
                  </a:lnTo>
                  <a:lnTo>
                    <a:pt x="9297" y="372810"/>
                  </a:lnTo>
                  <a:lnTo>
                    <a:pt x="20603" y="327402"/>
                  </a:lnTo>
                  <a:lnTo>
                    <a:pt x="36064" y="284038"/>
                  </a:lnTo>
                  <a:lnTo>
                    <a:pt x="55471" y="242929"/>
                  </a:lnTo>
                  <a:lnTo>
                    <a:pt x="78611" y="204287"/>
                  </a:lnTo>
                  <a:lnTo>
                    <a:pt x="105274" y="168324"/>
                  </a:lnTo>
                  <a:lnTo>
                    <a:pt x="135249" y="135249"/>
                  </a:lnTo>
                  <a:lnTo>
                    <a:pt x="168324" y="105274"/>
                  </a:lnTo>
                  <a:lnTo>
                    <a:pt x="204287" y="78611"/>
                  </a:lnTo>
                  <a:lnTo>
                    <a:pt x="242929" y="55471"/>
                  </a:lnTo>
                  <a:lnTo>
                    <a:pt x="284038" y="36064"/>
                  </a:lnTo>
                  <a:lnTo>
                    <a:pt x="327402" y="20603"/>
                  </a:lnTo>
                  <a:lnTo>
                    <a:pt x="372810" y="9297"/>
                  </a:lnTo>
                  <a:lnTo>
                    <a:pt x="420052" y="2359"/>
                  </a:lnTo>
                  <a:lnTo>
                    <a:pt x="468915" y="0"/>
                  </a:lnTo>
                  <a:lnTo>
                    <a:pt x="517779" y="2359"/>
                  </a:lnTo>
                  <a:lnTo>
                    <a:pt x="565020" y="9297"/>
                  </a:lnTo>
                  <a:lnTo>
                    <a:pt x="610429" y="20603"/>
                  </a:lnTo>
                  <a:lnTo>
                    <a:pt x="653793" y="36064"/>
                  </a:lnTo>
                  <a:lnTo>
                    <a:pt x="694901" y="55471"/>
                  </a:lnTo>
                  <a:lnTo>
                    <a:pt x="733543" y="78611"/>
                  </a:lnTo>
                  <a:lnTo>
                    <a:pt x="769507" y="105274"/>
                  </a:lnTo>
                  <a:lnTo>
                    <a:pt x="802582" y="135249"/>
                  </a:lnTo>
                  <a:lnTo>
                    <a:pt x="832556" y="168324"/>
                  </a:lnTo>
                  <a:lnTo>
                    <a:pt x="859219" y="204287"/>
                  </a:lnTo>
                  <a:lnTo>
                    <a:pt x="882360" y="242929"/>
                  </a:lnTo>
                  <a:lnTo>
                    <a:pt x="901766" y="284038"/>
                  </a:lnTo>
                  <a:lnTo>
                    <a:pt x="917228" y="327402"/>
                  </a:lnTo>
                  <a:lnTo>
                    <a:pt x="928533" y="372810"/>
                  </a:lnTo>
                  <a:lnTo>
                    <a:pt x="935471" y="420052"/>
                  </a:lnTo>
                  <a:lnTo>
                    <a:pt x="937831" y="468915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564187" y="4046801"/>
              <a:ext cx="469265" cy="937894"/>
            </a:xfrm>
            <a:custGeom>
              <a:avLst/>
              <a:gdLst/>
              <a:ahLst/>
              <a:cxnLst/>
              <a:rect l="l" t="t" r="r" b="b"/>
              <a:pathLst>
                <a:path w="469264" h="937895">
                  <a:moveTo>
                    <a:pt x="0" y="937831"/>
                  </a:moveTo>
                  <a:lnTo>
                    <a:pt x="0" y="468915"/>
                  </a:lnTo>
                  <a:lnTo>
                    <a:pt x="0" y="0"/>
                  </a:lnTo>
                  <a:lnTo>
                    <a:pt x="42605" y="1498"/>
                  </a:lnTo>
                  <a:lnTo>
                    <a:pt x="83182" y="5897"/>
                  </a:lnTo>
                  <a:lnTo>
                    <a:pt x="121729" y="13057"/>
                  </a:lnTo>
                  <a:lnTo>
                    <a:pt x="192738" y="35091"/>
                  </a:lnTo>
                  <a:lnTo>
                    <a:pt x="255632" y="66468"/>
                  </a:lnTo>
                  <a:lnTo>
                    <a:pt x="310411" y="106054"/>
                  </a:lnTo>
                  <a:lnTo>
                    <a:pt x="357074" y="152717"/>
                  </a:lnTo>
                  <a:lnTo>
                    <a:pt x="395622" y="205325"/>
                  </a:lnTo>
                  <a:lnTo>
                    <a:pt x="426054" y="262746"/>
                  </a:lnTo>
                  <a:lnTo>
                    <a:pt x="448371" y="323847"/>
                  </a:lnTo>
                  <a:lnTo>
                    <a:pt x="462573" y="387496"/>
                  </a:lnTo>
                  <a:lnTo>
                    <a:pt x="468660" y="452561"/>
                  </a:lnTo>
                  <a:lnTo>
                    <a:pt x="468660" y="485270"/>
                  </a:lnTo>
                  <a:lnTo>
                    <a:pt x="462573" y="550334"/>
                  </a:lnTo>
                  <a:lnTo>
                    <a:pt x="448371" y="613983"/>
                  </a:lnTo>
                  <a:lnTo>
                    <a:pt x="426054" y="675084"/>
                  </a:lnTo>
                  <a:lnTo>
                    <a:pt x="395622" y="732505"/>
                  </a:lnTo>
                  <a:lnTo>
                    <a:pt x="357074" y="785114"/>
                  </a:lnTo>
                  <a:lnTo>
                    <a:pt x="310411" y="831777"/>
                  </a:lnTo>
                  <a:lnTo>
                    <a:pt x="255632" y="871363"/>
                  </a:lnTo>
                  <a:lnTo>
                    <a:pt x="192738" y="902739"/>
                  </a:lnTo>
                  <a:lnTo>
                    <a:pt x="121729" y="924773"/>
                  </a:lnTo>
                  <a:lnTo>
                    <a:pt x="83182" y="931933"/>
                  </a:lnTo>
                  <a:lnTo>
                    <a:pt x="42605" y="936333"/>
                  </a:lnTo>
                  <a:lnTo>
                    <a:pt x="0" y="937831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564187" y="4046801"/>
              <a:ext cx="469265" cy="937894"/>
            </a:xfrm>
            <a:custGeom>
              <a:avLst/>
              <a:gdLst/>
              <a:ahLst/>
              <a:cxnLst/>
              <a:rect l="l" t="t" r="r" b="b"/>
              <a:pathLst>
                <a:path w="469264" h="937895">
                  <a:moveTo>
                    <a:pt x="0" y="468915"/>
                  </a:moveTo>
                  <a:lnTo>
                    <a:pt x="0" y="0"/>
                  </a:lnTo>
                  <a:lnTo>
                    <a:pt x="42605" y="1498"/>
                  </a:lnTo>
                  <a:lnTo>
                    <a:pt x="83182" y="5897"/>
                  </a:lnTo>
                  <a:lnTo>
                    <a:pt x="121729" y="13057"/>
                  </a:lnTo>
                  <a:lnTo>
                    <a:pt x="192738" y="35091"/>
                  </a:lnTo>
                  <a:lnTo>
                    <a:pt x="255632" y="66468"/>
                  </a:lnTo>
                  <a:lnTo>
                    <a:pt x="310411" y="106054"/>
                  </a:lnTo>
                  <a:lnTo>
                    <a:pt x="357074" y="152717"/>
                  </a:lnTo>
                  <a:lnTo>
                    <a:pt x="395622" y="205325"/>
                  </a:lnTo>
                  <a:lnTo>
                    <a:pt x="426054" y="262746"/>
                  </a:lnTo>
                  <a:lnTo>
                    <a:pt x="448371" y="323847"/>
                  </a:lnTo>
                  <a:lnTo>
                    <a:pt x="462573" y="387496"/>
                  </a:lnTo>
                  <a:lnTo>
                    <a:pt x="468660" y="452561"/>
                  </a:lnTo>
                  <a:lnTo>
                    <a:pt x="468660" y="485270"/>
                  </a:lnTo>
                  <a:lnTo>
                    <a:pt x="462573" y="550334"/>
                  </a:lnTo>
                  <a:lnTo>
                    <a:pt x="448371" y="613983"/>
                  </a:lnTo>
                  <a:lnTo>
                    <a:pt x="426054" y="675084"/>
                  </a:lnTo>
                  <a:lnTo>
                    <a:pt x="395622" y="732505"/>
                  </a:lnTo>
                  <a:lnTo>
                    <a:pt x="357074" y="785114"/>
                  </a:lnTo>
                  <a:lnTo>
                    <a:pt x="310411" y="831777"/>
                  </a:lnTo>
                  <a:lnTo>
                    <a:pt x="255632" y="871363"/>
                  </a:lnTo>
                  <a:lnTo>
                    <a:pt x="192738" y="902739"/>
                  </a:lnTo>
                  <a:lnTo>
                    <a:pt x="121729" y="924773"/>
                  </a:lnTo>
                  <a:lnTo>
                    <a:pt x="83182" y="931933"/>
                  </a:lnTo>
                  <a:lnTo>
                    <a:pt x="42605" y="936333"/>
                  </a:lnTo>
                  <a:lnTo>
                    <a:pt x="0" y="937831"/>
                  </a:lnTo>
                  <a:lnTo>
                    <a:pt x="0" y="46891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3820182" y="4460154"/>
            <a:ext cx="698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3285406" y="4512542"/>
            <a:ext cx="282575" cy="475615"/>
            <a:chOff x="3285406" y="4512542"/>
            <a:chExt cx="282575" cy="475615"/>
          </a:xfrm>
        </p:grpSpPr>
        <p:sp>
          <p:nvSpPr>
            <p:cNvPr id="119" name="object 119"/>
            <p:cNvSpPr/>
            <p:nvPr/>
          </p:nvSpPr>
          <p:spPr>
            <a:xfrm>
              <a:off x="3288581" y="4515717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226370" y="466319"/>
                  </a:lnTo>
                  <a:lnTo>
                    <a:pt x="177943" y="458623"/>
                  </a:lnTo>
                  <a:lnTo>
                    <a:pt x="130708" y="445952"/>
                  </a:lnTo>
                  <a:lnTo>
                    <a:pt x="85049" y="428430"/>
                  </a:lnTo>
                  <a:lnTo>
                    <a:pt x="41351" y="406182"/>
                  </a:lnTo>
                  <a:lnTo>
                    <a:pt x="0" y="379333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88581" y="4515717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0"/>
                  </a:moveTo>
                  <a:lnTo>
                    <a:pt x="275605" y="468915"/>
                  </a:lnTo>
                  <a:lnTo>
                    <a:pt x="226370" y="466319"/>
                  </a:lnTo>
                  <a:lnTo>
                    <a:pt x="177943" y="458623"/>
                  </a:lnTo>
                  <a:lnTo>
                    <a:pt x="130708" y="445952"/>
                  </a:lnTo>
                  <a:lnTo>
                    <a:pt x="85049" y="428430"/>
                  </a:lnTo>
                  <a:lnTo>
                    <a:pt x="41351" y="406182"/>
                  </a:lnTo>
                  <a:lnTo>
                    <a:pt x="0" y="379333"/>
                  </a:lnTo>
                  <a:lnTo>
                    <a:pt x="275605" y="0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3443707" y="4737046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092152" y="4133208"/>
            <a:ext cx="475615" cy="765175"/>
            <a:chOff x="3092152" y="4133208"/>
            <a:chExt cx="475615" cy="765175"/>
          </a:xfrm>
        </p:grpSpPr>
        <p:sp>
          <p:nvSpPr>
            <p:cNvPr id="123" name="object 123"/>
            <p:cNvSpPr/>
            <p:nvPr/>
          </p:nvSpPr>
          <p:spPr>
            <a:xfrm>
              <a:off x="3095327" y="4136383"/>
              <a:ext cx="469265" cy="758825"/>
            </a:xfrm>
            <a:custGeom>
              <a:avLst/>
              <a:gdLst/>
              <a:ahLst/>
              <a:cxnLst/>
              <a:rect l="l" t="t" r="r" b="b"/>
              <a:pathLst>
                <a:path w="469264" h="758825">
                  <a:moveTo>
                    <a:pt x="193254" y="758666"/>
                  </a:moveTo>
                  <a:lnTo>
                    <a:pt x="156535" y="729151"/>
                  </a:lnTo>
                  <a:lnTo>
                    <a:pt x="123682" y="696977"/>
                  </a:lnTo>
                  <a:lnTo>
                    <a:pt x="94694" y="662441"/>
                  </a:lnTo>
                  <a:lnTo>
                    <a:pt x="69571" y="625837"/>
                  </a:lnTo>
                  <a:lnTo>
                    <a:pt x="48313" y="587460"/>
                  </a:lnTo>
                  <a:lnTo>
                    <a:pt x="30920" y="547607"/>
                  </a:lnTo>
                  <a:lnTo>
                    <a:pt x="17392" y="506572"/>
                  </a:lnTo>
                  <a:lnTo>
                    <a:pt x="7730" y="464651"/>
                  </a:lnTo>
                  <a:lnTo>
                    <a:pt x="1932" y="422140"/>
                  </a:lnTo>
                  <a:lnTo>
                    <a:pt x="0" y="379333"/>
                  </a:lnTo>
                  <a:lnTo>
                    <a:pt x="1932" y="336526"/>
                  </a:lnTo>
                  <a:lnTo>
                    <a:pt x="7730" y="294014"/>
                  </a:lnTo>
                  <a:lnTo>
                    <a:pt x="17392" y="252093"/>
                  </a:lnTo>
                  <a:lnTo>
                    <a:pt x="30920" y="211058"/>
                  </a:lnTo>
                  <a:lnTo>
                    <a:pt x="48313" y="171205"/>
                  </a:lnTo>
                  <a:lnTo>
                    <a:pt x="69571" y="132829"/>
                  </a:lnTo>
                  <a:lnTo>
                    <a:pt x="94694" y="96224"/>
                  </a:lnTo>
                  <a:lnTo>
                    <a:pt x="123682" y="61688"/>
                  </a:lnTo>
                  <a:lnTo>
                    <a:pt x="156535" y="29515"/>
                  </a:lnTo>
                  <a:lnTo>
                    <a:pt x="193254" y="0"/>
                  </a:lnTo>
                  <a:lnTo>
                    <a:pt x="468860" y="379333"/>
                  </a:lnTo>
                  <a:lnTo>
                    <a:pt x="193254" y="758666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095327" y="4136383"/>
              <a:ext cx="469265" cy="758825"/>
            </a:xfrm>
            <a:custGeom>
              <a:avLst/>
              <a:gdLst/>
              <a:ahLst/>
              <a:cxnLst/>
              <a:rect l="l" t="t" r="r" b="b"/>
              <a:pathLst>
                <a:path w="469264" h="758825">
                  <a:moveTo>
                    <a:pt x="468860" y="379333"/>
                  </a:moveTo>
                  <a:lnTo>
                    <a:pt x="193254" y="758666"/>
                  </a:lnTo>
                  <a:lnTo>
                    <a:pt x="156535" y="729151"/>
                  </a:lnTo>
                  <a:lnTo>
                    <a:pt x="123682" y="696977"/>
                  </a:lnTo>
                  <a:lnTo>
                    <a:pt x="94694" y="662441"/>
                  </a:lnTo>
                  <a:lnTo>
                    <a:pt x="69571" y="625837"/>
                  </a:lnTo>
                  <a:lnTo>
                    <a:pt x="48313" y="587460"/>
                  </a:lnTo>
                  <a:lnTo>
                    <a:pt x="30920" y="547607"/>
                  </a:lnTo>
                  <a:lnTo>
                    <a:pt x="17392" y="506572"/>
                  </a:lnTo>
                  <a:lnTo>
                    <a:pt x="7730" y="464651"/>
                  </a:lnTo>
                  <a:lnTo>
                    <a:pt x="1932" y="422140"/>
                  </a:lnTo>
                  <a:lnTo>
                    <a:pt x="0" y="379333"/>
                  </a:lnTo>
                  <a:lnTo>
                    <a:pt x="1932" y="336526"/>
                  </a:lnTo>
                  <a:lnTo>
                    <a:pt x="7730" y="294014"/>
                  </a:lnTo>
                  <a:lnTo>
                    <a:pt x="17392" y="252093"/>
                  </a:lnTo>
                  <a:lnTo>
                    <a:pt x="30920" y="211058"/>
                  </a:lnTo>
                  <a:lnTo>
                    <a:pt x="48313" y="171205"/>
                  </a:lnTo>
                  <a:lnTo>
                    <a:pt x="69571" y="132829"/>
                  </a:lnTo>
                  <a:lnTo>
                    <a:pt x="94694" y="96224"/>
                  </a:lnTo>
                  <a:lnTo>
                    <a:pt x="123682" y="61688"/>
                  </a:lnTo>
                  <a:lnTo>
                    <a:pt x="156535" y="29515"/>
                  </a:lnTo>
                  <a:lnTo>
                    <a:pt x="193254" y="0"/>
                  </a:lnTo>
                  <a:lnTo>
                    <a:pt x="468860" y="379333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3228402" y="4460154"/>
            <a:ext cx="1035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3285406" y="4043626"/>
            <a:ext cx="282575" cy="475615"/>
            <a:chOff x="3285406" y="4043626"/>
            <a:chExt cx="282575" cy="475615"/>
          </a:xfrm>
        </p:grpSpPr>
        <p:sp>
          <p:nvSpPr>
            <p:cNvPr id="127" name="object 127"/>
            <p:cNvSpPr/>
            <p:nvPr/>
          </p:nvSpPr>
          <p:spPr>
            <a:xfrm>
              <a:off x="3288581" y="4046801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0" y="89582"/>
                  </a:lnTo>
                  <a:lnTo>
                    <a:pt x="41351" y="62733"/>
                  </a:lnTo>
                  <a:lnTo>
                    <a:pt x="85049" y="40485"/>
                  </a:lnTo>
                  <a:lnTo>
                    <a:pt x="130708" y="22963"/>
                  </a:lnTo>
                  <a:lnTo>
                    <a:pt x="177943" y="10292"/>
                  </a:lnTo>
                  <a:lnTo>
                    <a:pt x="226370" y="2595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88581" y="4046801"/>
              <a:ext cx="276225" cy="469265"/>
            </a:xfrm>
            <a:custGeom>
              <a:avLst/>
              <a:gdLst/>
              <a:ahLst/>
              <a:cxnLst/>
              <a:rect l="l" t="t" r="r" b="b"/>
              <a:pathLst>
                <a:path w="276225" h="469264">
                  <a:moveTo>
                    <a:pt x="275605" y="468915"/>
                  </a:moveTo>
                  <a:lnTo>
                    <a:pt x="0" y="89582"/>
                  </a:lnTo>
                  <a:lnTo>
                    <a:pt x="41351" y="62733"/>
                  </a:lnTo>
                  <a:lnTo>
                    <a:pt x="85049" y="40485"/>
                  </a:lnTo>
                  <a:lnTo>
                    <a:pt x="130708" y="22963"/>
                  </a:lnTo>
                  <a:lnTo>
                    <a:pt x="177943" y="10292"/>
                  </a:lnTo>
                  <a:lnTo>
                    <a:pt x="226370" y="2595"/>
                  </a:lnTo>
                  <a:lnTo>
                    <a:pt x="275605" y="0"/>
                  </a:lnTo>
                  <a:lnTo>
                    <a:pt x="275605" y="468915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447257" y="4183262"/>
            <a:ext cx="6667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3095271" y="4046801"/>
            <a:ext cx="937894" cy="937894"/>
          </a:xfrm>
          <a:custGeom>
            <a:avLst/>
            <a:gdLst/>
            <a:ahLst/>
            <a:cxnLst/>
            <a:rect l="l" t="t" r="r" b="b"/>
            <a:pathLst>
              <a:path w="937895" h="937895">
                <a:moveTo>
                  <a:pt x="937831" y="468915"/>
                </a:moveTo>
                <a:lnTo>
                  <a:pt x="935471" y="517779"/>
                </a:lnTo>
                <a:lnTo>
                  <a:pt x="928533" y="565020"/>
                </a:lnTo>
                <a:lnTo>
                  <a:pt x="917228" y="610429"/>
                </a:lnTo>
                <a:lnTo>
                  <a:pt x="901766" y="653793"/>
                </a:lnTo>
                <a:lnTo>
                  <a:pt x="882360" y="694901"/>
                </a:lnTo>
                <a:lnTo>
                  <a:pt x="859219" y="733543"/>
                </a:lnTo>
                <a:lnTo>
                  <a:pt x="832556" y="769507"/>
                </a:lnTo>
                <a:lnTo>
                  <a:pt x="802582" y="802582"/>
                </a:lnTo>
                <a:lnTo>
                  <a:pt x="769507" y="832556"/>
                </a:lnTo>
                <a:lnTo>
                  <a:pt x="733543" y="859219"/>
                </a:lnTo>
                <a:lnTo>
                  <a:pt x="694901" y="882360"/>
                </a:lnTo>
                <a:lnTo>
                  <a:pt x="653793" y="901766"/>
                </a:lnTo>
                <a:lnTo>
                  <a:pt x="610429" y="917228"/>
                </a:lnTo>
                <a:lnTo>
                  <a:pt x="565020" y="928533"/>
                </a:lnTo>
                <a:lnTo>
                  <a:pt x="517779" y="935471"/>
                </a:lnTo>
                <a:lnTo>
                  <a:pt x="468915" y="937831"/>
                </a:lnTo>
                <a:lnTo>
                  <a:pt x="420052" y="935471"/>
                </a:lnTo>
                <a:lnTo>
                  <a:pt x="372810" y="928533"/>
                </a:lnTo>
                <a:lnTo>
                  <a:pt x="327402" y="917228"/>
                </a:lnTo>
                <a:lnTo>
                  <a:pt x="284038" y="901766"/>
                </a:lnTo>
                <a:lnTo>
                  <a:pt x="242929" y="882360"/>
                </a:lnTo>
                <a:lnTo>
                  <a:pt x="204287" y="859219"/>
                </a:lnTo>
                <a:lnTo>
                  <a:pt x="168324" y="832556"/>
                </a:lnTo>
                <a:lnTo>
                  <a:pt x="135249" y="802582"/>
                </a:lnTo>
                <a:lnTo>
                  <a:pt x="105274" y="769507"/>
                </a:lnTo>
                <a:lnTo>
                  <a:pt x="78611" y="733543"/>
                </a:lnTo>
                <a:lnTo>
                  <a:pt x="55471" y="694901"/>
                </a:lnTo>
                <a:lnTo>
                  <a:pt x="36064" y="653793"/>
                </a:lnTo>
                <a:lnTo>
                  <a:pt x="20603" y="610429"/>
                </a:lnTo>
                <a:lnTo>
                  <a:pt x="9297" y="565020"/>
                </a:lnTo>
                <a:lnTo>
                  <a:pt x="2359" y="517779"/>
                </a:lnTo>
                <a:lnTo>
                  <a:pt x="0" y="468915"/>
                </a:lnTo>
                <a:lnTo>
                  <a:pt x="2359" y="420052"/>
                </a:lnTo>
                <a:lnTo>
                  <a:pt x="9297" y="372810"/>
                </a:lnTo>
                <a:lnTo>
                  <a:pt x="20603" y="327402"/>
                </a:lnTo>
                <a:lnTo>
                  <a:pt x="36064" y="284038"/>
                </a:lnTo>
                <a:lnTo>
                  <a:pt x="55471" y="242929"/>
                </a:lnTo>
                <a:lnTo>
                  <a:pt x="78611" y="204287"/>
                </a:lnTo>
                <a:lnTo>
                  <a:pt x="105274" y="168324"/>
                </a:lnTo>
                <a:lnTo>
                  <a:pt x="135249" y="135249"/>
                </a:lnTo>
                <a:lnTo>
                  <a:pt x="168324" y="105274"/>
                </a:lnTo>
                <a:lnTo>
                  <a:pt x="204287" y="78611"/>
                </a:lnTo>
                <a:lnTo>
                  <a:pt x="242929" y="55471"/>
                </a:lnTo>
                <a:lnTo>
                  <a:pt x="284038" y="36064"/>
                </a:lnTo>
                <a:lnTo>
                  <a:pt x="327402" y="20603"/>
                </a:lnTo>
                <a:lnTo>
                  <a:pt x="372810" y="9297"/>
                </a:lnTo>
                <a:lnTo>
                  <a:pt x="420052" y="2359"/>
                </a:lnTo>
                <a:lnTo>
                  <a:pt x="468915" y="0"/>
                </a:lnTo>
                <a:lnTo>
                  <a:pt x="517779" y="2359"/>
                </a:lnTo>
                <a:lnTo>
                  <a:pt x="565020" y="9297"/>
                </a:lnTo>
                <a:lnTo>
                  <a:pt x="610429" y="20603"/>
                </a:lnTo>
                <a:lnTo>
                  <a:pt x="653793" y="36064"/>
                </a:lnTo>
                <a:lnTo>
                  <a:pt x="694901" y="55471"/>
                </a:lnTo>
                <a:lnTo>
                  <a:pt x="733543" y="78611"/>
                </a:lnTo>
                <a:lnTo>
                  <a:pt x="769507" y="105274"/>
                </a:lnTo>
                <a:lnTo>
                  <a:pt x="802582" y="135249"/>
                </a:lnTo>
                <a:lnTo>
                  <a:pt x="832556" y="168324"/>
                </a:lnTo>
                <a:lnTo>
                  <a:pt x="859219" y="204287"/>
                </a:lnTo>
                <a:lnTo>
                  <a:pt x="882360" y="242929"/>
                </a:lnTo>
                <a:lnTo>
                  <a:pt x="901766" y="284038"/>
                </a:lnTo>
                <a:lnTo>
                  <a:pt x="917228" y="327402"/>
                </a:lnTo>
                <a:lnTo>
                  <a:pt x="928533" y="372810"/>
                </a:lnTo>
                <a:lnTo>
                  <a:pt x="935471" y="420052"/>
                </a:lnTo>
                <a:lnTo>
                  <a:pt x="937831" y="468915"/>
                </a:lnTo>
                <a:close/>
              </a:path>
            </a:pathLst>
          </a:custGeom>
          <a:ln w="1285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3387241" y="3888368"/>
            <a:ext cx="3670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$1,450k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1425348" y="4091378"/>
            <a:ext cx="848994" cy="848994"/>
            <a:chOff x="1425348" y="4091378"/>
            <a:chExt cx="848994" cy="848994"/>
          </a:xfrm>
        </p:grpSpPr>
        <p:sp>
          <p:nvSpPr>
            <p:cNvPr id="133" name="object 133"/>
            <p:cNvSpPr/>
            <p:nvPr/>
          </p:nvSpPr>
          <p:spPr>
            <a:xfrm>
              <a:off x="1433921" y="4099950"/>
              <a:ext cx="831850" cy="831850"/>
            </a:xfrm>
            <a:custGeom>
              <a:avLst/>
              <a:gdLst/>
              <a:ahLst/>
              <a:cxnLst/>
              <a:rect l="l" t="t" r="r" b="b"/>
              <a:pathLst>
                <a:path w="831850" h="831850">
                  <a:moveTo>
                    <a:pt x="831532" y="415766"/>
                  </a:moveTo>
                  <a:lnTo>
                    <a:pt x="828805" y="465167"/>
                  </a:lnTo>
                  <a:lnTo>
                    <a:pt x="820811" y="512655"/>
                  </a:lnTo>
                  <a:lnTo>
                    <a:pt x="807829" y="557950"/>
                  </a:lnTo>
                  <a:lnTo>
                    <a:pt x="790139" y="600773"/>
                  </a:lnTo>
                  <a:lnTo>
                    <a:pt x="768019" y="640844"/>
                  </a:lnTo>
                  <a:lnTo>
                    <a:pt x="741751" y="677884"/>
                  </a:lnTo>
                  <a:lnTo>
                    <a:pt x="711612" y="711612"/>
                  </a:lnTo>
                  <a:lnTo>
                    <a:pt x="677884" y="741751"/>
                  </a:lnTo>
                  <a:lnTo>
                    <a:pt x="640844" y="768019"/>
                  </a:lnTo>
                  <a:lnTo>
                    <a:pt x="600773" y="790139"/>
                  </a:lnTo>
                  <a:lnTo>
                    <a:pt x="557950" y="807829"/>
                  </a:lnTo>
                  <a:lnTo>
                    <a:pt x="512655" y="820811"/>
                  </a:lnTo>
                  <a:lnTo>
                    <a:pt x="465167" y="828805"/>
                  </a:lnTo>
                  <a:lnTo>
                    <a:pt x="415766" y="831532"/>
                  </a:lnTo>
                  <a:lnTo>
                    <a:pt x="366364" y="828805"/>
                  </a:lnTo>
                  <a:lnTo>
                    <a:pt x="318876" y="820811"/>
                  </a:lnTo>
                  <a:lnTo>
                    <a:pt x="273581" y="807829"/>
                  </a:lnTo>
                  <a:lnTo>
                    <a:pt x="230758" y="790139"/>
                  </a:lnTo>
                  <a:lnTo>
                    <a:pt x="190688" y="768019"/>
                  </a:lnTo>
                  <a:lnTo>
                    <a:pt x="153648" y="741751"/>
                  </a:lnTo>
                  <a:lnTo>
                    <a:pt x="119919" y="711612"/>
                  </a:lnTo>
                  <a:lnTo>
                    <a:pt x="89781" y="677884"/>
                  </a:lnTo>
                  <a:lnTo>
                    <a:pt x="63512" y="640844"/>
                  </a:lnTo>
                  <a:lnTo>
                    <a:pt x="41393" y="600773"/>
                  </a:lnTo>
                  <a:lnTo>
                    <a:pt x="23703" y="557950"/>
                  </a:lnTo>
                  <a:lnTo>
                    <a:pt x="10721" y="512655"/>
                  </a:lnTo>
                  <a:lnTo>
                    <a:pt x="2726" y="465167"/>
                  </a:lnTo>
                  <a:lnTo>
                    <a:pt x="0" y="415766"/>
                  </a:lnTo>
                  <a:lnTo>
                    <a:pt x="2726" y="366364"/>
                  </a:lnTo>
                  <a:lnTo>
                    <a:pt x="10721" y="318876"/>
                  </a:lnTo>
                  <a:lnTo>
                    <a:pt x="23703" y="273581"/>
                  </a:lnTo>
                  <a:lnTo>
                    <a:pt x="41393" y="230758"/>
                  </a:lnTo>
                  <a:lnTo>
                    <a:pt x="63512" y="190688"/>
                  </a:lnTo>
                  <a:lnTo>
                    <a:pt x="89781" y="153648"/>
                  </a:lnTo>
                  <a:lnTo>
                    <a:pt x="119919" y="119919"/>
                  </a:lnTo>
                  <a:lnTo>
                    <a:pt x="153648" y="89781"/>
                  </a:lnTo>
                  <a:lnTo>
                    <a:pt x="190688" y="63512"/>
                  </a:lnTo>
                  <a:lnTo>
                    <a:pt x="230758" y="41393"/>
                  </a:lnTo>
                  <a:lnTo>
                    <a:pt x="273581" y="23703"/>
                  </a:lnTo>
                  <a:lnTo>
                    <a:pt x="318876" y="10721"/>
                  </a:lnTo>
                  <a:lnTo>
                    <a:pt x="366364" y="2726"/>
                  </a:lnTo>
                  <a:lnTo>
                    <a:pt x="415766" y="0"/>
                  </a:lnTo>
                  <a:lnTo>
                    <a:pt x="465167" y="2726"/>
                  </a:lnTo>
                  <a:lnTo>
                    <a:pt x="512655" y="10721"/>
                  </a:lnTo>
                  <a:lnTo>
                    <a:pt x="557950" y="23703"/>
                  </a:lnTo>
                  <a:lnTo>
                    <a:pt x="600773" y="41393"/>
                  </a:lnTo>
                  <a:lnTo>
                    <a:pt x="640844" y="63512"/>
                  </a:lnTo>
                  <a:lnTo>
                    <a:pt x="677884" y="89781"/>
                  </a:lnTo>
                  <a:lnTo>
                    <a:pt x="711612" y="119919"/>
                  </a:lnTo>
                  <a:lnTo>
                    <a:pt x="741751" y="153648"/>
                  </a:lnTo>
                  <a:lnTo>
                    <a:pt x="768019" y="190688"/>
                  </a:lnTo>
                  <a:lnTo>
                    <a:pt x="790139" y="230758"/>
                  </a:lnTo>
                  <a:lnTo>
                    <a:pt x="807829" y="273581"/>
                  </a:lnTo>
                  <a:lnTo>
                    <a:pt x="820811" y="318876"/>
                  </a:lnTo>
                  <a:lnTo>
                    <a:pt x="828805" y="366364"/>
                  </a:lnTo>
                  <a:lnTo>
                    <a:pt x="831532" y="415766"/>
                  </a:lnTo>
                  <a:close/>
                </a:path>
              </a:pathLst>
            </a:custGeom>
            <a:ln w="17145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849687" y="4099950"/>
              <a:ext cx="244475" cy="415925"/>
            </a:xfrm>
            <a:custGeom>
              <a:avLst/>
              <a:gdLst/>
              <a:ahLst/>
              <a:cxnLst/>
              <a:rect l="l" t="t" r="r" b="b"/>
              <a:pathLst>
                <a:path w="244475" h="415925">
                  <a:moveTo>
                    <a:pt x="0" y="415766"/>
                  </a:moveTo>
                  <a:lnTo>
                    <a:pt x="0" y="0"/>
                  </a:lnTo>
                  <a:lnTo>
                    <a:pt x="52316" y="3298"/>
                  </a:lnTo>
                  <a:lnTo>
                    <a:pt x="103502" y="13075"/>
                  </a:lnTo>
                  <a:lnTo>
                    <a:pt x="152971" y="29142"/>
                  </a:lnTo>
                  <a:lnTo>
                    <a:pt x="200134" y="51307"/>
                  </a:lnTo>
                  <a:lnTo>
                    <a:pt x="244401" y="79381"/>
                  </a:lnTo>
                  <a:lnTo>
                    <a:pt x="0" y="415766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849687" y="4099950"/>
              <a:ext cx="244475" cy="415925"/>
            </a:xfrm>
            <a:custGeom>
              <a:avLst/>
              <a:gdLst/>
              <a:ahLst/>
              <a:cxnLst/>
              <a:rect l="l" t="t" r="r" b="b"/>
              <a:pathLst>
                <a:path w="244475" h="415925">
                  <a:moveTo>
                    <a:pt x="0" y="415766"/>
                  </a:moveTo>
                  <a:lnTo>
                    <a:pt x="0" y="0"/>
                  </a:lnTo>
                  <a:lnTo>
                    <a:pt x="52316" y="3298"/>
                  </a:lnTo>
                  <a:lnTo>
                    <a:pt x="103502" y="13075"/>
                  </a:lnTo>
                  <a:lnTo>
                    <a:pt x="152971" y="29142"/>
                  </a:lnTo>
                  <a:lnTo>
                    <a:pt x="200134" y="51307"/>
                  </a:lnTo>
                  <a:lnTo>
                    <a:pt x="244401" y="79381"/>
                  </a:lnTo>
                  <a:lnTo>
                    <a:pt x="0" y="41576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1907499" y="4214980"/>
            <a:ext cx="571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846512" y="4176157"/>
            <a:ext cx="423545" cy="758825"/>
            <a:chOff x="1846512" y="4176157"/>
            <a:chExt cx="423545" cy="758825"/>
          </a:xfrm>
        </p:grpSpPr>
        <p:sp>
          <p:nvSpPr>
            <p:cNvPr id="138" name="object 138"/>
            <p:cNvSpPr/>
            <p:nvPr/>
          </p:nvSpPr>
          <p:spPr>
            <a:xfrm>
              <a:off x="1849687" y="4179332"/>
              <a:ext cx="417195" cy="752475"/>
            </a:xfrm>
            <a:custGeom>
              <a:avLst/>
              <a:gdLst/>
              <a:ahLst/>
              <a:cxnLst/>
              <a:rect l="l" t="t" r="r" b="b"/>
              <a:pathLst>
                <a:path w="417194" h="752475">
                  <a:moveTo>
                    <a:pt x="0" y="752151"/>
                  </a:moveTo>
                  <a:lnTo>
                    <a:pt x="0" y="336384"/>
                  </a:lnTo>
                  <a:lnTo>
                    <a:pt x="244401" y="0"/>
                  </a:lnTo>
                  <a:lnTo>
                    <a:pt x="278595" y="27410"/>
                  </a:lnTo>
                  <a:lnTo>
                    <a:pt x="308807" y="56873"/>
                  </a:lnTo>
                  <a:lnTo>
                    <a:pt x="335115" y="88146"/>
                  </a:lnTo>
                  <a:lnTo>
                    <a:pt x="357599" y="120986"/>
                  </a:lnTo>
                  <a:lnTo>
                    <a:pt x="376336" y="155152"/>
                  </a:lnTo>
                  <a:lnTo>
                    <a:pt x="391406" y="190402"/>
                  </a:lnTo>
                  <a:lnTo>
                    <a:pt x="410858" y="263183"/>
                  </a:lnTo>
                  <a:lnTo>
                    <a:pt x="416583" y="337392"/>
                  </a:lnTo>
                  <a:lnTo>
                    <a:pt x="414496" y="374428"/>
                  </a:lnTo>
                  <a:lnTo>
                    <a:pt x="400812" y="447149"/>
                  </a:lnTo>
                  <a:lnTo>
                    <a:pt x="374977" y="516456"/>
                  </a:lnTo>
                  <a:lnTo>
                    <a:pt x="337618" y="580413"/>
                  </a:lnTo>
                  <a:lnTo>
                    <a:pt x="289365" y="637083"/>
                  </a:lnTo>
                  <a:lnTo>
                    <a:pt x="230847" y="684528"/>
                  </a:lnTo>
                  <a:lnTo>
                    <a:pt x="197935" y="704187"/>
                  </a:lnTo>
                  <a:lnTo>
                    <a:pt x="162694" y="720813"/>
                  </a:lnTo>
                  <a:lnTo>
                    <a:pt x="125201" y="734164"/>
                  </a:lnTo>
                  <a:lnTo>
                    <a:pt x="85535" y="743999"/>
                  </a:lnTo>
                  <a:lnTo>
                    <a:pt x="43775" y="750075"/>
                  </a:lnTo>
                  <a:lnTo>
                    <a:pt x="0" y="752151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849687" y="4179332"/>
              <a:ext cx="417195" cy="752475"/>
            </a:xfrm>
            <a:custGeom>
              <a:avLst/>
              <a:gdLst/>
              <a:ahLst/>
              <a:cxnLst/>
              <a:rect l="l" t="t" r="r" b="b"/>
              <a:pathLst>
                <a:path w="417194" h="752475">
                  <a:moveTo>
                    <a:pt x="0" y="336384"/>
                  </a:moveTo>
                  <a:lnTo>
                    <a:pt x="244401" y="0"/>
                  </a:lnTo>
                  <a:lnTo>
                    <a:pt x="278595" y="27410"/>
                  </a:lnTo>
                  <a:lnTo>
                    <a:pt x="308807" y="56873"/>
                  </a:lnTo>
                  <a:lnTo>
                    <a:pt x="335115" y="88146"/>
                  </a:lnTo>
                  <a:lnTo>
                    <a:pt x="357599" y="120986"/>
                  </a:lnTo>
                  <a:lnTo>
                    <a:pt x="376336" y="155152"/>
                  </a:lnTo>
                  <a:lnTo>
                    <a:pt x="391406" y="190402"/>
                  </a:lnTo>
                  <a:lnTo>
                    <a:pt x="410858" y="263183"/>
                  </a:lnTo>
                  <a:lnTo>
                    <a:pt x="416583" y="337392"/>
                  </a:lnTo>
                  <a:lnTo>
                    <a:pt x="414496" y="374428"/>
                  </a:lnTo>
                  <a:lnTo>
                    <a:pt x="400812" y="447149"/>
                  </a:lnTo>
                  <a:lnTo>
                    <a:pt x="374977" y="516456"/>
                  </a:lnTo>
                  <a:lnTo>
                    <a:pt x="337618" y="580413"/>
                  </a:lnTo>
                  <a:lnTo>
                    <a:pt x="289365" y="637083"/>
                  </a:lnTo>
                  <a:lnTo>
                    <a:pt x="230847" y="684528"/>
                  </a:lnTo>
                  <a:lnTo>
                    <a:pt x="197935" y="704187"/>
                  </a:lnTo>
                  <a:lnTo>
                    <a:pt x="162694" y="720813"/>
                  </a:lnTo>
                  <a:lnTo>
                    <a:pt x="125201" y="734164"/>
                  </a:lnTo>
                  <a:lnTo>
                    <a:pt x="85535" y="743999"/>
                  </a:lnTo>
                  <a:lnTo>
                    <a:pt x="43775" y="750075"/>
                  </a:lnTo>
                  <a:lnTo>
                    <a:pt x="0" y="752151"/>
                  </a:lnTo>
                  <a:lnTo>
                    <a:pt x="0" y="336384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064392" y="4539878"/>
            <a:ext cx="736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430423" y="4384040"/>
            <a:ext cx="422909" cy="551180"/>
            <a:chOff x="1430423" y="4384040"/>
            <a:chExt cx="422909" cy="551180"/>
          </a:xfrm>
        </p:grpSpPr>
        <p:sp>
          <p:nvSpPr>
            <p:cNvPr id="142" name="object 142"/>
            <p:cNvSpPr/>
            <p:nvPr/>
          </p:nvSpPr>
          <p:spPr>
            <a:xfrm>
              <a:off x="1433598" y="4387215"/>
              <a:ext cx="416559" cy="544830"/>
            </a:xfrm>
            <a:custGeom>
              <a:avLst/>
              <a:gdLst/>
              <a:ahLst/>
              <a:cxnLst/>
              <a:rect l="l" t="t" r="r" b="b"/>
              <a:pathLst>
                <a:path w="416560" h="544829">
                  <a:moveTo>
                    <a:pt x="416089" y="544268"/>
                  </a:moveTo>
                  <a:lnTo>
                    <a:pt x="369805" y="541768"/>
                  </a:lnTo>
                  <a:lnTo>
                    <a:pt x="325255" y="534454"/>
                  </a:lnTo>
                  <a:lnTo>
                    <a:pt x="282649" y="522617"/>
                  </a:lnTo>
                  <a:lnTo>
                    <a:pt x="242200" y="506547"/>
                  </a:lnTo>
                  <a:lnTo>
                    <a:pt x="204118" y="486536"/>
                  </a:lnTo>
                  <a:lnTo>
                    <a:pt x="168616" y="462873"/>
                  </a:lnTo>
                  <a:lnTo>
                    <a:pt x="135903" y="435851"/>
                  </a:lnTo>
                  <a:lnTo>
                    <a:pt x="106191" y="405759"/>
                  </a:lnTo>
                  <a:lnTo>
                    <a:pt x="79693" y="372888"/>
                  </a:lnTo>
                  <a:lnTo>
                    <a:pt x="56618" y="337530"/>
                  </a:lnTo>
                  <a:lnTo>
                    <a:pt x="37179" y="299975"/>
                  </a:lnTo>
                  <a:lnTo>
                    <a:pt x="21586" y="260513"/>
                  </a:lnTo>
                  <a:lnTo>
                    <a:pt x="10051" y="219437"/>
                  </a:lnTo>
                  <a:lnTo>
                    <a:pt x="2785" y="177035"/>
                  </a:lnTo>
                  <a:lnTo>
                    <a:pt x="0" y="133600"/>
                  </a:lnTo>
                  <a:lnTo>
                    <a:pt x="1906" y="89422"/>
                  </a:lnTo>
                  <a:lnTo>
                    <a:pt x="8715" y="44791"/>
                  </a:lnTo>
                  <a:lnTo>
                    <a:pt x="20639" y="0"/>
                  </a:lnTo>
                  <a:lnTo>
                    <a:pt x="416089" y="128501"/>
                  </a:lnTo>
                  <a:lnTo>
                    <a:pt x="416089" y="544268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433598" y="4387215"/>
              <a:ext cx="416559" cy="544830"/>
            </a:xfrm>
            <a:custGeom>
              <a:avLst/>
              <a:gdLst/>
              <a:ahLst/>
              <a:cxnLst/>
              <a:rect l="l" t="t" r="r" b="b"/>
              <a:pathLst>
                <a:path w="416560" h="544829">
                  <a:moveTo>
                    <a:pt x="416089" y="128501"/>
                  </a:moveTo>
                  <a:lnTo>
                    <a:pt x="416089" y="544268"/>
                  </a:lnTo>
                  <a:lnTo>
                    <a:pt x="369805" y="541768"/>
                  </a:lnTo>
                  <a:lnTo>
                    <a:pt x="325255" y="534454"/>
                  </a:lnTo>
                  <a:lnTo>
                    <a:pt x="282649" y="522617"/>
                  </a:lnTo>
                  <a:lnTo>
                    <a:pt x="242200" y="506547"/>
                  </a:lnTo>
                  <a:lnTo>
                    <a:pt x="204118" y="486536"/>
                  </a:lnTo>
                  <a:lnTo>
                    <a:pt x="168616" y="462873"/>
                  </a:lnTo>
                  <a:lnTo>
                    <a:pt x="135903" y="435851"/>
                  </a:lnTo>
                  <a:lnTo>
                    <a:pt x="106191" y="405759"/>
                  </a:lnTo>
                  <a:lnTo>
                    <a:pt x="79693" y="372888"/>
                  </a:lnTo>
                  <a:lnTo>
                    <a:pt x="56618" y="337530"/>
                  </a:lnTo>
                  <a:lnTo>
                    <a:pt x="37179" y="299975"/>
                  </a:lnTo>
                  <a:lnTo>
                    <a:pt x="21586" y="260513"/>
                  </a:lnTo>
                  <a:lnTo>
                    <a:pt x="10051" y="219437"/>
                  </a:lnTo>
                  <a:lnTo>
                    <a:pt x="2785" y="177035"/>
                  </a:lnTo>
                  <a:lnTo>
                    <a:pt x="0" y="133600"/>
                  </a:lnTo>
                  <a:lnTo>
                    <a:pt x="1906" y="89422"/>
                  </a:lnTo>
                  <a:lnTo>
                    <a:pt x="8715" y="44791"/>
                  </a:lnTo>
                  <a:lnTo>
                    <a:pt x="20639" y="0"/>
                  </a:lnTo>
                  <a:lnTo>
                    <a:pt x="416089" y="128501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1596198" y="4611887"/>
            <a:ext cx="1035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500" b="1" spc="-25" dirty="0">
                <a:solidFill>
                  <a:srgbClr val="FFFFFF"/>
                </a:solidFill>
                <a:latin typeface="Verdana"/>
                <a:cs typeface="Verdana"/>
              </a:rPr>
              <a:t>CT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1427491" y="4093521"/>
            <a:ext cx="844550" cy="844550"/>
            <a:chOff x="1427491" y="4093521"/>
            <a:chExt cx="844550" cy="844550"/>
          </a:xfrm>
        </p:grpSpPr>
        <p:sp>
          <p:nvSpPr>
            <p:cNvPr id="146" name="object 146"/>
            <p:cNvSpPr/>
            <p:nvPr/>
          </p:nvSpPr>
          <p:spPr>
            <a:xfrm>
              <a:off x="1454237" y="4099950"/>
              <a:ext cx="395605" cy="415925"/>
            </a:xfrm>
            <a:custGeom>
              <a:avLst/>
              <a:gdLst/>
              <a:ahLst/>
              <a:cxnLst/>
              <a:rect l="l" t="t" r="r" b="b"/>
              <a:pathLst>
                <a:path w="395605" h="415925">
                  <a:moveTo>
                    <a:pt x="395449" y="415766"/>
                  </a:moveTo>
                  <a:lnTo>
                    <a:pt x="0" y="287264"/>
                  </a:lnTo>
                  <a:lnTo>
                    <a:pt x="17698" y="241962"/>
                  </a:lnTo>
                  <a:lnTo>
                    <a:pt x="40175" y="199677"/>
                  </a:lnTo>
                  <a:lnTo>
                    <a:pt x="67057" y="160682"/>
                  </a:lnTo>
                  <a:lnTo>
                    <a:pt x="97965" y="125252"/>
                  </a:lnTo>
                  <a:lnTo>
                    <a:pt x="132523" y="93658"/>
                  </a:lnTo>
                  <a:lnTo>
                    <a:pt x="170355" y="66176"/>
                  </a:lnTo>
                  <a:lnTo>
                    <a:pt x="211085" y="43078"/>
                  </a:lnTo>
                  <a:lnTo>
                    <a:pt x="254336" y="24638"/>
                  </a:lnTo>
                  <a:lnTo>
                    <a:pt x="299731" y="11129"/>
                  </a:lnTo>
                  <a:lnTo>
                    <a:pt x="346894" y="2825"/>
                  </a:lnTo>
                  <a:lnTo>
                    <a:pt x="395449" y="0"/>
                  </a:lnTo>
                  <a:lnTo>
                    <a:pt x="395449" y="415766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454237" y="4099950"/>
              <a:ext cx="395605" cy="415925"/>
            </a:xfrm>
            <a:custGeom>
              <a:avLst/>
              <a:gdLst/>
              <a:ahLst/>
              <a:cxnLst/>
              <a:rect l="l" t="t" r="r" b="b"/>
              <a:pathLst>
                <a:path w="395605" h="415925">
                  <a:moveTo>
                    <a:pt x="395449" y="415766"/>
                  </a:moveTo>
                  <a:lnTo>
                    <a:pt x="0" y="287264"/>
                  </a:lnTo>
                  <a:lnTo>
                    <a:pt x="17698" y="241962"/>
                  </a:lnTo>
                  <a:lnTo>
                    <a:pt x="40175" y="199677"/>
                  </a:lnTo>
                  <a:lnTo>
                    <a:pt x="67057" y="160682"/>
                  </a:lnTo>
                  <a:lnTo>
                    <a:pt x="97965" y="125252"/>
                  </a:lnTo>
                  <a:lnTo>
                    <a:pt x="132523" y="93658"/>
                  </a:lnTo>
                  <a:lnTo>
                    <a:pt x="170355" y="66176"/>
                  </a:lnTo>
                  <a:lnTo>
                    <a:pt x="211085" y="43078"/>
                  </a:lnTo>
                  <a:lnTo>
                    <a:pt x="254336" y="24638"/>
                  </a:lnTo>
                  <a:lnTo>
                    <a:pt x="299731" y="11129"/>
                  </a:lnTo>
                  <a:lnTo>
                    <a:pt x="346894" y="2825"/>
                  </a:lnTo>
                  <a:lnTo>
                    <a:pt x="395449" y="0"/>
                  </a:lnTo>
                  <a:lnTo>
                    <a:pt x="395449" y="415766"/>
                  </a:lnTo>
                  <a:close/>
                </a:path>
              </a:pathLst>
            </a:custGeom>
            <a:ln w="60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433921" y="4099950"/>
              <a:ext cx="831850" cy="831850"/>
            </a:xfrm>
            <a:custGeom>
              <a:avLst/>
              <a:gdLst/>
              <a:ahLst/>
              <a:cxnLst/>
              <a:rect l="l" t="t" r="r" b="b"/>
              <a:pathLst>
                <a:path w="831850" h="831850">
                  <a:moveTo>
                    <a:pt x="831532" y="415766"/>
                  </a:moveTo>
                  <a:lnTo>
                    <a:pt x="828805" y="465167"/>
                  </a:lnTo>
                  <a:lnTo>
                    <a:pt x="820811" y="512655"/>
                  </a:lnTo>
                  <a:lnTo>
                    <a:pt x="807829" y="557950"/>
                  </a:lnTo>
                  <a:lnTo>
                    <a:pt x="790139" y="600773"/>
                  </a:lnTo>
                  <a:lnTo>
                    <a:pt x="768019" y="640844"/>
                  </a:lnTo>
                  <a:lnTo>
                    <a:pt x="741751" y="677884"/>
                  </a:lnTo>
                  <a:lnTo>
                    <a:pt x="711612" y="711612"/>
                  </a:lnTo>
                  <a:lnTo>
                    <a:pt x="677884" y="741751"/>
                  </a:lnTo>
                  <a:lnTo>
                    <a:pt x="640844" y="768019"/>
                  </a:lnTo>
                  <a:lnTo>
                    <a:pt x="600773" y="790139"/>
                  </a:lnTo>
                  <a:lnTo>
                    <a:pt x="557950" y="807829"/>
                  </a:lnTo>
                  <a:lnTo>
                    <a:pt x="512655" y="820811"/>
                  </a:lnTo>
                  <a:lnTo>
                    <a:pt x="465167" y="828805"/>
                  </a:lnTo>
                  <a:lnTo>
                    <a:pt x="415766" y="831532"/>
                  </a:lnTo>
                  <a:lnTo>
                    <a:pt x="366364" y="828805"/>
                  </a:lnTo>
                  <a:lnTo>
                    <a:pt x="318876" y="820811"/>
                  </a:lnTo>
                  <a:lnTo>
                    <a:pt x="273581" y="807829"/>
                  </a:lnTo>
                  <a:lnTo>
                    <a:pt x="230758" y="790139"/>
                  </a:lnTo>
                  <a:lnTo>
                    <a:pt x="190688" y="768019"/>
                  </a:lnTo>
                  <a:lnTo>
                    <a:pt x="153648" y="741751"/>
                  </a:lnTo>
                  <a:lnTo>
                    <a:pt x="119919" y="711612"/>
                  </a:lnTo>
                  <a:lnTo>
                    <a:pt x="89781" y="677884"/>
                  </a:lnTo>
                  <a:lnTo>
                    <a:pt x="63512" y="640844"/>
                  </a:lnTo>
                  <a:lnTo>
                    <a:pt x="41393" y="600773"/>
                  </a:lnTo>
                  <a:lnTo>
                    <a:pt x="23703" y="557950"/>
                  </a:lnTo>
                  <a:lnTo>
                    <a:pt x="10721" y="512655"/>
                  </a:lnTo>
                  <a:lnTo>
                    <a:pt x="2726" y="465167"/>
                  </a:lnTo>
                  <a:lnTo>
                    <a:pt x="0" y="415766"/>
                  </a:lnTo>
                  <a:lnTo>
                    <a:pt x="2726" y="366364"/>
                  </a:lnTo>
                  <a:lnTo>
                    <a:pt x="10721" y="318876"/>
                  </a:lnTo>
                  <a:lnTo>
                    <a:pt x="23703" y="273581"/>
                  </a:lnTo>
                  <a:lnTo>
                    <a:pt x="41393" y="230758"/>
                  </a:lnTo>
                  <a:lnTo>
                    <a:pt x="63512" y="190688"/>
                  </a:lnTo>
                  <a:lnTo>
                    <a:pt x="89781" y="153648"/>
                  </a:lnTo>
                  <a:lnTo>
                    <a:pt x="119919" y="119919"/>
                  </a:lnTo>
                  <a:lnTo>
                    <a:pt x="153648" y="89781"/>
                  </a:lnTo>
                  <a:lnTo>
                    <a:pt x="190688" y="63512"/>
                  </a:lnTo>
                  <a:lnTo>
                    <a:pt x="230758" y="41393"/>
                  </a:lnTo>
                  <a:lnTo>
                    <a:pt x="273581" y="23703"/>
                  </a:lnTo>
                  <a:lnTo>
                    <a:pt x="318876" y="10721"/>
                  </a:lnTo>
                  <a:lnTo>
                    <a:pt x="366364" y="2726"/>
                  </a:lnTo>
                  <a:lnTo>
                    <a:pt x="415766" y="0"/>
                  </a:lnTo>
                  <a:lnTo>
                    <a:pt x="465167" y="2726"/>
                  </a:lnTo>
                  <a:lnTo>
                    <a:pt x="512655" y="10721"/>
                  </a:lnTo>
                  <a:lnTo>
                    <a:pt x="557950" y="23703"/>
                  </a:lnTo>
                  <a:lnTo>
                    <a:pt x="600773" y="41393"/>
                  </a:lnTo>
                  <a:lnTo>
                    <a:pt x="640844" y="63512"/>
                  </a:lnTo>
                  <a:lnTo>
                    <a:pt x="677884" y="89781"/>
                  </a:lnTo>
                  <a:lnTo>
                    <a:pt x="711612" y="119919"/>
                  </a:lnTo>
                  <a:lnTo>
                    <a:pt x="741751" y="153648"/>
                  </a:lnTo>
                  <a:lnTo>
                    <a:pt x="768019" y="190688"/>
                  </a:lnTo>
                  <a:lnTo>
                    <a:pt x="790139" y="230758"/>
                  </a:lnTo>
                  <a:lnTo>
                    <a:pt x="807829" y="273581"/>
                  </a:lnTo>
                  <a:lnTo>
                    <a:pt x="820811" y="318876"/>
                  </a:lnTo>
                  <a:lnTo>
                    <a:pt x="828805" y="366364"/>
                  </a:lnTo>
                  <a:lnTo>
                    <a:pt x="831532" y="415766"/>
                  </a:lnTo>
                  <a:close/>
                </a:path>
              </a:pathLst>
            </a:custGeom>
            <a:ln w="128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1343909" y="3941517"/>
            <a:ext cx="695960" cy="4133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5"/>
              </a:spcBef>
            </a:pPr>
            <a:r>
              <a:rPr sz="600" b="1" spc="-10" dirty="0">
                <a:solidFill>
                  <a:srgbClr val="0F2B59"/>
                </a:solidFill>
                <a:latin typeface="Verdana"/>
                <a:cs typeface="Verdana"/>
              </a:rPr>
              <a:t>$1,100k</a:t>
            </a:r>
            <a:endParaRPr sz="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600">
              <a:latin typeface="Verdana"/>
              <a:cs typeface="Verdana"/>
            </a:endParaRPr>
          </a:p>
          <a:p>
            <a:pPr marL="327025">
              <a:lnSpc>
                <a:spcPct val="100000"/>
              </a:lnSpc>
            </a:pPr>
            <a:r>
              <a:rPr sz="500" b="1" spc="-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8156826" y="1738957"/>
            <a:ext cx="10712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KPIs</a:t>
            </a:r>
            <a:r>
              <a:rPr sz="1300" b="1" spc="-2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Arial"/>
                <a:cs typeface="Arial"/>
              </a:rPr>
              <a:t>Flota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8261601" y="2222226"/>
            <a:ext cx="1224280" cy="4584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GROSS</a:t>
            </a:r>
            <a:r>
              <a:rPr sz="800" b="1" spc="-3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MARGIN</a:t>
            </a:r>
            <a:r>
              <a:rPr sz="800" b="1" spc="-25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TOTAL: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400" b="1" spc="-10" dirty="0">
                <a:solidFill>
                  <a:srgbClr val="0FB880"/>
                </a:solidFill>
                <a:latin typeface="Arial"/>
                <a:cs typeface="Arial"/>
              </a:rPr>
              <a:t>$6,450,000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8261601" y="2972964"/>
            <a:ext cx="1188085" cy="44513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VIAJES</a:t>
            </a:r>
            <a:r>
              <a:rPr sz="800" b="1" spc="-3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EJECUTADOS: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27</a:t>
            </a:r>
            <a:r>
              <a:rPr sz="13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Viajes</a:t>
            </a:r>
            <a:r>
              <a:rPr sz="13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0F2B59"/>
                </a:solidFill>
                <a:latin typeface="Arial"/>
                <a:cs typeface="Arial"/>
              </a:rPr>
              <a:t>/</a:t>
            </a:r>
            <a:r>
              <a:rPr sz="1300" b="1" spc="-3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0F2B59"/>
                </a:solidFill>
                <a:latin typeface="Arial"/>
                <a:cs typeface="Arial"/>
              </a:rPr>
              <a:t>Mes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8261601" y="3705540"/>
            <a:ext cx="1363345" cy="4318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800" b="1" dirty="0">
                <a:solidFill>
                  <a:srgbClr val="64748A"/>
                </a:solidFill>
                <a:latin typeface="Arial"/>
                <a:cs typeface="Arial"/>
              </a:rPr>
              <a:t>BUQUE MÁS </a:t>
            </a:r>
            <a:r>
              <a:rPr sz="800" b="1" spc="-10" dirty="0">
                <a:solidFill>
                  <a:srgbClr val="64748A"/>
                </a:solidFill>
                <a:latin typeface="Arial"/>
                <a:cs typeface="Arial"/>
              </a:rPr>
              <a:t>RENTABLE: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00" b="1" spc="-10" dirty="0">
                <a:solidFill>
                  <a:srgbClr val="3B82F6"/>
                </a:solidFill>
                <a:latin typeface="Arial"/>
                <a:cs typeface="Arial"/>
              </a:rPr>
              <a:t>Moquegua</a:t>
            </a:r>
            <a:r>
              <a:rPr sz="1200" b="1" spc="-20" dirty="0">
                <a:solidFill>
                  <a:srgbClr val="3B82F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B82F6"/>
                </a:solidFill>
                <a:latin typeface="Arial"/>
                <a:cs typeface="Arial"/>
              </a:rPr>
              <a:t>(42.5%)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156826" y="4518113"/>
            <a:ext cx="1415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Distribución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100" b="1" spc="-10" dirty="0">
                <a:solidFill>
                  <a:srgbClr val="0F2B59"/>
                </a:solidFill>
                <a:latin typeface="Arial"/>
                <a:cs typeface="Arial"/>
              </a:rPr>
              <a:t> Flota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200231" y="4828200"/>
            <a:ext cx="723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8366376" y="4807464"/>
            <a:ext cx="59372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TABLONES</a:t>
            </a:r>
            <a:endParaRPr sz="8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8191763" y="5055533"/>
            <a:ext cx="889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60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8366376" y="5034797"/>
            <a:ext cx="66738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MOQUEGUA</a:t>
            </a:r>
            <a:endParaRPr sz="85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181181" y="5291162"/>
            <a:ext cx="110489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b="1" spc="-25" dirty="0">
                <a:solidFill>
                  <a:srgbClr val="FFFFFF"/>
                </a:solidFill>
                <a:latin typeface="Arial"/>
                <a:cs typeface="Arial"/>
              </a:rPr>
              <a:t>CT</a:t>
            </a:r>
            <a:endParaRPr sz="5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8366376" y="5262121"/>
            <a:ext cx="61722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465469"/>
                </a:solidFill>
                <a:latin typeface="Arial"/>
                <a:cs typeface="Arial"/>
              </a:rPr>
              <a:t>CONCON</a:t>
            </a:r>
            <a:r>
              <a:rPr sz="850" spc="-4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850" spc="-25" dirty="0">
                <a:solidFill>
                  <a:srgbClr val="465469"/>
                </a:solidFill>
                <a:latin typeface="Arial"/>
                <a:cs typeface="Arial"/>
              </a:rPr>
              <a:t>T.</a:t>
            </a:r>
            <a:endParaRPr sz="85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170583" y="5489454"/>
            <a:ext cx="69659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b="1" baseline="9259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900" b="1" spc="412" baseline="9259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850" spc="-10" dirty="0">
                <a:solidFill>
                  <a:srgbClr val="465469"/>
                </a:solidFill>
                <a:latin typeface="Arial"/>
                <a:cs typeface="Arial"/>
              </a:rPr>
              <a:t>HUEMEL</a:t>
            </a:r>
            <a:endParaRPr sz="8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455358" y="5868615"/>
            <a:ext cx="16052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GeekSoft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Forecast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System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|</a:t>
            </a:r>
            <a:r>
              <a:rPr sz="700" spc="-20" dirty="0">
                <a:solidFill>
                  <a:srgbClr val="93A3B8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3A3B8"/>
                </a:solidFill>
                <a:latin typeface="Arial"/>
                <a:cs typeface="Arial"/>
              </a:rPr>
              <a:t>Mockup</a:t>
            </a:r>
            <a:r>
              <a:rPr sz="700" spc="-25" dirty="0">
                <a:solidFill>
                  <a:srgbClr val="93A3B8"/>
                </a:solidFill>
                <a:latin typeface="Arial"/>
                <a:cs typeface="Arial"/>
              </a:rPr>
              <a:t> V2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63" name="object 16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64" name="object 164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38239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39999" y="1952539"/>
            <a:ext cx="3219450" cy="4681220"/>
            <a:chOff x="539999" y="1952539"/>
            <a:chExt cx="3219450" cy="4681220"/>
          </a:xfrm>
        </p:grpSpPr>
        <p:sp>
          <p:nvSpPr>
            <p:cNvPr id="4" name="object 4"/>
            <p:cNvSpPr/>
            <p:nvPr/>
          </p:nvSpPr>
          <p:spPr>
            <a:xfrm>
              <a:off x="539999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51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51" y="0"/>
                  </a:lnTo>
                  <a:lnTo>
                    <a:pt x="3172838" y="6012"/>
                  </a:lnTo>
                  <a:lnTo>
                    <a:pt x="3197067" y="22383"/>
                  </a:lnTo>
                  <a:lnTo>
                    <a:pt x="3213438" y="46612"/>
                  </a:lnTo>
                  <a:lnTo>
                    <a:pt x="3219451" y="76200"/>
                  </a:lnTo>
                  <a:lnTo>
                    <a:pt x="3219451" y="4605023"/>
                  </a:lnTo>
                  <a:lnTo>
                    <a:pt x="3213438" y="4634610"/>
                  </a:lnTo>
                  <a:lnTo>
                    <a:pt x="3197067" y="4658839"/>
                  </a:lnTo>
                  <a:lnTo>
                    <a:pt x="3172838" y="4675210"/>
                  </a:lnTo>
                  <a:lnTo>
                    <a:pt x="3143251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999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5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1924" y="2146217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97194"/>
              </p:ext>
            </p:extLst>
          </p:nvPr>
        </p:nvGraphicFramePr>
        <p:xfrm>
          <a:off x="701924" y="2250986"/>
          <a:ext cx="2933064" cy="275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480">
                <a:tc>
                  <a:txBody>
                    <a:bodyPr/>
                    <a:lstStyle/>
                    <a:p>
                      <a:pPr marL="42545" marR="25717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Buque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20320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Ingreso</a:t>
                      </a:r>
                      <a:r>
                        <a:rPr sz="1600" spc="-8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bruto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asignado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nave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el</a:t>
                      </a:r>
                      <a:r>
                        <a:rPr sz="1600" spc="-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período.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115">
                <a:tc>
                  <a:txBody>
                    <a:bodyPr/>
                    <a:lstStyle/>
                    <a:p>
                      <a:pPr marL="42545" marR="53975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Ruta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5052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Concentración</a:t>
                      </a:r>
                      <a:r>
                        <a:rPr sz="1600" spc="-6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 err="1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ingresos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 err="1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ruta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 marL="42545" marR="21209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Venta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Cliente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6195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Participación</a:t>
                      </a:r>
                      <a:r>
                        <a:rPr sz="1600" spc="-6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cliente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en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la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facturación</a:t>
                      </a:r>
                      <a:r>
                        <a:rPr sz="1600" spc="-5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total.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3911850" y="1952539"/>
            <a:ext cx="3219450" cy="4681220"/>
            <a:chOff x="3911850" y="1952539"/>
            <a:chExt cx="3219450" cy="4681220"/>
          </a:xfrm>
        </p:grpSpPr>
        <p:sp>
          <p:nvSpPr>
            <p:cNvPr id="9" name="object 9"/>
            <p:cNvSpPr/>
            <p:nvPr/>
          </p:nvSpPr>
          <p:spPr>
            <a:xfrm>
              <a:off x="3911850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50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50" y="0"/>
                  </a:lnTo>
                  <a:lnTo>
                    <a:pt x="3172837" y="6012"/>
                  </a:lnTo>
                  <a:lnTo>
                    <a:pt x="3197066" y="22383"/>
                  </a:lnTo>
                  <a:lnTo>
                    <a:pt x="3213437" y="46612"/>
                  </a:lnTo>
                  <a:lnTo>
                    <a:pt x="3219450" y="76200"/>
                  </a:lnTo>
                  <a:lnTo>
                    <a:pt x="3219450" y="4605023"/>
                  </a:lnTo>
                  <a:lnTo>
                    <a:pt x="3213437" y="4634610"/>
                  </a:lnTo>
                  <a:lnTo>
                    <a:pt x="3197066" y="4658839"/>
                  </a:lnTo>
                  <a:lnTo>
                    <a:pt x="3172837" y="4675210"/>
                  </a:lnTo>
                  <a:lnTo>
                    <a:pt x="3143250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11850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4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3775" y="2154770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283701" y="1952539"/>
            <a:ext cx="3219450" cy="4681220"/>
            <a:chOff x="7283701" y="1952539"/>
            <a:chExt cx="3219450" cy="4681220"/>
          </a:xfrm>
        </p:grpSpPr>
        <p:sp>
          <p:nvSpPr>
            <p:cNvPr id="13" name="object 13"/>
            <p:cNvSpPr/>
            <p:nvPr/>
          </p:nvSpPr>
          <p:spPr>
            <a:xfrm>
              <a:off x="7283701" y="1952539"/>
              <a:ext cx="3219450" cy="4681220"/>
            </a:xfrm>
            <a:custGeom>
              <a:avLst/>
              <a:gdLst/>
              <a:ahLst/>
              <a:cxnLst/>
              <a:rect l="l" t="t" r="r" b="b"/>
              <a:pathLst>
                <a:path w="3219450" h="4681220">
                  <a:moveTo>
                    <a:pt x="3143221" y="4681223"/>
                  </a:moveTo>
                  <a:lnTo>
                    <a:pt x="76200" y="4681223"/>
                  </a:lnTo>
                  <a:lnTo>
                    <a:pt x="46612" y="4675210"/>
                  </a:lnTo>
                  <a:lnTo>
                    <a:pt x="22383" y="4658839"/>
                  </a:lnTo>
                  <a:lnTo>
                    <a:pt x="6012" y="4634610"/>
                  </a:lnTo>
                  <a:lnTo>
                    <a:pt x="0" y="46050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143221" y="0"/>
                  </a:lnTo>
                  <a:lnTo>
                    <a:pt x="3172808" y="6012"/>
                  </a:lnTo>
                  <a:lnTo>
                    <a:pt x="3197037" y="22383"/>
                  </a:lnTo>
                  <a:lnTo>
                    <a:pt x="3213408" y="46612"/>
                  </a:lnTo>
                  <a:lnTo>
                    <a:pt x="3219421" y="76200"/>
                  </a:lnTo>
                  <a:lnTo>
                    <a:pt x="3219421" y="4605023"/>
                  </a:lnTo>
                  <a:lnTo>
                    <a:pt x="3213408" y="4634610"/>
                  </a:lnTo>
                  <a:lnTo>
                    <a:pt x="3197037" y="4658839"/>
                  </a:lnTo>
                  <a:lnTo>
                    <a:pt x="3172808" y="4675210"/>
                  </a:lnTo>
                  <a:lnTo>
                    <a:pt x="3143221" y="4681223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83701" y="1974922"/>
              <a:ext cx="50165" cy="4636770"/>
            </a:xfrm>
            <a:custGeom>
              <a:avLst/>
              <a:gdLst/>
              <a:ahLst/>
              <a:cxnLst/>
              <a:rect l="l" t="t" r="r" b="b"/>
              <a:pathLst>
                <a:path w="50165" h="4636770">
                  <a:moveTo>
                    <a:pt x="22383" y="4636455"/>
                  </a:moveTo>
                  <a:lnTo>
                    <a:pt x="6012" y="4612226"/>
                  </a:lnTo>
                  <a:lnTo>
                    <a:pt x="0" y="4582639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9648" y="27264"/>
                  </a:lnTo>
                  <a:lnTo>
                    <a:pt x="47625" y="53816"/>
                  </a:lnTo>
                  <a:lnTo>
                    <a:pt x="47625" y="4582639"/>
                  </a:lnTo>
                  <a:lnTo>
                    <a:pt x="49648" y="4609191"/>
                  </a:lnTo>
                  <a:lnTo>
                    <a:pt x="22383" y="4636455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45626" y="2146217"/>
              <a:ext cx="2943225" cy="9525"/>
            </a:xfrm>
            <a:custGeom>
              <a:avLst/>
              <a:gdLst/>
              <a:ahLst/>
              <a:cxnLst/>
              <a:rect l="l" t="t" r="r" b="b"/>
              <a:pathLst>
                <a:path w="2943225" h="9525">
                  <a:moveTo>
                    <a:pt x="29432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943225" y="0"/>
                  </a:lnTo>
                  <a:lnTo>
                    <a:pt x="2943225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Ejemplos sugeridos de </a:t>
            </a:r>
            <a:r>
              <a:rPr dirty="0"/>
              <a:t>KPIs</a:t>
            </a:r>
            <a:r>
              <a:rPr spc="-90" dirty="0"/>
              <a:t> </a:t>
            </a:r>
            <a:r>
              <a:rPr dirty="0"/>
              <a:t>Operativos</a:t>
            </a:r>
            <a:r>
              <a:rPr spc="-90" dirty="0"/>
              <a:t> </a:t>
            </a:r>
            <a:r>
              <a:rPr dirty="0"/>
              <a:t>y</a:t>
            </a:r>
            <a:r>
              <a:rPr spc="-90" dirty="0"/>
              <a:t> </a:t>
            </a:r>
            <a:r>
              <a:rPr spc="-10" dirty="0"/>
              <a:t>Comerciales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799" y="1939423"/>
            <a:ext cx="136525" cy="1397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27299" y="1581194"/>
            <a:ext cx="5445760" cy="51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Indicadores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Clave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Desempeño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(KPIs)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para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la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toma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</a:t>
            </a:r>
            <a:r>
              <a:rPr sz="1200" b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D8349"/>
                </a:solidFill>
                <a:latin typeface="Arial"/>
                <a:cs typeface="Arial"/>
              </a:rPr>
              <a:t>decisiones</a:t>
            </a:r>
            <a:r>
              <a:rPr sz="1200" b="1" spc="-10" dirty="0">
                <a:solidFill>
                  <a:srgbClr val="1D8349"/>
                </a:solidFill>
                <a:latin typeface="Arial"/>
                <a:cs typeface="Arial"/>
              </a:rPr>
              <a:t> ágiles.</a:t>
            </a:r>
            <a:endParaRPr sz="1200">
              <a:latin typeface="Arial"/>
              <a:cs typeface="Arial"/>
            </a:endParaRPr>
          </a:p>
          <a:p>
            <a:pPr marL="375285">
              <a:lnSpc>
                <a:spcPct val="100000"/>
              </a:lnSpc>
              <a:spcBef>
                <a:spcPts val="1245"/>
              </a:spcBef>
              <a:tabLst>
                <a:tab pos="3545840" algn="l"/>
              </a:tabLst>
            </a:pPr>
            <a:r>
              <a:rPr sz="1500" b="1" i="1" spc="-15" baseline="2777" dirty="0">
                <a:solidFill>
                  <a:srgbClr val="0F2B59"/>
                </a:solidFill>
                <a:latin typeface="Arial"/>
                <a:cs typeface="Arial"/>
              </a:rPr>
              <a:t>Ventas</a:t>
            </a:r>
            <a:r>
              <a:rPr sz="1500" b="1" i="1" baseline="2777" dirty="0">
                <a:solidFill>
                  <a:srgbClr val="0F2B59"/>
                </a:solidFill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F9A824"/>
                </a:solidFill>
                <a:latin typeface="Segoe UI Symbol"/>
                <a:cs typeface="Segoe UI Symbol"/>
              </a:rPr>
              <a:t>⏲ </a:t>
            </a:r>
            <a:r>
              <a:rPr sz="1000" b="1" i="1" spc="-10" dirty="0">
                <a:solidFill>
                  <a:srgbClr val="F9A824"/>
                </a:solidFill>
                <a:latin typeface="Arial"/>
                <a:cs typeface="Arial"/>
              </a:rPr>
              <a:t>Operativos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073775" y="2259539"/>
          <a:ext cx="2933699" cy="240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4595">
                <a:tc>
                  <a:txBody>
                    <a:bodyPr/>
                    <a:lstStyle/>
                    <a:p>
                      <a:pPr marL="42545" marR="234950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Días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Carga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13525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Tiempo</a:t>
                      </a:r>
                      <a:r>
                        <a:rPr sz="1600" spc="-9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productivo: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buque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navegando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con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mercancía.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Mide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eficiencia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operativa.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Tiempo</a:t>
                      </a:r>
                      <a:r>
                        <a:rPr sz="1600" spc="-4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4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espera,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Días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en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carga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descarga.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Puerto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Detecta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cuellos</a:t>
                      </a:r>
                      <a:r>
                        <a:rPr sz="1600" spc="-1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botella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logísticos.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432926" y="1914026"/>
            <a:ext cx="1054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1D8349"/>
                </a:solidFill>
                <a:latin typeface="Segoe UI Emoji"/>
                <a:cs typeface="Segoe UI Emoji"/>
              </a:rPr>
              <a:t>💵</a:t>
            </a:r>
            <a:r>
              <a:rPr sz="1000" spc="-20" dirty="0">
                <a:solidFill>
                  <a:srgbClr val="1D8349"/>
                </a:solidFill>
                <a:latin typeface="Segoe UI Emoji"/>
                <a:cs typeface="Segoe UI Emoji"/>
              </a:rPr>
              <a:t> </a:t>
            </a:r>
            <a:r>
              <a:rPr sz="1000" b="1" i="1" dirty="0">
                <a:solidFill>
                  <a:srgbClr val="1D8349"/>
                </a:solidFill>
                <a:latin typeface="Arial"/>
                <a:cs typeface="Arial"/>
              </a:rPr>
              <a:t>Gross</a:t>
            </a:r>
            <a:r>
              <a:rPr sz="1000" b="1" i="1" spc="-15" dirty="0">
                <a:solidFill>
                  <a:srgbClr val="1D8349"/>
                </a:solidFill>
                <a:latin typeface="Arial"/>
                <a:cs typeface="Arial"/>
              </a:rPr>
              <a:t> </a:t>
            </a:r>
            <a:r>
              <a:rPr sz="1000" b="1" i="1" spc="-10" dirty="0">
                <a:solidFill>
                  <a:srgbClr val="1D8349"/>
                </a:solidFill>
                <a:latin typeface="Arial"/>
                <a:cs typeface="Arial"/>
              </a:rPr>
              <a:t>Margin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445626" y="2250986"/>
          <a:ext cx="2933700" cy="4182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4595">
                <a:tc>
                  <a:txBody>
                    <a:bodyPr/>
                    <a:lstStyle/>
                    <a:p>
                      <a:pPr marL="42545" marR="169545">
                        <a:lnSpc>
                          <a:spcPct val="116700"/>
                        </a:lnSpc>
                        <a:spcBef>
                          <a:spcPts val="113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Buque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7620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Rentabilidad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neta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activo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flotante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sobre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sus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costos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operativos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reales.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8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2545" marR="57150">
                        <a:lnSpc>
                          <a:spcPct val="1167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Ruta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49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178435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Eficiencia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económica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cada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tramo</a:t>
                      </a:r>
                      <a:r>
                        <a:rPr sz="1600" spc="-6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operado.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2545" marR="143510">
                        <a:lnSpc>
                          <a:spcPct val="116700"/>
                        </a:lnSpc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Revela</a:t>
                      </a:r>
                      <a:r>
                        <a:rPr sz="1600" spc="-3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rutas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que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drenan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rentabilidad.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2545" marR="169545">
                        <a:lnSpc>
                          <a:spcPct val="1167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Margen 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Cliente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13690">
                        <a:lnSpc>
                          <a:spcPct val="11670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Beneficio</a:t>
                      </a:r>
                      <a:r>
                        <a:rPr sz="1600" spc="-3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real</a:t>
                      </a:r>
                      <a:r>
                        <a:rPr sz="1600" spc="-25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tras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descontar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costos operativos </a:t>
                      </a:r>
                      <a:r>
                        <a:rPr sz="160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asignados a </a:t>
                      </a:r>
                      <a:r>
                        <a:rPr sz="1600" spc="-2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cada </a:t>
                      </a:r>
                      <a:r>
                        <a:rPr sz="1600" spc="-10" dirty="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cliente.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1" y="2676448"/>
            <a:ext cx="9963150" cy="2640098"/>
          </a:xfrm>
          <a:custGeom>
            <a:avLst/>
            <a:gdLst/>
            <a:ahLst/>
            <a:cxnLst/>
            <a:rect l="l" t="t" r="r" b="b"/>
            <a:pathLst>
              <a:path w="9963150" h="2402840">
                <a:moveTo>
                  <a:pt x="9963125" y="76200"/>
                </a:moveTo>
                <a:lnTo>
                  <a:pt x="9957117" y="46609"/>
                </a:lnTo>
                <a:lnTo>
                  <a:pt x="9944075" y="27305"/>
                </a:lnTo>
                <a:lnTo>
                  <a:pt x="9944075" y="76200"/>
                </a:lnTo>
                <a:lnTo>
                  <a:pt x="9944075" y="2326640"/>
                </a:lnTo>
                <a:lnTo>
                  <a:pt x="9939566" y="2348827"/>
                </a:lnTo>
                <a:lnTo>
                  <a:pt x="9927285" y="2367000"/>
                </a:lnTo>
                <a:lnTo>
                  <a:pt x="9909111" y="2379281"/>
                </a:lnTo>
                <a:lnTo>
                  <a:pt x="9886925" y="2383790"/>
                </a:lnTo>
                <a:lnTo>
                  <a:pt x="6718300" y="2383790"/>
                </a:lnTo>
                <a:lnTo>
                  <a:pt x="6696113" y="2379281"/>
                </a:lnTo>
                <a:lnTo>
                  <a:pt x="6677939" y="2367000"/>
                </a:lnTo>
                <a:lnTo>
                  <a:pt x="6665658" y="2348827"/>
                </a:lnTo>
                <a:lnTo>
                  <a:pt x="6661150" y="2326640"/>
                </a:lnTo>
                <a:lnTo>
                  <a:pt x="6661150" y="76200"/>
                </a:lnTo>
                <a:lnTo>
                  <a:pt x="6665658" y="54000"/>
                </a:lnTo>
                <a:lnTo>
                  <a:pt x="6677939" y="35839"/>
                </a:lnTo>
                <a:lnTo>
                  <a:pt x="6696113" y="23558"/>
                </a:lnTo>
                <a:lnTo>
                  <a:pt x="6718300" y="19050"/>
                </a:lnTo>
                <a:lnTo>
                  <a:pt x="9886925" y="19050"/>
                </a:lnTo>
                <a:lnTo>
                  <a:pt x="9909111" y="23558"/>
                </a:lnTo>
                <a:lnTo>
                  <a:pt x="9927285" y="35839"/>
                </a:lnTo>
                <a:lnTo>
                  <a:pt x="9939566" y="54000"/>
                </a:lnTo>
                <a:lnTo>
                  <a:pt x="9944075" y="76200"/>
                </a:lnTo>
                <a:lnTo>
                  <a:pt x="9944075" y="27305"/>
                </a:lnTo>
                <a:lnTo>
                  <a:pt x="9940747" y="22377"/>
                </a:lnTo>
                <a:lnTo>
                  <a:pt x="9935807" y="19050"/>
                </a:lnTo>
                <a:lnTo>
                  <a:pt x="9916516" y="6007"/>
                </a:lnTo>
                <a:lnTo>
                  <a:pt x="9886925" y="0"/>
                </a:lnTo>
                <a:lnTo>
                  <a:pt x="6718300" y="0"/>
                </a:lnTo>
                <a:lnTo>
                  <a:pt x="6688709" y="6007"/>
                </a:lnTo>
                <a:lnTo>
                  <a:pt x="6664490" y="22377"/>
                </a:lnTo>
                <a:lnTo>
                  <a:pt x="6648107" y="46609"/>
                </a:lnTo>
                <a:lnTo>
                  <a:pt x="6642100" y="76200"/>
                </a:lnTo>
                <a:lnTo>
                  <a:pt x="6636093" y="46609"/>
                </a:lnTo>
                <a:lnTo>
                  <a:pt x="6623050" y="27305"/>
                </a:lnTo>
                <a:lnTo>
                  <a:pt x="6623050" y="76200"/>
                </a:lnTo>
                <a:lnTo>
                  <a:pt x="6623050" y="2326640"/>
                </a:lnTo>
                <a:lnTo>
                  <a:pt x="6618541" y="2348827"/>
                </a:lnTo>
                <a:lnTo>
                  <a:pt x="6606260" y="2367000"/>
                </a:lnTo>
                <a:lnTo>
                  <a:pt x="6588087" y="2379281"/>
                </a:lnTo>
                <a:lnTo>
                  <a:pt x="6565900" y="2383790"/>
                </a:lnTo>
                <a:lnTo>
                  <a:pt x="3397262" y="2383790"/>
                </a:lnTo>
                <a:lnTo>
                  <a:pt x="3375063" y="2379281"/>
                </a:lnTo>
                <a:lnTo>
                  <a:pt x="3356889" y="2367000"/>
                </a:lnTo>
                <a:lnTo>
                  <a:pt x="3344621" y="2348827"/>
                </a:lnTo>
                <a:lnTo>
                  <a:pt x="3340112" y="2326640"/>
                </a:lnTo>
                <a:lnTo>
                  <a:pt x="3340112" y="76200"/>
                </a:lnTo>
                <a:lnTo>
                  <a:pt x="3344621" y="54000"/>
                </a:lnTo>
                <a:lnTo>
                  <a:pt x="3356889" y="35839"/>
                </a:lnTo>
                <a:lnTo>
                  <a:pt x="3375063" y="23558"/>
                </a:lnTo>
                <a:lnTo>
                  <a:pt x="3397262" y="19050"/>
                </a:lnTo>
                <a:lnTo>
                  <a:pt x="6565900" y="19050"/>
                </a:lnTo>
                <a:lnTo>
                  <a:pt x="6588087" y="23558"/>
                </a:lnTo>
                <a:lnTo>
                  <a:pt x="6606260" y="35839"/>
                </a:lnTo>
                <a:lnTo>
                  <a:pt x="6618541" y="54000"/>
                </a:lnTo>
                <a:lnTo>
                  <a:pt x="6623050" y="76200"/>
                </a:lnTo>
                <a:lnTo>
                  <a:pt x="6623050" y="27305"/>
                </a:lnTo>
                <a:lnTo>
                  <a:pt x="6619722" y="22377"/>
                </a:lnTo>
                <a:lnTo>
                  <a:pt x="6614782" y="19050"/>
                </a:lnTo>
                <a:lnTo>
                  <a:pt x="6595491" y="6007"/>
                </a:lnTo>
                <a:lnTo>
                  <a:pt x="6565900" y="0"/>
                </a:lnTo>
                <a:lnTo>
                  <a:pt x="3397262" y="0"/>
                </a:lnTo>
                <a:lnTo>
                  <a:pt x="3367671" y="6007"/>
                </a:lnTo>
                <a:lnTo>
                  <a:pt x="3343440" y="22377"/>
                </a:lnTo>
                <a:lnTo>
                  <a:pt x="3327069" y="46609"/>
                </a:lnTo>
                <a:lnTo>
                  <a:pt x="3321062" y="76200"/>
                </a:lnTo>
                <a:lnTo>
                  <a:pt x="3315043" y="46609"/>
                </a:lnTo>
                <a:lnTo>
                  <a:pt x="3302012" y="27330"/>
                </a:lnTo>
                <a:lnTo>
                  <a:pt x="3302012" y="76200"/>
                </a:lnTo>
                <a:lnTo>
                  <a:pt x="3302012" y="2326640"/>
                </a:lnTo>
                <a:lnTo>
                  <a:pt x="3297491" y="2348827"/>
                </a:lnTo>
                <a:lnTo>
                  <a:pt x="3285223" y="2367000"/>
                </a:lnTo>
                <a:lnTo>
                  <a:pt x="3267049" y="2379281"/>
                </a:lnTo>
                <a:lnTo>
                  <a:pt x="3244862" y="2383790"/>
                </a:lnTo>
                <a:lnTo>
                  <a:pt x="76200" y="2383790"/>
                </a:lnTo>
                <a:lnTo>
                  <a:pt x="54013" y="2379281"/>
                </a:lnTo>
                <a:lnTo>
                  <a:pt x="35839" y="2367000"/>
                </a:lnTo>
                <a:lnTo>
                  <a:pt x="23558" y="2348827"/>
                </a:lnTo>
                <a:lnTo>
                  <a:pt x="19050" y="2326640"/>
                </a:lnTo>
                <a:lnTo>
                  <a:pt x="19050" y="76200"/>
                </a:lnTo>
                <a:lnTo>
                  <a:pt x="23558" y="54000"/>
                </a:lnTo>
                <a:lnTo>
                  <a:pt x="35839" y="35839"/>
                </a:lnTo>
                <a:lnTo>
                  <a:pt x="54013" y="23558"/>
                </a:lnTo>
                <a:lnTo>
                  <a:pt x="76200" y="19050"/>
                </a:lnTo>
                <a:lnTo>
                  <a:pt x="3244862" y="19050"/>
                </a:lnTo>
                <a:lnTo>
                  <a:pt x="3267049" y="23558"/>
                </a:lnTo>
                <a:lnTo>
                  <a:pt x="3285223" y="35839"/>
                </a:lnTo>
                <a:lnTo>
                  <a:pt x="3297491" y="54000"/>
                </a:lnTo>
                <a:lnTo>
                  <a:pt x="3302012" y="76200"/>
                </a:lnTo>
                <a:lnTo>
                  <a:pt x="3302012" y="27330"/>
                </a:lnTo>
                <a:lnTo>
                  <a:pt x="3298672" y="22377"/>
                </a:lnTo>
                <a:lnTo>
                  <a:pt x="3293745" y="19050"/>
                </a:lnTo>
                <a:lnTo>
                  <a:pt x="3274441" y="6007"/>
                </a:lnTo>
                <a:lnTo>
                  <a:pt x="3244862" y="0"/>
                </a:lnTo>
                <a:lnTo>
                  <a:pt x="76200" y="0"/>
                </a:lnTo>
                <a:lnTo>
                  <a:pt x="46609" y="6007"/>
                </a:lnTo>
                <a:lnTo>
                  <a:pt x="22390" y="22377"/>
                </a:lnTo>
                <a:lnTo>
                  <a:pt x="6019" y="46609"/>
                </a:lnTo>
                <a:lnTo>
                  <a:pt x="0" y="76200"/>
                </a:lnTo>
                <a:lnTo>
                  <a:pt x="0" y="2326640"/>
                </a:lnTo>
                <a:lnTo>
                  <a:pt x="6019" y="2356231"/>
                </a:lnTo>
                <a:lnTo>
                  <a:pt x="22390" y="2380462"/>
                </a:lnTo>
                <a:lnTo>
                  <a:pt x="46609" y="2396833"/>
                </a:lnTo>
                <a:lnTo>
                  <a:pt x="76200" y="2402840"/>
                </a:lnTo>
                <a:lnTo>
                  <a:pt x="3244862" y="2402840"/>
                </a:lnTo>
                <a:lnTo>
                  <a:pt x="3274441" y="2396833"/>
                </a:lnTo>
                <a:lnTo>
                  <a:pt x="3293745" y="2383790"/>
                </a:lnTo>
                <a:lnTo>
                  <a:pt x="3298672" y="2380462"/>
                </a:lnTo>
                <a:lnTo>
                  <a:pt x="3315043" y="2356231"/>
                </a:lnTo>
                <a:lnTo>
                  <a:pt x="3321062" y="2326640"/>
                </a:lnTo>
                <a:lnTo>
                  <a:pt x="3327069" y="2356231"/>
                </a:lnTo>
                <a:lnTo>
                  <a:pt x="3343440" y="2380462"/>
                </a:lnTo>
                <a:lnTo>
                  <a:pt x="3367671" y="2396833"/>
                </a:lnTo>
                <a:lnTo>
                  <a:pt x="3397262" y="2402840"/>
                </a:lnTo>
                <a:lnTo>
                  <a:pt x="6565900" y="2402840"/>
                </a:lnTo>
                <a:lnTo>
                  <a:pt x="6595491" y="2396833"/>
                </a:lnTo>
                <a:lnTo>
                  <a:pt x="6614782" y="2383790"/>
                </a:lnTo>
                <a:lnTo>
                  <a:pt x="6619722" y="2380462"/>
                </a:lnTo>
                <a:lnTo>
                  <a:pt x="6636093" y="2356231"/>
                </a:lnTo>
                <a:lnTo>
                  <a:pt x="6642100" y="2326640"/>
                </a:lnTo>
                <a:lnTo>
                  <a:pt x="6648107" y="2356231"/>
                </a:lnTo>
                <a:lnTo>
                  <a:pt x="6664490" y="2380462"/>
                </a:lnTo>
                <a:lnTo>
                  <a:pt x="6688709" y="2396833"/>
                </a:lnTo>
                <a:lnTo>
                  <a:pt x="6718300" y="2402840"/>
                </a:lnTo>
                <a:lnTo>
                  <a:pt x="9886925" y="2402840"/>
                </a:lnTo>
                <a:lnTo>
                  <a:pt x="9916516" y="2396833"/>
                </a:lnTo>
                <a:lnTo>
                  <a:pt x="9935807" y="2383790"/>
                </a:lnTo>
                <a:lnTo>
                  <a:pt x="9940747" y="2380462"/>
                </a:lnTo>
                <a:lnTo>
                  <a:pt x="9957117" y="2356231"/>
                </a:lnTo>
                <a:lnTo>
                  <a:pt x="9963125" y="2326640"/>
                </a:lnTo>
                <a:lnTo>
                  <a:pt x="9963125" y="76200"/>
                </a:lnTo>
                <a:close/>
              </a:path>
            </a:pathLst>
          </a:custGeom>
          <a:solidFill>
            <a:srgbClr val="0F2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85" dirty="0"/>
              <a:t> </a:t>
            </a:r>
            <a:r>
              <a:rPr dirty="0"/>
              <a:t>2:</a:t>
            </a:r>
            <a:r>
              <a:rPr spc="-80" dirty="0"/>
              <a:t> </a:t>
            </a:r>
            <a:r>
              <a:rPr dirty="0"/>
              <a:t>Desarrollo</a:t>
            </a:r>
            <a:r>
              <a:rPr spc="-80" dirty="0"/>
              <a:t> </a:t>
            </a:r>
            <a:r>
              <a:rPr dirty="0"/>
              <a:t>del</a:t>
            </a:r>
            <a:r>
              <a:rPr spc="-80" dirty="0"/>
              <a:t> </a:t>
            </a:r>
            <a:r>
              <a:rPr dirty="0"/>
              <a:t>Sistema</a:t>
            </a:r>
            <a:r>
              <a:rPr spc="-80" dirty="0"/>
              <a:t> </a:t>
            </a:r>
            <a:r>
              <a:rPr dirty="0"/>
              <a:t>(</a:t>
            </a:r>
            <a:r>
              <a:rPr lang="es-MX" dirty="0"/>
              <a:t>CODING</a:t>
            </a:r>
            <a:r>
              <a:rPr spc="-10"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682625"/>
            <a:ext cx="9986010" cy="56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Para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materializar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el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alcance,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lang="es-MX" sz="1600" dirty="0">
                <a:latin typeface="Arial"/>
                <a:cs typeface="Arial"/>
              </a:rPr>
              <a:t>desarrollaremos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el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sistema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reemplazando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silos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información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manuales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un </a:t>
            </a:r>
            <a:r>
              <a:rPr sz="1600" dirty="0">
                <a:latin typeface="Arial"/>
                <a:cs typeface="Arial"/>
              </a:rPr>
              <a:t>Stack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Tecnológico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última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generación,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robusto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escalable.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0819" y="2633515"/>
            <a:ext cx="1139825" cy="8902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Base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de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 Datos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1600" b="1" spc="-10" dirty="0">
                <a:solidFill>
                  <a:srgbClr val="1D8349"/>
                </a:solidFill>
                <a:latin typeface="Arial"/>
                <a:cs typeface="Arial"/>
              </a:rPr>
              <a:t>SUPABASE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000" spc="-10" dirty="0">
                <a:solidFill>
                  <a:srgbClr val="545454"/>
                </a:solidFill>
                <a:latin typeface="Arial"/>
                <a:cs typeface="Arial"/>
              </a:rPr>
              <a:t>(PostgreSQL)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224" y="3608580"/>
            <a:ext cx="3023235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Actuará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como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única</a:t>
            </a:r>
            <a:r>
              <a:rPr sz="1600" spc="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fuente</a:t>
            </a:r>
            <a:r>
              <a:rPr sz="1600" spc="10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dirty="0">
                <a:latin typeface="Arial"/>
                <a:cs typeface="Arial"/>
              </a:rPr>
              <a:t>verdad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nube,</a:t>
            </a:r>
            <a:r>
              <a:rPr sz="1600" spc="9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centralizando </a:t>
            </a:r>
            <a:r>
              <a:rPr sz="1600" dirty="0">
                <a:latin typeface="Arial"/>
                <a:cs typeface="Arial"/>
              </a:rPr>
              <a:t>maestros,</a:t>
            </a:r>
            <a:r>
              <a:rPr sz="1600" spc="27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tarifas,</a:t>
            </a:r>
            <a:r>
              <a:rPr sz="1600" spc="27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forecasts</a:t>
            </a:r>
            <a:r>
              <a:rPr sz="1600" spc="275" dirty="0">
                <a:latin typeface="Arial"/>
                <a:cs typeface="Arial"/>
              </a:rPr>
              <a:t>  </a:t>
            </a:r>
            <a:r>
              <a:rPr sz="1600" spc="-50" dirty="0">
                <a:latin typeface="Arial"/>
                <a:cs typeface="Arial"/>
              </a:rPr>
              <a:t>y </a:t>
            </a:r>
            <a:r>
              <a:rPr sz="1600" spc="-10" dirty="0">
                <a:latin typeface="Arial"/>
                <a:cs typeface="Arial"/>
              </a:rPr>
              <a:t>ejecución.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9222" y="2601414"/>
            <a:ext cx="2105025" cy="9226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200" b="1" i="1" dirty="0">
                <a:solidFill>
                  <a:srgbClr val="0F2B59"/>
                </a:solidFill>
                <a:latin typeface="Arial"/>
                <a:cs typeface="Arial"/>
              </a:rPr>
              <a:t>Backend &amp; </a:t>
            </a: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Visualización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400" b="1" dirty="0">
                <a:solidFill>
                  <a:srgbClr val="1D8349"/>
                </a:solidFill>
                <a:latin typeface="Arial"/>
                <a:cs typeface="Arial"/>
              </a:rPr>
              <a:t>STREAMLIT + </a:t>
            </a:r>
            <a:r>
              <a:rPr sz="1400" b="1" spc="-10" dirty="0">
                <a:solidFill>
                  <a:srgbClr val="1D8349"/>
                </a:solidFill>
                <a:latin typeface="Arial"/>
                <a:cs typeface="Arial"/>
              </a:rPr>
              <a:t>ECHARTS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(Python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/</a:t>
            </a:r>
            <a:r>
              <a:rPr sz="1000" spc="-7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Apache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45454"/>
                </a:solidFill>
                <a:latin typeface="Arial"/>
                <a:cs typeface="Arial"/>
              </a:rPr>
              <a:t>ECharts)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0278" y="3608580"/>
            <a:ext cx="3022600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Desarrollo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ágil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User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Interface</a:t>
            </a:r>
            <a:r>
              <a:rPr lang="es-MX" sz="1600" spc="-10" dirty="0">
                <a:latin typeface="Arial"/>
                <a:cs typeface="Arial"/>
              </a:rPr>
              <a:t> (UI)</a:t>
            </a:r>
            <a:r>
              <a:rPr sz="1600" spc="-10" dirty="0">
                <a:latin typeface="Arial"/>
                <a:cs typeface="Arial"/>
              </a:rPr>
              <a:t>, </a:t>
            </a:r>
            <a:r>
              <a:rPr sz="1600" dirty="0">
                <a:latin typeface="Arial"/>
                <a:cs typeface="Arial"/>
              </a:rPr>
              <a:t>gráficas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avanzadas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interactivas</a:t>
            </a:r>
            <a:r>
              <a:rPr lang="es-MX" sz="1600" dirty="0">
                <a:latin typeface="Arial"/>
                <a:cs typeface="Arial"/>
              </a:rPr>
              <a:t> a medida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y </a:t>
            </a:r>
            <a:r>
              <a:rPr sz="1600" dirty="0">
                <a:latin typeface="Arial"/>
                <a:cs typeface="Arial"/>
              </a:rPr>
              <a:t>lógica</a:t>
            </a:r>
            <a:r>
              <a:rPr sz="1600" spc="240" dirty="0">
                <a:latin typeface="Arial"/>
                <a:cs typeface="Arial"/>
              </a:rPr>
              <a:t>   </a:t>
            </a:r>
            <a:r>
              <a:rPr sz="1600" dirty="0">
                <a:latin typeface="Arial"/>
                <a:cs typeface="Arial"/>
              </a:rPr>
              <a:t>matemática</a:t>
            </a:r>
            <a:r>
              <a:rPr sz="1600" spc="245" dirty="0">
                <a:latin typeface="Arial"/>
                <a:cs typeface="Arial"/>
              </a:rPr>
              <a:t>   </a:t>
            </a:r>
            <a:r>
              <a:rPr sz="1600" dirty="0">
                <a:latin typeface="Arial"/>
                <a:cs typeface="Arial"/>
              </a:rPr>
              <a:t>libre</a:t>
            </a:r>
            <a:r>
              <a:rPr sz="1600" spc="245" dirty="0">
                <a:latin typeface="Arial"/>
                <a:cs typeface="Arial"/>
              </a:rPr>
              <a:t>   </a:t>
            </a:r>
            <a:r>
              <a:rPr sz="1600" spc="-25" dirty="0">
                <a:latin typeface="Arial"/>
                <a:cs typeface="Arial"/>
              </a:rPr>
              <a:t>de </a:t>
            </a:r>
            <a:r>
              <a:rPr sz="1600" spc="-10" dirty="0">
                <a:latin typeface="Arial"/>
                <a:cs typeface="Arial"/>
              </a:rPr>
              <a:t>errores.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2138" y="2633515"/>
            <a:ext cx="1101090" cy="8902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200" b="1" i="1" spc="-10" dirty="0">
                <a:solidFill>
                  <a:srgbClr val="0F2B59"/>
                </a:solidFill>
                <a:latin typeface="Arial"/>
                <a:cs typeface="Arial"/>
              </a:rPr>
              <a:t>Infraestructura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sz="1600" b="1" spc="-10" dirty="0">
                <a:solidFill>
                  <a:srgbClr val="1D8349"/>
                </a:solidFill>
                <a:latin typeface="Arial"/>
                <a:cs typeface="Arial"/>
              </a:rPr>
              <a:t>CONTABO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000" dirty="0">
                <a:solidFill>
                  <a:srgbClr val="545454"/>
                </a:solidFill>
                <a:latin typeface="Arial"/>
                <a:cs typeface="Arial"/>
              </a:rPr>
              <a:t>(Cloud</a:t>
            </a:r>
            <a:r>
              <a:rPr sz="1000" spc="-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545454"/>
                </a:solidFill>
                <a:latin typeface="Arial"/>
                <a:cs typeface="Arial"/>
              </a:rPr>
              <a:t>VPS)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31322" y="3608580"/>
            <a:ext cx="3021965" cy="142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Servidor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dedicado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en</a:t>
            </a:r>
            <a:r>
              <a:rPr sz="1600" spc="12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120" dirty="0">
                <a:latin typeface="Arial"/>
                <a:cs typeface="Arial"/>
              </a:rPr>
              <a:t>  </a:t>
            </a:r>
            <a:r>
              <a:rPr sz="1600" spc="-20" dirty="0">
                <a:latin typeface="Arial"/>
                <a:cs typeface="Arial"/>
              </a:rPr>
              <a:t>nube </a:t>
            </a:r>
            <a:r>
              <a:rPr sz="160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garantizará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Petral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tenga </a:t>
            </a:r>
            <a:r>
              <a:rPr sz="1600" dirty="0">
                <a:latin typeface="Arial"/>
                <a:cs typeface="Arial"/>
              </a:rPr>
              <a:t>acceso</a:t>
            </a:r>
            <a:r>
              <a:rPr sz="1600" spc="45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continuo</a:t>
            </a:r>
            <a:r>
              <a:rPr sz="1600" spc="455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24/7</a:t>
            </a:r>
            <a:r>
              <a:rPr sz="1600" spc="450" dirty="0">
                <a:latin typeface="Arial"/>
                <a:cs typeface="Arial"/>
              </a:rPr>
              <a:t> 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455" dirty="0">
                <a:latin typeface="Arial"/>
                <a:cs typeface="Arial"/>
              </a:rPr>
              <a:t>  </a:t>
            </a:r>
            <a:r>
              <a:rPr sz="1600" spc="-25" dirty="0">
                <a:latin typeface="Arial"/>
                <a:cs typeface="Arial"/>
              </a:rPr>
              <a:t>la </a:t>
            </a:r>
            <a:r>
              <a:rPr sz="1600" spc="-10" dirty="0" err="1">
                <a:latin typeface="Arial"/>
                <a:cs typeface="Arial"/>
              </a:rPr>
              <a:t>herramienta</a:t>
            </a:r>
            <a:r>
              <a:rPr lang="es-MX" sz="1600" spc="-10" dirty="0">
                <a:latin typeface="Arial"/>
                <a:cs typeface="Arial"/>
              </a:rPr>
              <a:t> con 99.99% de disponibilidad garantizada</a:t>
            </a:r>
            <a:r>
              <a:rPr sz="1600" spc="-10" dirty="0"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BF2D14-A425-A174-AFEB-C7819966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819" y="5316546"/>
            <a:ext cx="1152525" cy="7162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CA9092-57A3-EE06-C5F5-CAA58EA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426" y="5309506"/>
            <a:ext cx="1221755" cy="7592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40E142-2FE8-52B1-E966-1F533DD97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95" y="5309506"/>
            <a:ext cx="1221756" cy="756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F555A6-D736-40A4-AAFD-17A50D9F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032E83-8D95-66D6-0EBF-77F5E44A3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El Stack tecnológico en analogía de ARMADOR</a:t>
            </a:r>
            <a:endParaRPr spc="-10" dirty="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FFEB612C-ED7E-C186-8DEA-6D9023FAC4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2122F7FA-B59C-70B3-5704-513141EDA79C}"/>
              </a:ext>
            </a:extLst>
          </p:cNvPr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4BE7EA-895E-A00A-D748-0FBBA1CECC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416696-DDD8-30B3-47B0-5EBFB5D87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647825"/>
            <a:ext cx="8215313" cy="451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02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Comparativa</a:t>
            </a:r>
            <a:r>
              <a:rPr spc="-75" dirty="0"/>
              <a:t> </a:t>
            </a:r>
            <a:r>
              <a:rPr spc="-20" dirty="0"/>
              <a:t>Tecnológica:</a:t>
            </a:r>
            <a:r>
              <a:rPr spc="-75" dirty="0"/>
              <a:t> </a:t>
            </a:r>
            <a:r>
              <a:rPr spc="-10" dirty="0"/>
              <a:t>Estado</a:t>
            </a:r>
            <a:r>
              <a:rPr spc="-160" dirty="0"/>
              <a:t> </a:t>
            </a:r>
            <a:r>
              <a:rPr dirty="0"/>
              <a:t>Actual</a:t>
            </a:r>
            <a:r>
              <a:rPr spc="-75" dirty="0"/>
              <a:t> </a:t>
            </a:r>
            <a:r>
              <a:rPr dirty="0"/>
              <a:t>vs.</a:t>
            </a:r>
            <a:r>
              <a:rPr spc="-70" dirty="0"/>
              <a:t> </a:t>
            </a:r>
            <a:r>
              <a:rPr dirty="0"/>
              <a:t>Estado</a:t>
            </a:r>
            <a:r>
              <a:rPr spc="-75" dirty="0"/>
              <a:t> </a:t>
            </a:r>
            <a:r>
              <a:rPr spc="-10" dirty="0"/>
              <a:t>Futuro</a:t>
            </a:r>
          </a:p>
        </p:txBody>
      </p:sp>
      <p:sp>
        <p:nvSpPr>
          <p:cNvPr id="5" name="object 5"/>
          <p:cNvSpPr/>
          <p:nvPr/>
        </p:nvSpPr>
        <p:spPr>
          <a:xfrm>
            <a:off x="544762" y="1576387"/>
            <a:ext cx="2190115" cy="344170"/>
          </a:xfrm>
          <a:custGeom>
            <a:avLst/>
            <a:gdLst/>
            <a:ahLst/>
            <a:cxnLst/>
            <a:rect l="l" t="t" r="r" b="b"/>
            <a:pathLst>
              <a:path w="2190115" h="344169">
                <a:moveTo>
                  <a:pt x="2189797" y="343572"/>
                </a:moveTo>
                <a:lnTo>
                  <a:pt x="0" y="343572"/>
                </a:lnTo>
                <a:lnTo>
                  <a:pt x="0" y="0"/>
                </a:lnTo>
                <a:lnTo>
                  <a:pt x="2189797" y="0"/>
                </a:lnTo>
                <a:lnTo>
                  <a:pt x="2189797" y="343572"/>
                </a:lnTo>
                <a:close/>
              </a:path>
            </a:pathLst>
          </a:custGeom>
          <a:solidFill>
            <a:srgbClr val="0F2B5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056558"/>
              </p:ext>
            </p:extLst>
          </p:nvPr>
        </p:nvGraphicFramePr>
        <p:xfrm>
          <a:off x="539999" y="1571625"/>
          <a:ext cx="9954894" cy="491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🔍</a:t>
                      </a:r>
                      <a:r>
                        <a:rPr sz="1100" spc="45" dirty="0">
                          <a:solidFill>
                            <a:srgbClr val="FFFFFF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Dimensión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Criterio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004999">
                        <a:alpha val="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Estado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Actual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(Excel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SharePoint)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Estado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Futuro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(Supabase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b="1" spc="-15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369A1"/>
                          </a:solidFill>
                          <a:latin typeface="Verdana"/>
                          <a:cs typeface="Verdana"/>
                        </a:rPr>
                        <a:t>Streamlit)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F2B59"/>
                      </a:solidFill>
                      <a:prstDash val="solid"/>
                    </a:lnL>
                    <a:lnR w="9525">
                      <a:solidFill>
                        <a:srgbClr val="0F2B59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0F2B59"/>
                      </a:solidFill>
                      <a:prstDash val="solid"/>
                    </a:lnB>
                    <a:solidFill>
                      <a:srgbClr val="DF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200" b="1" spc="-4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Matemática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Expuesta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74015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Frágil</a:t>
                      </a:r>
                      <a:r>
                        <a:rPr sz="1300" b="1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manipulable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Fórmulas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expuestas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celdas.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riesgo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alteración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involuntaria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parte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operativos.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11430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Centralizada</a:t>
                      </a:r>
                      <a:r>
                        <a:rPr sz="1300" b="1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blindada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matemáticos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fórmulas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compiladas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web,</a:t>
                      </a:r>
                      <a:r>
                        <a:rPr lang="es-MX" sz="1300" spc="-2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resguardadas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ante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errores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digitación.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0F2B59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Colaboración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Limitada</a:t>
                      </a:r>
                      <a:r>
                        <a:rPr sz="1200" b="1" spc="-1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Bloqueo de </a:t>
                      </a:r>
                      <a:r>
                        <a:rPr sz="1200" b="1" spc="-10" dirty="0" err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Acceso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34544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Secuencial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restrictivo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Bloqueos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simultáneo.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Generación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duplicados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confusión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versiones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cotizadas.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320675" algn="just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Concurrente</a:t>
                      </a:r>
                      <a:r>
                        <a:rPr sz="13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13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instantánea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Múltiples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tarifas,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rutas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forma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simultánea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interferencias.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Trazabilidad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200" b="1" spc="-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Dato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48768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Inexistente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hay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bitácora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quién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cotizó,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cuándo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cambió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tarifa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bajo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qué</a:t>
                      </a:r>
                      <a:r>
                        <a:rPr lang="es-MX" sz="1300" spc="-25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criterios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aprobó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margen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histórico.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Auditable</a:t>
                      </a:r>
                      <a:r>
                        <a:rPr sz="1300" b="1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automática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Historial</a:t>
                      </a:r>
                      <a:r>
                        <a:rPr sz="13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300">
                        <a:latin typeface="Verdana"/>
                        <a:cs typeface="Verdana"/>
                      </a:endParaRPr>
                    </a:p>
                    <a:p>
                      <a:pPr marL="99695" marR="339725">
                        <a:lnSpc>
                          <a:spcPct val="108300"/>
                        </a:lnSpc>
                      </a:pP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transacciones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completo.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Registro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centralizado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usuarios,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cotizaciones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cambios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autorizados.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Consolidación</a:t>
                      </a:r>
                      <a:r>
                        <a:rPr sz="12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2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KPIs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260985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Manual</a:t>
                      </a:r>
                      <a:r>
                        <a:rPr sz="1300" b="1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lenta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Consolidar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varianza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(PnL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proyectado)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requiere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copiado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reportes</a:t>
                      </a:r>
                      <a:r>
                        <a:rPr sz="13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mensuales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manuales.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 marR="217804" algn="just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Automatizada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6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Dashboards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interactivos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 /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varianzas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actualizados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instante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mediante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integrada.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Seguridad </a:t>
                      </a:r>
                      <a:r>
                        <a:rPr sz="12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200" b="1" spc="-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Backups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44170">
                        <a:lnSpc>
                          <a:spcPct val="108300"/>
                        </a:lnSpc>
                        <a:spcBef>
                          <a:spcPts val="58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Baja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expuestos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carpetas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SharePoint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pueden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descargarse,</a:t>
                      </a:r>
                      <a:r>
                        <a:rPr sz="1300" spc="-6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borrarse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sobrescribirse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libremente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sin</a:t>
                      </a:r>
                      <a:r>
                        <a:rPr sz="1300" spc="-5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restricción</a:t>
                      </a:r>
                      <a:r>
                        <a:rPr sz="13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robusta.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Alta</a:t>
                      </a:r>
                      <a:r>
                        <a:rPr sz="1300" b="1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(Grado</a:t>
                      </a:r>
                      <a:r>
                        <a:rPr sz="1300" b="1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Empresarial)</a:t>
                      </a:r>
                      <a:r>
                        <a:rPr sz="13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: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Perfiles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acceso</a:t>
                      </a:r>
                      <a:r>
                        <a:rPr lang="es-MX" sz="1300" spc="-1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restringidos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por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roles,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backups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automáticos</a:t>
                      </a:r>
                      <a:r>
                        <a:rPr sz="13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dedicado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3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VPS.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8763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38135" y="2493374"/>
            <a:ext cx="2667594" cy="2849122"/>
          </a:xfrm>
          <a:custGeom>
            <a:avLst/>
            <a:gdLst/>
            <a:ahLst/>
            <a:cxnLst/>
            <a:rect l="l" t="t" r="r" b="b"/>
            <a:pathLst>
              <a:path w="4423410" h="1899285">
                <a:moveTo>
                  <a:pt x="4347049" y="1898656"/>
                </a:moveTo>
                <a:lnTo>
                  <a:pt x="76200" y="1898656"/>
                </a:lnTo>
                <a:lnTo>
                  <a:pt x="46612" y="1892643"/>
                </a:lnTo>
                <a:lnTo>
                  <a:pt x="22383" y="1876272"/>
                </a:lnTo>
                <a:lnTo>
                  <a:pt x="6012" y="1852043"/>
                </a:lnTo>
                <a:lnTo>
                  <a:pt x="0" y="1822456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49" y="0"/>
                </a:lnTo>
                <a:lnTo>
                  <a:pt x="4376636" y="6012"/>
                </a:lnTo>
                <a:lnTo>
                  <a:pt x="4400865" y="22383"/>
                </a:lnTo>
                <a:lnTo>
                  <a:pt x="4417236" y="46612"/>
                </a:lnTo>
                <a:lnTo>
                  <a:pt x="4423249" y="76200"/>
                </a:lnTo>
                <a:lnTo>
                  <a:pt x="4423249" y="1822456"/>
                </a:lnTo>
                <a:lnTo>
                  <a:pt x="4417236" y="1852043"/>
                </a:lnTo>
                <a:lnTo>
                  <a:pt x="4400865" y="1876272"/>
                </a:lnTo>
                <a:lnTo>
                  <a:pt x="4376636" y="1892643"/>
                </a:lnTo>
                <a:lnTo>
                  <a:pt x="4347049" y="1898656"/>
                </a:lnTo>
                <a:close/>
              </a:path>
            </a:pathLst>
          </a:custGeom>
          <a:solidFill>
            <a:srgbClr val="1D83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67425" y="2443579"/>
            <a:ext cx="2895006" cy="2928519"/>
          </a:xfrm>
          <a:custGeom>
            <a:avLst/>
            <a:gdLst/>
            <a:ahLst/>
            <a:cxnLst/>
            <a:rect l="l" t="t" r="r" b="b"/>
            <a:pathLst>
              <a:path w="4423409" h="2183129">
                <a:moveTo>
                  <a:pt x="4347019" y="2183130"/>
                </a:moveTo>
                <a:lnTo>
                  <a:pt x="76200" y="2183130"/>
                </a:lnTo>
                <a:lnTo>
                  <a:pt x="46612" y="2177117"/>
                </a:lnTo>
                <a:lnTo>
                  <a:pt x="22383" y="2160746"/>
                </a:lnTo>
                <a:lnTo>
                  <a:pt x="6012" y="2136517"/>
                </a:lnTo>
                <a:lnTo>
                  <a:pt x="0" y="210693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19" y="0"/>
                </a:lnTo>
                <a:lnTo>
                  <a:pt x="4376606" y="6012"/>
                </a:lnTo>
                <a:lnTo>
                  <a:pt x="4400835" y="22383"/>
                </a:lnTo>
                <a:lnTo>
                  <a:pt x="4417206" y="46612"/>
                </a:lnTo>
                <a:lnTo>
                  <a:pt x="4423219" y="76200"/>
                </a:lnTo>
                <a:lnTo>
                  <a:pt x="4423219" y="2106930"/>
                </a:lnTo>
                <a:lnTo>
                  <a:pt x="4417206" y="2136517"/>
                </a:lnTo>
                <a:lnTo>
                  <a:pt x="4400835" y="2160746"/>
                </a:lnTo>
                <a:lnTo>
                  <a:pt x="4376606" y="2177117"/>
                </a:lnTo>
                <a:lnTo>
                  <a:pt x="4347019" y="2183130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-35" dirty="0"/>
              <a:t> </a:t>
            </a:r>
            <a:r>
              <a:rPr dirty="0"/>
              <a:t>3</a:t>
            </a:r>
            <a:r>
              <a:rPr lang="es-MX" spc="-35" dirty="0"/>
              <a:t>,</a:t>
            </a:r>
            <a:r>
              <a:rPr spc="-35" dirty="0"/>
              <a:t> </a:t>
            </a:r>
            <a:r>
              <a:rPr dirty="0"/>
              <a:t>4</a:t>
            </a:r>
            <a:r>
              <a:rPr lang="es-MX" dirty="0"/>
              <a:t> y 5</a:t>
            </a:r>
            <a:r>
              <a:rPr dirty="0"/>
              <a:t>:</a:t>
            </a:r>
            <a:r>
              <a:rPr spc="-35" dirty="0"/>
              <a:t> </a:t>
            </a:r>
            <a:r>
              <a:rPr lang="es-MX" spc="-35" dirty="0"/>
              <a:t>ETL, </a:t>
            </a:r>
            <a:r>
              <a:rPr spc="-10" dirty="0" err="1"/>
              <a:t>Implementación</a:t>
            </a:r>
            <a:r>
              <a:rPr lang="es-MX" spc="-30" dirty="0"/>
              <a:t> y </a:t>
            </a:r>
            <a:r>
              <a:rPr spc="-10" dirty="0" err="1"/>
              <a:t>Acompañamiento</a:t>
            </a:r>
            <a:r>
              <a:rPr lang="es-MX" spc="-10" dirty="0"/>
              <a:t> 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527299" y="1682625"/>
            <a:ext cx="9984105" cy="56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éxito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herramienta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solo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depende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código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Fase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2,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sino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lang="es-MX" sz="1600" dirty="0">
                <a:latin typeface="Arial"/>
                <a:cs typeface="Arial"/>
              </a:rPr>
              <a:t> tener data adecuada para ejecutar mediciones REALES,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 err="1">
                <a:latin typeface="Arial"/>
                <a:cs typeface="Arial"/>
              </a:rPr>
              <a:t>adopción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lang="es-MX" sz="1600" dirty="0">
                <a:latin typeface="Arial"/>
                <a:cs typeface="Arial"/>
              </a:rPr>
              <a:t>TOTAL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los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usuarios </a:t>
            </a:r>
            <a:r>
              <a:rPr sz="1600" dirty="0">
                <a:latin typeface="Arial"/>
                <a:cs typeface="Arial"/>
              </a:rPr>
              <a:t>operativos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 comerciales de </a:t>
            </a:r>
            <a:r>
              <a:rPr sz="1600" spc="-10" dirty="0">
                <a:latin typeface="Arial"/>
                <a:cs typeface="Arial"/>
              </a:rPr>
              <a:t>Petral.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0709" y="2728295"/>
            <a:ext cx="3417571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10" dirty="0" err="1">
                <a:solidFill>
                  <a:schemeClr val="bg1"/>
                </a:solidFill>
                <a:latin typeface="Arial"/>
                <a:cs typeface="Arial"/>
              </a:rPr>
              <a:t>Implementación</a:t>
            </a:r>
            <a:endParaRPr lang="es-MX" sz="1600" b="1" spc="-1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 y</a:t>
            </a:r>
            <a:r>
              <a:rPr sz="1600" b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Onboarding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20710" y="3248988"/>
            <a:ext cx="2295118" cy="17073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Involucramiento</a:t>
            </a:r>
            <a:r>
              <a:rPr sz="1300" b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directo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del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equipo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operativo</a:t>
            </a:r>
            <a:r>
              <a:rPr sz="1300" b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y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gerencial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para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asegurar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el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entendimiento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y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capacitación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sobre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la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plataforma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con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datos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reales</a:t>
            </a:r>
            <a:r>
              <a:rPr sz="1300" b="1" spc="-1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sz="1300" b="1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23754" y="3196638"/>
            <a:ext cx="5969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0" dirty="0">
                <a:solidFill>
                  <a:srgbClr val="1D8349"/>
                </a:solidFill>
                <a:latin typeface="MS Gothic"/>
                <a:cs typeface="MS Gothic"/>
              </a:rPr>
              <a:t>➔</a:t>
            </a:r>
            <a:endParaRPr sz="4500" dirty="0">
              <a:solidFill>
                <a:srgbClr val="1D8349"/>
              </a:solidFill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4245" y="2678491"/>
            <a:ext cx="315785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5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sz="1600" b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dirty="0" err="1">
                <a:solidFill>
                  <a:schemeClr val="bg1"/>
                </a:solidFill>
                <a:latin typeface="Arial"/>
                <a:cs typeface="Arial"/>
              </a:rPr>
              <a:t>Acompañamiento</a:t>
            </a:r>
            <a:endParaRPr lang="es-MX" sz="16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In</a:t>
            </a:r>
            <a:r>
              <a:rPr sz="1600" b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chemeClr val="bg1"/>
                </a:solidFill>
                <a:latin typeface="Arial"/>
                <a:cs typeface="Arial"/>
              </a:rPr>
              <a:t>Situ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0001" y="3199194"/>
            <a:ext cx="2096184" cy="2031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Trabajo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codo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codo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300" b="1" spc="-20" dirty="0">
                <a:solidFill>
                  <a:schemeClr val="bg1"/>
                </a:solidFill>
                <a:latin typeface="Arial"/>
                <a:cs typeface="Arial"/>
              </a:rPr>
              <a:t>con USERS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para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Arial"/>
                <a:cs typeface="Arial"/>
              </a:rPr>
              <a:t>ver</a:t>
            </a:r>
            <a:r>
              <a:rPr lang="es-MX" sz="1300" b="1" spc="-25" dirty="0" err="1">
                <a:solidFill>
                  <a:schemeClr val="bg1"/>
                </a:solidFill>
                <a:latin typeface="Arial"/>
                <a:cs typeface="Arial"/>
              </a:rPr>
              <a:t>ificar</a:t>
            </a:r>
            <a:r>
              <a:rPr lang="es-MX" sz="1300" b="1" spc="-25" dirty="0">
                <a:solidFill>
                  <a:schemeClr val="bg1"/>
                </a:solidFill>
                <a:latin typeface="Arial"/>
                <a:cs typeface="Arial"/>
              </a:rPr>
              <a:t> UI/UX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Nos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permite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identificar</a:t>
            </a:r>
            <a:r>
              <a:rPr sz="1300" b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mejoras</a:t>
            </a:r>
            <a:r>
              <a:rPr sz="1300" b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UI/UX,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corregir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bugs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calibrar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el</a:t>
            </a:r>
            <a:r>
              <a:rPr sz="1300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chemeClr val="bg1"/>
                </a:solidFill>
                <a:latin typeface="Arial"/>
                <a:cs typeface="Arial"/>
              </a:rPr>
              <a:t>motor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algorítmico</a:t>
            </a:r>
            <a:r>
              <a:rPr sz="1300" b="1" spc="-25" dirty="0">
                <a:solidFill>
                  <a:schemeClr val="bg1"/>
                </a:solidFill>
                <a:latin typeface="Arial"/>
                <a:cs typeface="Arial"/>
              </a:rPr>
              <a:t> al</a:t>
            </a:r>
            <a:endParaRPr sz="13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300" b="1" spc="-10" dirty="0">
                <a:solidFill>
                  <a:schemeClr val="bg1"/>
                </a:solidFill>
                <a:latin typeface="Arial"/>
                <a:cs typeface="Arial"/>
              </a:rPr>
              <a:t>instante</a:t>
            </a:r>
            <a:r>
              <a:rPr sz="1300" spc="-1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8E06FBF-F811-7059-2AF1-793EE8CD6164}"/>
              </a:ext>
            </a:extLst>
          </p:cNvPr>
          <p:cNvSpPr txBox="1"/>
          <p:nvPr/>
        </p:nvSpPr>
        <p:spPr>
          <a:xfrm>
            <a:off x="3390369" y="3303654"/>
            <a:ext cx="5969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0" dirty="0">
                <a:solidFill>
                  <a:srgbClr val="F9A824"/>
                </a:solidFill>
                <a:latin typeface="MS Gothic"/>
                <a:cs typeface="MS Gothic"/>
              </a:rPr>
              <a:t>➔</a:t>
            </a:r>
            <a:endParaRPr sz="4500" dirty="0">
              <a:solidFill>
                <a:srgbClr val="F9A824"/>
              </a:solidFill>
              <a:latin typeface="MS Gothic"/>
              <a:cs typeface="MS Gothic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76A05BB9-0598-92B8-F874-69D1C96D51B6}"/>
              </a:ext>
            </a:extLst>
          </p:cNvPr>
          <p:cNvSpPr/>
          <p:nvPr/>
        </p:nvSpPr>
        <p:spPr>
          <a:xfrm>
            <a:off x="546100" y="2497176"/>
            <a:ext cx="2895006" cy="2928519"/>
          </a:xfrm>
          <a:custGeom>
            <a:avLst/>
            <a:gdLst/>
            <a:ahLst/>
            <a:cxnLst/>
            <a:rect l="l" t="t" r="r" b="b"/>
            <a:pathLst>
              <a:path w="4423409" h="2183129">
                <a:moveTo>
                  <a:pt x="4347019" y="2183130"/>
                </a:moveTo>
                <a:lnTo>
                  <a:pt x="76200" y="2183130"/>
                </a:lnTo>
                <a:lnTo>
                  <a:pt x="46612" y="2177117"/>
                </a:lnTo>
                <a:lnTo>
                  <a:pt x="22383" y="2160746"/>
                </a:lnTo>
                <a:lnTo>
                  <a:pt x="6012" y="2136517"/>
                </a:lnTo>
                <a:lnTo>
                  <a:pt x="0" y="210693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347019" y="0"/>
                </a:lnTo>
                <a:lnTo>
                  <a:pt x="4376606" y="6012"/>
                </a:lnTo>
                <a:lnTo>
                  <a:pt x="4400835" y="22383"/>
                </a:lnTo>
                <a:lnTo>
                  <a:pt x="4417206" y="46612"/>
                </a:lnTo>
                <a:lnTo>
                  <a:pt x="4423219" y="76200"/>
                </a:lnTo>
                <a:lnTo>
                  <a:pt x="4423219" y="2106930"/>
                </a:lnTo>
                <a:lnTo>
                  <a:pt x="4417206" y="2136517"/>
                </a:lnTo>
                <a:lnTo>
                  <a:pt x="4400835" y="2160746"/>
                </a:lnTo>
                <a:lnTo>
                  <a:pt x="4376606" y="2177117"/>
                </a:lnTo>
                <a:lnTo>
                  <a:pt x="4347019" y="2183130"/>
                </a:lnTo>
                <a:close/>
              </a:path>
            </a:pathLst>
          </a:custGeom>
          <a:solidFill>
            <a:srgbClr val="F9A8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05713FE4-6332-1851-4642-B13A2FF64E51}"/>
              </a:ext>
            </a:extLst>
          </p:cNvPr>
          <p:cNvSpPr txBox="1"/>
          <p:nvPr/>
        </p:nvSpPr>
        <p:spPr>
          <a:xfrm>
            <a:off x="828675" y="2732088"/>
            <a:ext cx="315785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Fase</a:t>
            </a:r>
            <a:r>
              <a:rPr sz="1600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1600" b="1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  <a:r>
              <a:rPr lang="es-MX" sz="1600" b="1" spc="-70" dirty="0" err="1">
                <a:solidFill>
                  <a:schemeClr val="bg1"/>
                </a:solidFill>
                <a:latin typeface="Arial"/>
                <a:cs typeface="Arial"/>
              </a:rPr>
              <a:t>Extract</a:t>
            </a: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, </a:t>
            </a:r>
            <a:r>
              <a:rPr lang="es-MX" sz="1600" b="1" spc="-70" dirty="0" err="1">
                <a:solidFill>
                  <a:schemeClr val="bg1"/>
                </a:solidFill>
                <a:latin typeface="Arial"/>
                <a:cs typeface="Arial"/>
              </a:rPr>
              <a:t>Transform</a:t>
            </a: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600" b="1" spc="-70" dirty="0">
                <a:solidFill>
                  <a:schemeClr val="bg1"/>
                </a:solidFill>
                <a:latin typeface="Arial"/>
                <a:cs typeface="Arial"/>
              </a:rPr>
              <a:t>– Load</a:t>
            </a:r>
            <a:endParaRPr sz="16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C148F319-915E-2557-9F7E-FAB32FA32F4F}"/>
              </a:ext>
            </a:extLst>
          </p:cNvPr>
          <p:cNvSpPr txBox="1"/>
          <p:nvPr/>
        </p:nvSpPr>
        <p:spPr>
          <a:xfrm>
            <a:off x="850176" y="2698340"/>
            <a:ext cx="2096184" cy="2597249"/>
          </a:xfrm>
          <a:prstGeom prst="rect">
            <a:avLst/>
          </a:prstGeom>
          <a:noFill/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0"/>
              </a:spcBef>
            </a:pPr>
            <a:endParaRPr lang="es-MX" sz="1300" spc="-1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2700" marR="5080">
              <a:lnSpc>
                <a:spcPct val="143600"/>
              </a:lnSpc>
              <a:spcBef>
                <a:spcPts val="100"/>
              </a:spcBef>
            </a:pPr>
            <a:endParaRPr lang="es-MX" sz="1300" spc="-1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2700" marR="5080">
              <a:lnSpc>
                <a:spcPct val="143600"/>
              </a:lnSpc>
              <a:spcBef>
                <a:spcPts val="100"/>
              </a:spcBef>
            </a:pP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Extraer de los </a:t>
            </a:r>
            <a:r>
              <a:rPr lang="es-MX" sz="1300" b="1" spc="-10" dirty="0" err="1">
                <a:solidFill>
                  <a:schemeClr val="bg1"/>
                </a:solidFill>
                <a:latin typeface="Arial"/>
                <a:cs typeface="Arial"/>
              </a:rPr>
              <a:t>exceles</a:t>
            </a: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 de JN/MEC la data de los viajes del 2026 para poder tener una comparación entre un </a:t>
            </a:r>
            <a:r>
              <a:rPr lang="es-MX" sz="1300" b="1" spc="-10" dirty="0" err="1">
                <a:solidFill>
                  <a:schemeClr val="bg1"/>
                </a:solidFill>
                <a:latin typeface="Arial"/>
                <a:cs typeface="Arial"/>
              </a:rPr>
              <a:t>forecast</a:t>
            </a:r>
            <a:r>
              <a:rPr lang="es-MX" sz="1300" b="1" spc="-10" dirty="0">
                <a:solidFill>
                  <a:schemeClr val="bg1"/>
                </a:solidFill>
                <a:latin typeface="Arial"/>
                <a:cs typeface="Arial"/>
              </a:rPr>
              <a:t> simulado en Ene 26 contra ejecución</a:t>
            </a:r>
            <a:endParaRPr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97291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Esquema</a:t>
            </a:r>
            <a:r>
              <a:rPr spc="-90" dirty="0"/>
              <a:t> </a:t>
            </a:r>
            <a:r>
              <a:rPr dirty="0"/>
              <a:t>Lógico</a:t>
            </a:r>
            <a:r>
              <a:rPr spc="-9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10" dirty="0"/>
              <a:t>Pricing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7299" y="1621956"/>
            <a:ext cx="79444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Resumen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la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Estructura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Cobro: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Implantación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vs.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Tarifa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Recurrente.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2059219"/>
            <a:ext cx="1822450" cy="1815464"/>
            <a:chOff x="539999" y="2059219"/>
            <a:chExt cx="1822450" cy="1815464"/>
          </a:xfrm>
        </p:grpSpPr>
        <p:sp>
          <p:nvSpPr>
            <p:cNvPr id="6" name="object 6"/>
            <p:cNvSpPr/>
            <p:nvPr/>
          </p:nvSpPr>
          <p:spPr>
            <a:xfrm>
              <a:off x="539999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3" y="0"/>
                  </a:lnTo>
                  <a:lnTo>
                    <a:pt x="1786983" y="4509"/>
                  </a:lnTo>
                  <a:lnTo>
                    <a:pt x="1805155" y="16787"/>
                  </a:lnTo>
                  <a:lnTo>
                    <a:pt x="1817433" y="34959"/>
                  </a:lnTo>
                  <a:lnTo>
                    <a:pt x="1821943" y="57150"/>
                  </a:lnTo>
                  <a:lnTo>
                    <a:pt x="1821943" y="1758315"/>
                  </a:lnTo>
                  <a:lnTo>
                    <a:pt x="1817433" y="1780505"/>
                  </a:lnTo>
                  <a:lnTo>
                    <a:pt x="1805155" y="1798677"/>
                  </a:lnTo>
                  <a:lnTo>
                    <a:pt x="1786983" y="1810955"/>
                  </a:lnTo>
                  <a:lnTo>
                    <a:pt x="1764793" y="1815465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1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65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03" y="2129129"/>
            <a:ext cx="975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1: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Diseño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787" y="2421870"/>
            <a:ext cx="146939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Pago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fijo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inicial.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87" y="2702536"/>
            <a:ext cx="154940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Determinado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reportes</a:t>
            </a:r>
            <a:endParaRPr sz="850" dirty="0">
              <a:latin typeface="Verdana"/>
              <a:cs typeface="Verdana"/>
            </a:endParaRPr>
          </a:p>
          <a:p>
            <a:pPr marL="12700" marR="50800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 reproducir y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negocios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75302" y="2059219"/>
            <a:ext cx="1822450" cy="1815464"/>
            <a:chOff x="2575302" y="2059219"/>
            <a:chExt cx="1822450" cy="1815464"/>
          </a:xfrm>
        </p:grpSpPr>
        <p:sp>
          <p:nvSpPr>
            <p:cNvPr id="12" name="object 12"/>
            <p:cNvSpPr/>
            <p:nvPr/>
          </p:nvSpPr>
          <p:spPr>
            <a:xfrm>
              <a:off x="2575302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5293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5862" y="2129129"/>
            <a:ext cx="1202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2: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Desarrollo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3090" y="2400276"/>
            <a:ext cx="1660525" cy="303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entrega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hitos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funcionales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3090" y="3004797"/>
            <a:ext cx="1627505" cy="45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Vinculado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pantallas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25" dirty="0">
                <a:solidFill>
                  <a:srgbClr val="333333"/>
                </a:solidFill>
                <a:latin typeface="Verdana"/>
                <a:cs typeface="Verdana"/>
              </a:rPr>
              <a:t>SW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conectar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0605" y="2059219"/>
            <a:ext cx="1822450" cy="1815464"/>
            <a:chOff x="4610605" y="2059219"/>
            <a:chExt cx="1822450" cy="1815464"/>
          </a:xfrm>
        </p:grpSpPr>
        <p:sp>
          <p:nvSpPr>
            <p:cNvPr id="18" name="object 18"/>
            <p:cNvSpPr/>
            <p:nvPr/>
          </p:nvSpPr>
          <p:spPr>
            <a:xfrm>
              <a:off x="4610605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595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0853" y="2129129"/>
            <a:ext cx="1301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3: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ETL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(Carga)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8392" y="2400276"/>
            <a:ext cx="1514475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volumen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carga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datos.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8392" y="2853666"/>
            <a:ext cx="166116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Relacionado</a:t>
            </a:r>
            <a:r>
              <a:rPr sz="850" spc="-6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con</a:t>
            </a:r>
            <a:endParaRPr sz="850" dirty="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años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viajes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flota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endParaRPr sz="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que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se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deseen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10" dirty="0">
                <a:solidFill>
                  <a:srgbClr val="333333"/>
                </a:solidFill>
                <a:latin typeface="Verdana"/>
                <a:cs typeface="Verdana"/>
              </a:rPr>
              <a:t>cargar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5906" y="2059219"/>
            <a:ext cx="1822450" cy="1815464"/>
            <a:chOff x="6645906" y="2059219"/>
            <a:chExt cx="1822450" cy="1815464"/>
          </a:xfrm>
        </p:grpSpPr>
        <p:sp>
          <p:nvSpPr>
            <p:cNvPr id="24" name="object 24"/>
            <p:cNvSpPr/>
            <p:nvPr/>
          </p:nvSpPr>
          <p:spPr>
            <a:xfrm>
              <a:off x="6645906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5897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13041" y="2129129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4: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Onboarding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3694" y="2400276"/>
            <a:ext cx="1581785" cy="3276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implementación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sistema.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3694" y="2853666"/>
            <a:ext cx="165798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Medido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nivel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endParaRPr sz="850" dirty="0">
              <a:latin typeface="Verdana"/>
              <a:cs typeface="Verdana"/>
            </a:endParaRPr>
          </a:p>
          <a:p>
            <a:pPr marL="12700" marR="27305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entrenamiento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equipos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comerciales.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1208" y="2059219"/>
            <a:ext cx="1822450" cy="1815464"/>
            <a:chOff x="8681208" y="2059219"/>
            <a:chExt cx="1822450" cy="1815464"/>
          </a:xfrm>
        </p:grpSpPr>
        <p:sp>
          <p:nvSpPr>
            <p:cNvPr id="30" name="object 30"/>
            <p:cNvSpPr/>
            <p:nvPr/>
          </p:nvSpPr>
          <p:spPr>
            <a:xfrm>
              <a:off x="8681208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6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63" y="0"/>
                  </a:lnTo>
                  <a:lnTo>
                    <a:pt x="1786953" y="4509"/>
                  </a:lnTo>
                  <a:lnTo>
                    <a:pt x="1805125" y="16787"/>
                  </a:lnTo>
                  <a:lnTo>
                    <a:pt x="1817403" y="34959"/>
                  </a:lnTo>
                  <a:lnTo>
                    <a:pt x="1821913" y="57150"/>
                  </a:lnTo>
                  <a:lnTo>
                    <a:pt x="1821913" y="1758315"/>
                  </a:lnTo>
                  <a:lnTo>
                    <a:pt x="1817403" y="1780505"/>
                  </a:lnTo>
                  <a:lnTo>
                    <a:pt x="1805125" y="1798677"/>
                  </a:lnTo>
                  <a:lnTo>
                    <a:pt x="1786953" y="1810955"/>
                  </a:lnTo>
                  <a:lnTo>
                    <a:pt x="1764763" y="1815465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1199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16" y="57150"/>
                  </a:moveTo>
                  <a:lnTo>
                    <a:pt x="1817408" y="34950"/>
                  </a:lnTo>
                  <a:lnTo>
                    <a:pt x="1807629" y="20497"/>
                  </a:lnTo>
                  <a:lnTo>
                    <a:pt x="1807629" y="288607"/>
                  </a:lnTo>
                  <a:lnTo>
                    <a:pt x="1807629" y="1758315"/>
                  </a:lnTo>
                  <a:lnTo>
                    <a:pt x="1804250" y="1774952"/>
                  </a:lnTo>
                  <a:lnTo>
                    <a:pt x="1795056" y="1788579"/>
                  </a:lnTo>
                  <a:lnTo>
                    <a:pt x="1781429" y="1797786"/>
                  </a:lnTo>
                  <a:lnTo>
                    <a:pt x="1764766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29" y="288607"/>
                  </a:lnTo>
                  <a:lnTo>
                    <a:pt x="1807629" y="20497"/>
                  </a:lnTo>
                  <a:lnTo>
                    <a:pt x="1805127" y="16789"/>
                  </a:lnTo>
                  <a:lnTo>
                    <a:pt x="1801431" y="14287"/>
                  </a:lnTo>
                  <a:lnTo>
                    <a:pt x="1786953" y="4508"/>
                  </a:lnTo>
                  <a:lnTo>
                    <a:pt x="1764766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66" y="1815465"/>
                  </a:lnTo>
                  <a:lnTo>
                    <a:pt x="1801431" y="1801177"/>
                  </a:lnTo>
                  <a:lnTo>
                    <a:pt x="1821916" y="1758315"/>
                  </a:lnTo>
                  <a:lnTo>
                    <a:pt x="1821916" y="5715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05258" y="2129129"/>
            <a:ext cx="974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5: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Situ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8996" y="2400276"/>
            <a:ext cx="133985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días/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hombre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soporte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presencial.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996" y="3004797"/>
            <a:ext cx="16173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Dependiente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analistas</a:t>
            </a:r>
            <a:endParaRPr sz="850">
              <a:latin typeface="Verdana"/>
              <a:cs typeface="Verdana"/>
            </a:endParaRPr>
          </a:p>
          <a:p>
            <a:pPr marL="12700" marR="56515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comerciales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capacitar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cara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horas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refinación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oficina.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999" y="4065184"/>
            <a:ext cx="9963150" cy="1581326"/>
            <a:chOff x="539999" y="4065184"/>
            <a:chExt cx="9963150" cy="1290320"/>
          </a:xfrm>
        </p:grpSpPr>
        <p:sp>
          <p:nvSpPr>
            <p:cNvPr id="36" name="object 36"/>
            <p:cNvSpPr/>
            <p:nvPr/>
          </p:nvSpPr>
          <p:spPr>
            <a:xfrm>
              <a:off x="539999" y="4065184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886922" y="1290323"/>
                  </a:moveTo>
                  <a:lnTo>
                    <a:pt x="76200" y="1290323"/>
                  </a:lnTo>
                  <a:lnTo>
                    <a:pt x="46612" y="1284310"/>
                  </a:lnTo>
                  <a:lnTo>
                    <a:pt x="22383" y="1267939"/>
                  </a:lnTo>
                  <a:lnTo>
                    <a:pt x="6012" y="1243710"/>
                  </a:lnTo>
                  <a:lnTo>
                    <a:pt x="0" y="12141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1214123"/>
                  </a:lnTo>
                  <a:lnTo>
                    <a:pt x="9957110" y="1243710"/>
                  </a:lnTo>
                  <a:lnTo>
                    <a:pt x="9940738" y="1267939"/>
                  </a:lnTo>
                  <a:lnTo>
                    <a:pt x="9916509" y="1284310"/>
                  </a:lnTo>
                  <a:lnTo>
                    <a:pt x="9886922" y="1290323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9991" y="4065193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963125" y="76200"/>
                  </a:moveTo>
                  <a:lnTo>
                    <a:pt x="9957117" y="46609"/>
                  </a:lnTo>
                  <a:lnTo>
                    <a:pt x="9944075" y="27305"/>
                  </a:lnTo>
                  <a:lnTo>
                    <a:pt x="9944075" y="367030"/>
                  </a:lnTo>
                  <a:lnTo>
                    <a:pt x="9944075" y="1214120"/>
                  </a:lnTo>
                  <a:lnTo>
                    <a:pt x="9939566" y="1236306"/>
                  </a:lnTo>
                  <a:lnTo>
                    <a:pt x="9927285" y="1254480"/>
                  </a:lnTo>
                  <a:lnTo>
                    <a:pt x="9909111" y="1266761"/>
                  </a:lnTo>
                  <a:lnTo>
                    <a:pt x="9886925" y="1271270"/>
                  </a:lnTo>
                  <a:lnTo>
                    <a:pt x="76200" y="1271270"/>
                  </a:lnTo>
                  <a:lnTo>
                    <a:pt x="54013" y="1266761"/>
                  </a:lnTo>
                  <a:lnTo>
                    <a:pt x="35839" y="1254480"/>
                  </a:lnTo>
                  <a:lnTo>
                    <a:pt x="23558" y="1236306"/>
                  </a:lnTo>
                  <a:lnTo>
                    <a:pt x="19050" y="1214120"/>
                  </a:lnTo>
                  <a:lnTo>
                    <a:pt x="19050" y="367030"/>
                  </a:lnTo>
                  <a:lnTo>
                    <a:pt x="9944075" y="367030"/>
                  </a:lnTo>
                  <a:lnTo>
                    <a:pt x="9944075" y="27305"/>
                  </a:lnTo>
                  <a:lnTo>
                    <a:pt x="9940747" y="22377"/>
                  </a:lnTo>
                  <a:lnTo>
                    <a:pt x="9935807" y="19050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214120"/>
                  </a:lnTo>
                  <a:lnTo>
                    <a:pt x="6019" y="1243711"/>
                  </a:lnTo>
                  <a:lnTo>
                    <a:pt x="22390" y="1267942"/>
                  </a:lnTo>
                  <a:lnTo>
                    <a:pt x="46609" y="1284312"/>
                  </a:lnTo>
                  <a:lnTo>
                    <a:pt x="76200" y="1290320"/>
                  </a:lnTo>
                  <a:lnTo>
                    <a:pt x="9886925" y="1290320"/>
                  </a:lnTo>
                  <a:lnTo>
                    <a:pt x="9916516" y="1284312"/>
                  </a:lnTo>
                  <a:lnTo>
                    <a:pt x="9935807" y="1271270"/>
                  </a:lnTo>
                  <a:lnTo>
                    <a:pt x="9940747" y="1267942"/>
                  </a:lnTo>
                  <a:lnTo>
                    <a:pt x="9957117" y="1243711"/>
                  </a:lnTo>
                  <a:lnTo>
                    <a:pt x="9963125" y="1214120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9224" y="4161392"/>
            <a:ext cx="6136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6: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Tarifa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Recurrente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Mensual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Soporte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Alojamiento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(Mantenimiento)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224" y="4521475"/>
            <a:ext cx="9462770" cy="8847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290"/>
              </a:spcBef>
            </a:pP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Pago:</a:t>
            </a:r>
            <a:r>
              <a:rPr sz="95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Suscripción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mensual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posterior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despliegue.</a:t>
            </a:r>
            <a:endParaRPr sz="9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950" b="1" spc="-10" dirty="0">
                <a:solidFill>
                  <a:srgbClr val="333333"/>
                </a:solidFill>
                <a:latin typeface="Verdana"/>
                <a:cs typeface="Verdana"/>
              </a:rPr>
              <a:t>Cobertura: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Asegura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acceso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seguro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software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web.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Incluye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costo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servidor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dedicado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nube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(VPS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Contabo),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el costo 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datos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centralizada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(Supabase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PostgreSQL),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respaldos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diarios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 err="1">
                <a:solidFill>
                  <a:srgbClr val="333333"/>
                </a:solidFill>
                <a:latin typeface="Verdana"/>
                <a:cs typeface="Verdana"/>
              </a:rPr>
              <a:t>seguridad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la base de datos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resolución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incidentes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mejoras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comercial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(mantenimiento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correctivo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evolutivo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 err="1">
                <a:solidFill>
                  <a:srgbClr val="333333"/>
                </a:solidFill>
                <a:latin typeface="Verdana"/>
                <a:cs typeface="Verdana"/>
              </a:rPr>
              <a:t>menor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).</a:t>
            </a:r>
            <a:r>
              <a:rPr lang="es-MX" sz="950" spc="-10" dirty="0">
                <a:solidFill>
                  <a:srgbClr val="333333"/>
                </a:solidFill>
                <a:latin typeface="Verdana"/>
                <a:cs typeface="Verdana"/>
              </a:rPr>
              <a:t> No incluye nuevos desarrollos</a:t>
            </a:r>
            <a:endParaRPr sz="950" dirty="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18EC88-3A01-93CB-86FD-E43DCB75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CF7BF07-6212-D509-B856-9797FFE918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dirty="0"/>
              <a:t>Demos : SUPABASE – STREAMLIT – CHAT IA</a:t>
            </a:r>
            <a:endParaRPr spc="-10" dirty="0"/>
          </a:p>
        </p:txBody>
      </p:sp>
      <p:pic>
        <p:nvPicPr>
          <p:cNvPr id="40" name="object 40">
            <a:extLst>
              <a:ext uri="{FF2B5EF4-FFF2-40B4-BE49-F238E27FC236}">
                <a16:creationId xmlns:a16="http://schemas.microsoft.com/office/drawing/2014/main" id="{7DE19AB6-D535-B73E-AE3F-EDA30262D3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>
            <a:extLst>
              <a:ext uri="{FF2B5EF4-FFF2-40B4-BE49-F238E27FC236}">
                <a16:creationId xmlns:a16="http://schemas.microsoft.com/office/drawing/2014/main" id="{48D77F86-65DC-CF14-B553-14AF4606D724}"/>
              </a:ext>
            </a:extLst>
          </p:cNvPr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E4F8AC7-BE72-7A54-6132-FCFCD7B4C9F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03B39D-7634-B3EC-568D-25039C413C1C}"/>
              </a:ext>
            </a:extLst>
          </p:cNvPr>
          <p:cNvSpPr txBox="1"/>
          <p:nvPr/>
        </p:nvSpPr>
        <p:spPr>
          <a:xfrm>
            <a:off x="501364" y="2459309"/>
            <a:ext cx="5347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3"/>
              </a:rPr>
              <a:t>https://inandes.geeksoft.tech/CRM_Chat</a:t>
            </a:r>
            <a:endParaRPr lang="es-P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F57155-1039-223D-51CF-BD5DF0161BDE}"/>
              </a:ext>
            </a:extLst>
          </p:cNvPr>
          <p:cNvSpPr txBox="1"/>
          <p:nvPr/>
        </p:nvSpPr>
        <p:spPr>
          <a:xfrm>
            <a:off x="527298" y="1794884"/>
            <a:ext cx="9744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4"/>
              </a:rPr>
              <a:t>https://supabase.com/dashboard/project/mancsrsbtzgctgorpogs/editor/17496?schema=public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502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2822</Words>
  <Application>Microsoft Office PowerPoint</Application>
  <PresentationFormat>Custom</PresentationFormat>
  <Paragraphs>997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MS Gothic</vt:lpstr>
      <vt:lpstr>Arial</vt:lpstr>
      <vt:lpstr>Calibri</vt:lpstr>
      <vt:lpstr>Segoe UI Emoji</vt:lpstr>
      <vt:lpstr>Segoe UI Symbol</vt:lpstr>
      <vt:lpstr>Times New Roman</vt:lpstr>
      <vt:lpstr>Verdana</vt:lpstr>
      <vt:lpstr>Office Theme</vt:lpstr>
      <vt:lpstr>PowerPoint Presentation</vt:lpstr>
      <vt:lpstr>PowerPoint Presentation</vt:lpstr>
      <vt:lpstr>Roadmap: Enfoque AGILE (Proceso Iterativo)</vt:lpstr>
      <vt:lpstr>Fase 1: Diseño del Sistema - Alcance</vt:lpstr>
      <vt:lpstr>Fase 1: Los Tres Pilares Lógicos</vt:lpstr>
      <vt:lpstr>Demostración Visual: Pilar A - Commercial Forecast</vt:lpstr>
      <vt:lpstr>Variante: Forecast por Rutas (Drill-down Barcos)</vt:lpstr>
      <vt:lpstr>Variante: Composición Estructural (Rutas vs Buques)</vt:lpstr>
      <vt:lpstr>Demostración Visual: Pilar B - Proformador SPOT</vt:lpstr>
      <vt:lpstr>Demostración Visual: Pilar C - Control de Gestión</vt:lpstr>
      <vt:lpstr>Análisis de Tráfico: Spaghetti Map de Rutas / Data GPS</vt:lpstr>
      <vt:lpstr>Estructura de Flota: Participación por Puerto y Ruta</vt:lpstr>
      <vt:lpstr>Ejemplos sugeridos de KPIs Operativos y Comerciales</vt:lpstr>
      <vt:lpstr>Fase 2: Desarrollo del Sistema (CODING)</vt:lpstr>
      <vt:lpstr>El Stack tecnológico en analogía de ARMADOR</vt:lpstr>
      <vt:lpstr>Comparativa Tecnológica: Estado Actual vs. Estado Futuro</vt:lpstr>
      <vt:lpstr>Fase 3, 4 y 5: ETL, Implementación y Acompañamiento </vt:lpstr>
      <vt:lpstr>Esquema Lógico de Pricing</vt:lpstr>
      <vt:lpstr>Demos : SUPABASE – STREAMLIT – CHAT 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Richard Gutierrez</dc:creator>
  <cp:lastModifiedBy>Richard Gutierrez</cp:lastModifiedBy>
  <cp:revision>36</cp:revision>
  <dcterms:created xsi:type="dcterms:W3CDTF">2026-06-22T03:20:29Z</dcterms:created>
  <dcterms:modified xsi:type="dcterms:W3CDTF">2026-06-22T15:06:37Z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