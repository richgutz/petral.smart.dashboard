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6200" y="1098799"/>
            <a:ext cx="9100185" cy="19050"/>
          </a:xfrm>
          <a:custGeom>
            <a:avLst/>
            <a:gdLst/>
            <a:ahLst/>
            <a:cxnLst/>
            <a:rect l="l" t="t" r="r" b="b"/>
            <a:pathLst>
              <a:path w="9100185" h="19050">
                <a:moveTo>
                  <a:pt x="9099604" y="19050"/>
                </a:moveTo>
                <a:lnTo>
                  <a:pt x="0" y="19050"/>
                </a:lnTo>
                <a:lnTo>
                  <a:pt x="0" y="0"/>
                </a:lnTo>
                <a:lnTo>
                  <a:pt x="9099604" y="0"/>
                </a:lnTo>
                <a:lnTo>
                  <a:pt x="9099604" y="19050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3500" y="640757"/>
            <a:ext cx="691451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F2B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100" y="2065267"/>
            <a:ext cx="9176385" cy="4953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Propuesta</a:t>
            </a:r>
            <a:r>
              <a:rPr dirty="0" spc="-35"/>
              <a:t> </a:t>
            </a:r>
            <a:r>
              <a:rPr dirty="0"/>
              <a:t>Comercial</a:t>
            </a:r>
            <a:r>
              <a:rPr dirty="0" spc="-35"/>
              <a:t> </a:t>
            </a:r>
            <a:r>
              <a:rPr dirty="0"/>
              <a:t>Modular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35"/>
              <a:t> </a:t>
            </a:r>
            <a:r>
              <a:rPr dirty="0"/>
              <a:t>Naviera</a:t>
            </a:r>
            <a:r>
              <a:rPr dirty="0" spc="-35"/>
              <a:t> </a:t>
            </a:r>
            <a:r>
              <a:rPr dirty="0"/>
              <a:t>Petral</a:t>
            </a:r>
            <a:r>
              <a:rPr dirty="0" spc="-35"/>
              <a:t> </a:t>
            </a:r>
            <a:r>
              <a:rPr dirty="0"/>
              <a:t>(Versión</a:t>
            </a:r>
            <a:r>
              <a:rPr dirty="0" spc="-35"/>
              <a:t> </a:t>
            </a:r>
            <a:r>
              <a:rPr dirty="0" spc="-25"/>
              <a:t>2)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3497" y="1295821"/>
            <a:ext cx="7301865" cy="556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F2B59"/>
                </a:solidFill>
                <a:latin typeface="Arial"/>
                <a:cs typeface="Arial"/>
              </a:rPr>
              <a:t>Objetivo:</a:t>
            </a:r>
            <a:r>
              <a:rPr dirty="0" sz="1100" spc="-20" b="1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Modernización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integral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gestión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Forecast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Comercial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(Proyectar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y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Cotizar)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dirty="0" sz="1100" spc="-7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continuación,</a:t>
            </a:r>
            <a:r>
              <a:rPr dirty="0" sz="1100" spc="-4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se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detalla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el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esquema</a:t>
            </a:r>
            <a:r>
              <a:rPr dirty="0" sz="1100" spc="-3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lógico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pricing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manera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modular,</a:t>
            </a:r>
            <a:r>
              <a:rPr dirty="0" sz="1100" spc="-3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acuerdo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lo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conversado</a:t>
            </a:r>
            <a:r>
              <a:rPr dirty="0" sz="1100" spc="-3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y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autorizado: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96200" y="2065267"/>
          <a:ext cx="9176385" cy="49536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/>
                <a:gridCol w="2941320"/>
                <a:gridCol w="1333500"/>
                <a:gridCol w="1254125"/>
                <a:gridCol w="895984"/>
                <a:gridCol w="1250950"/>
              </a:tblGrid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5755" indent="6350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Horaria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7620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76200">
                    <a:solidFill>
                      <a:srgbClr val="0F2B59"/>
                    </a:solidFill>
                  </a:tcPr>
                </a:tc>
              </a:tr>
              <a:tr h="2472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1:</a:t>
                      </a:r>
                      <a:r>
                        <a:rPr dirty="0" sz="1100" spc="-25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 marR="245745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dirty="0" sz="1100" spc="-3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3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dirty="0" sz="1100" spc="-3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Forecast:</a:t>
                      </a:r>
                      <a:r>
                        <a:rPr dirty="0" sz="1100" spc="-1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5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proyectar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ventas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hacer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P&amp;L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nivel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Gross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Margin.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289560">
                        <a:lnSpc>
                          <a:spcPct val="133300"/>
                        </a:lnSpc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dirty="0" sz="1100" spc="-3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3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dirty="0" sz="1100" spc="-3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Cotización</a:t>
                      </a:r>
                      <a:r>
                        <a:rPr dirty="0" sz="1100" spc="-4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(Proformador</a:t>
                      </a:r>
                      <a:r>
                        <a:rPr dirty="0" sz="1100" spc="-3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SPOT):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para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362585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estructurar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paquetes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viajes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maximicen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rentabilidad.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9080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215265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Las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siguientes etapas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170815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requerirán</a:t>
                      </a:r>
                      <a:r>
                        <a:rPr dirty="0" sz="1100" spc="-6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adicional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diseño 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medición </a:t>
                      </a:r>
                      <a:r>
                        <a:rPr dirty="0" sz="1100" spc="-5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KPIs.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[Tarifa/Hr]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[Horas]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</a:tr>
              <a:tr h="1829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2:</a:t>
                      </a:r>
                      <a:r>
                        <a:rPr dirty="0" sz="1100" spc="-25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Desarrollo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118745" marR="135255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Stack</a:t>
                      </a:r>
                      <a:r>
                        <a:rPr dirty="0" sz="1100" spc="-5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Tecnológico:</a:t>
                      </a:r>
                      <a:r>
                        <a:rPr dirty="0" sz="1100" spc="-4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Construcción</a:t>
                      </a:r>
                      <a:r>
                        <a:rPr dirty="0" sz="1100" spc="-5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conectando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(Supabase)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frontend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rápido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just"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(Vite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React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Tailwind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ECharts).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11874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dirty="0" sz="1100" spc="-4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Matemática:</a:t>
                      </a:r>
                      <a:r>
                        <a:rPr dirty="0" sz="1100" spc="-3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Programación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9080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215265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Las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siguientes etapas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474980">
                        <a:lnSpc>
                          <a:spcPct val="133300"/>
                        </a:lnSpc>
                      </a:pP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requerirán nuevos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desarrollos.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[Tarifa/Hr]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[Horas]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96200" y="539999"/>
          <a:ext cx="9176385" cy="6478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/>
                <a:gridCol w="2941320"/>
                <a:gridCol w="1333500"/>
                <a:gridCol w="1254125"/>
                <a:gridCol w="895984"/>
                <a:gridCol w="1250950"/>
              </a:tblGrid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5755" indent="6350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Horaria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7620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76200">
                    <a:solidFill>
                      <a:srgbClr val="0F2B59"/>
                    </a:solidFill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algoritmos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APIs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cálculos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avanzados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creación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pantallas.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32384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</a:tr>
              <a:tr h="1802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3:</a:t>
                      </a:r>
                      <a:r>
                        <a:rPr dirty="0" sz="1100" spc="-2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ETL</a:t>
                      </a:r>
                      <a:r>
                        <a:rPr dirty="0" sz="1100" spc="-15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(Carga)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18745" marR="563880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Alcance</a:t>
                      </a:r>
                      <a:r>
                        <a:rPr dirty="0" sz="1100" spc="-5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5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Carga:</a:t>
                      </a:r>
                      <a:r>
                        <a:rPr dirty="0" sz="1100" spc="-4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Integración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exclusiva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operativa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5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comercial</a:t>
                      </a:r>
                      <a:r>
                        <a:rPr dirty="0" sz="1100" spc="-4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dirty="0" sz="1100" spc="-4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año</a:t>
                      </a:r>
                      <a:r>
                        <a:rPr dirty="0" sz="1100" spc="-4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Proceso</a:t>
                      </a: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ETL: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Extracción,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Transformación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desde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actuales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Supabase.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9080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Solo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342265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cargarán</a:t>
                      </a:r>
                      <a:r>
                        <a:rPr dirty="0" sz="1100" spc="-5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meses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236220">
                        <a:lnSpc>
                          <a:spcPct val="133300"/>
                        </a:lnSpc>
                      </a:pP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transcurridos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año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[Tarifa/Hr]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[Horas]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</a:tr>
              <a:tr h="2249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4:</a:t>
                      </a:r>
                      <a:r>
                        <a:rPr dirty="0" sz="1100" spc="-25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Onboarding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Entrenamiento </a:t>
                      </a: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Operativo: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160655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Capacitación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directa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uso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nueva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web.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dirty="0" sz="1100" spc="-4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Clave: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Jorge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Neyra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Maria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Elena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Castro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Fernando</a:t>
                      </a:r>
                      <a:r>
                        <a:rPr dirty="0" sz="1100" spc="-8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Harten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43840" indent="-125095">
                        <a:lnSpc>
                          <a:spcPct val="100000"/>
                        </a:lnSpc>
                        <a:spcBef>
                          <a:spcPts val="440"/>
                        </a:spcBef>
                        <a:buChar char="•"/>
                        <a:tabLst>
                          <a:tab pos="243840" algn="l"/>
                        </a:tabLst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Iosef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Zavala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14668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241300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onboarding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será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366395">
                        <a:lnSpc>
                          <a:spcPct val="133300"/>
                        </a:lnSpc>
                      </a:pP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mayoría presencial</a:t>
                      </a:r>
                      <a:r>
                        <a:rPr dirty="0" sz="1100" spc="-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5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elección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cliente.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[Tarifa/Hr]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[Horas]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</a:tr>
              <a:tr h="1204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5:</a:t>
                      </a:r>
                      <a:r>
                        <a:rPr dirty="0" sz="1100" spc="-25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1100" spc="-25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Situ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r>
                        <a:rPr dirty="0" sz="1100" spc="-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Presencial</a:t>
                      </a:r>
                      <a:r>
                        <a:rPr dirty="0" sz="1100" spc="-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(Go-Live):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168910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Acompañamiento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directo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oficina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operando</a:t>
                      </a:r>
                      <a:r>
                        <a:rPr dirty="0" sz="1100" spc="-4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14668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[Ingresar]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[Tarifa/Hr]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[Horas]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>
                        <a:alpha val="4998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3494" y="4472084"/>
            <a:ext cx="8992235" cy="114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F2B59"/>
                </a:solidFill>
                <a:latin typeface="Arial"/>
                <a:cs typeface="Arial"/>
              </a:rPr>
              <a:t>Comentarios</a:t>
            </a:r>
            <a:r>
              <a:rPr dirty="0" sz="1100" spc="-15" b="1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0F2B59"/>
                </a:solidFill>
                <a:latin typeface="Arial"/>
                <a:cs typeface="Arial"/>
              </a:rPr>
              <a:t>del</a:t>
            </a:r>
            <a:r>
              <a:rPr dirty="0" sz="1100" spc="-15" b="1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F2B59"/>
                </a:solidFill>
                <a:latin typeface="Arial"/>
                <a:cs typeface="Arial"/>
              </a:rPr>
              <a:t>Consultor</a:t>
            </a:r>
            <a:r>
              <a:rPr dirty="0" sz="1100" spc="-15" b="1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0F2B59"/>
                </a:solidFill>
                <a:latin typeface="Arial"/>
                <a:cs typeface="Arial"/>
              </a:rPr>
              <a:t>(Geeksoft):</a:t>
            </a:r>
            <a:r>
              <a:rPr dirty="0" sz="1100" spc="-10" b="1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mi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experiencia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implementando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este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tipo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transiciones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procesos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legacy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(herramientas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 basadas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íntegramente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Excel)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hacia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ecosistemas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centralizados,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adoptar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un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enfoque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modular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es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estrategia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más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segura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y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con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mayor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tasa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éxito.</a:t>
            </a:r>
            <a:endParaRPr sz="1100">
              <a:latin typeface="Arial"/>
              <a:cs typeface="Arial"/>
            </a:endParaRPr>
          </a:p>
          <a:p>
            <a:pPr algn="just" marL="12700" marR="57785">
              <a:lnSpc>
                <a:spcPct val="133300"/>
              </a:lnSpc>
            </a:pP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Permitir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el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equipo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(especialmente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aquellos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perfiles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muy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habituados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sus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hojas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cálculo)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valide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el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sistema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paso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paso,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y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tener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una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etapa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formal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convivencia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"dos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mundos",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reduce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drásticamente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resistencia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al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cambio.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Esto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asegura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herramienta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no</a:t>
            </a:r>
            <a:r>
              <a:rPr dirty="0" sz="1100" spc="-1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solo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sea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un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avance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tecnológico,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sino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genere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confianza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plena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en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los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números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que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arroja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frente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a</a:t>
            </a:r>
            <a:r>
              <a:rPr dirty="0" sz="1100" spc="-2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los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D283B"/>
                </a:solidFill>
                <a:latin typeface="Arial"/>
                <a:cs typeface="Arial"/>
              </a:rPr>
              <a:t>modelos</a:t>
            </a:r>
            <a:r>
              <a:rPr dirty="0" sz="1100" spc="-25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D283B"/>
                </a:solidFill>
                <a:latin typeface="Arial"/>
                <a:cs typeface="Arial"/>
              </a:rPr>
              <a:t>tradicionales.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96200" y="535237"/>
          <a:ext cx="9176385" cy="3471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4145"/>
                <a:gridCol w="2941320"/>
                <a:gridCol w="1333500"/>
                <a:gridCol w="1254125"/>
                <a:gridCol w="895984"/>
                <a:gridCol w="1250950"/>
              </a:tblGrid>
              <a:tr h="655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33375" marR="325755" indent="6350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Horaria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7620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Horas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83185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476884" marR="280670" indent="-189230">
                        <a:lnSpc>
                          <a:spcPct val="133300"/>
                        </a:lnSpc>
                        <a:spcBef>
                          <a:spcPts val="60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76200">
                    <a:solidFill>
                      <a:srgbClr val="0F2B59"/>
                    </a:solidFill>
                  </a:tcPr>
                </a:tc>
              </a:tr>
              <a:tr h="1012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Convivencia</a:t>
                      </a: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"Dos</a:t>
                      </a: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Mundos":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Comparación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paralelo</a:t>
                      </a:r>
                      <a:r>
                        <a:rPr dirty="0" sz="1100" spc="-3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 marR="278765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resultados</a:t>
                      </a:r>
                      <a:r>
                        <a:rPr dirty="0" sz="1100" spc="-4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dirty="0" sz="1100" spc="-4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</a:t>
                      </a:r>
                      <a:r>
                        <a:rPr dirty="0" sz="1100" spc="-4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dirty="0" sz="1100" spc="-4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vs.</a:t>
                      </a:r>
                      <a:r>
                        <a:rPr dirty="0" sz="1100" spc="-4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dirty="0" sz="1100" spc="-3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2730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</a:tr>
              <a:tr h="1802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dirty="0" sz="1100" spc="-25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6: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10" b="1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Mantenimiento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313690">
                        <a:lnSpc>
                          <a:spcPct val="133300"/>
                        </a:lnSpc>
                        <a:spcBef>
                          <a:spcPts val="715"/>
                        </a:spcBef>
                      </a:pP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Suscripción</a:t>
                      </a:r>
                      <a:r>
                        <a:rPr dirty="0" sz="1100" spc="-45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Mensual:</a:t>
                      </a:r>
                      <a:r>
                        <a:rPr dirty="0" sz="1100" spc="-2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Asegura</a:t>
                      </a:r>
                      <a:r>
                        <a:rPr dirty="0" sz="1100" spc="-4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operatividad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24/7.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360680">
                        <a:lnSpc>
                          <a:spcPct val="133300"/>
                        </a:lnSpc>
                      </a:pPr>
                      <a:r>
                        <a:rPr dirty="0" sz="1100" spc="-10" b="1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Cobertura: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Pago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nube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(Contabo),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(Supabase)</a:t>
                      </a:r>
                      <a:r>
                        <a:rPr dirty="0" sz="1100" spc="-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 labores</a:t>
                      </a:r>
                      <a:r>
                        <a:rPr dirty="0" sz="1100" spc="-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evolutivo.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90805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 marR="196215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Geeksoft </a:t>
                      </a:r>
                      <a:r>
                        <a:rPr dirty="0" sz="1100" spc="-2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paga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directamente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just" marL="118745" marR="220979">
                        <a:lnSpc>
                          <a:spcPct val="133300"/>
                        </a:lnSpc>
                      </a:pP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asociados</a:t>
                      </a:r>
                      <a:r>
                        <a:rPr dirty="0" sz="1100" spc="-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100" spc="-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dirty="0" sz="1100" spc="-1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dirty="0" sz="1100" spc="-5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 </a:t>
                      </a:r>
                      <a:r>
                        <a:rPr dirty="0" sz="1100" spc="-1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4191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[Fija</a:t>
                      </a:r>
                      <a:r>
                        <a:rPr dirty="0" sz="1100" spc="-5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1100" spc="-1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5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N/A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33070" marR="309245" indent="-116205">
                        <a:lnSpc>
                          <a:spcPct val="133300"/>
                        </a:lnSpc>
                      </a:pPr>
                      <a:r>
                        <a:rPr dirty="0" sz="110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[Total </a:t>
                      </a:r>
                      <a:r>
                        <a:rPr dirty="0" sz="1100" spc="-5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/ </a:t>
                      </a:r>
                      <a:r>
                        <a:rPr dirty="0" sz="1100" spc="-20" b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Mes]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2026-06-22T21:42:29Z</dcterms:created>
  <dcterms:modified xsi:type="dcterms:W3CDTF">2026-06-22T21:42:29Z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2026-06-22T00:00:00Z</vt:filetime>
  </property>
  <property fmtid="{D5CDD505-2E9C-101B-9397-08002B2CF9AE}" pid="3" name="LastSaved">
    <vt:filetime>2026-06-22T00:00:00Z</vt:filetime>
  </property>
  <property fmtid="{D5CDD505-2E9C-101B-9397-08002B2CF9AE}" pid="4" name="Producer">
    <vt:lpwstr>3-Heights(TM) PDF Security Shell 4.8.25.2 (http://www.pdf-tools.com)</vt:lpwstr>
  </property>
</Properties>
</file>