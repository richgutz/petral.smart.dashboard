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72" r:id="rId3"/>
    <p:sldId id="256" r:id="rId4"/>
    <p:sldId id="257" r:id="rId5"/>
    <p:sldId id="258" r:id="rId6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16200" y="1169629"/>
            <a:ext cx="9459595" cy="9525"/>
          </a:xfrm>
          <a:custGeom>
            <a:avLst/>
            <a:gdLst/>
            <a:ahLst/>
            <a:cxnLst/>
            <a:rect l="l" t="t" r="r" b="b"/>
            <a:pathLst>
              <a:path w="9459595" h="9525">
                <a:moveTo>
                  <a:pt x="9459600" y="9525"/>
                </a:moveTo>
                <a:lnTo>
                  <a:pt x="0" y="9525"/>
                </a:lnTo>
                <a:lnTo>
                  <a:pt x="0" y="0"/>
                </a:lnTo>
                <a:lnTo>
                  <a:pt x="9459600" y="0"/>
                </a:lnTo>
                <a:lnTo>
                  <a:pt x="9459600" y="9525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52509" y="7188524"/>
            <a:ext cx="458914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4545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9377" y="4811817"/>
            <a:ext cx="87655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Navigating</a:t>
            </a:r>
            <a:r>
              <a:rPr sz="3200" b="1" spc="-30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the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Future: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F2B59"/>
                </a:solidFill>
                <a:latin typeface="Arial"/>
                <a:cs typeface="Arial"/>
              </a:rPr>
              <a:t>Inteligencia</a:t>
            </a:r>
            <a:r>
              <a:rPr sz="3200" b="1" spc="-15" dirty="0">
                <a:solidFill>
                  <a:srgbClr val="0F2B5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F2B59"/>
                </a:solidFill>
                <a:latin typeface="Arial"/>
                <a:cs typeface="Arial"/>
              </a:rPr>
              <a:t>Comercial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230" y="5435971"/>
            <a:ext cx="86734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MX" sz="1800" i="1" spc="-10" dirty="0">
                <a:solidFill>
                  <a:srgbClr val="545454"/>
                </a:solidFill>
                <a:latin typeface="Arial"/>
                <a:cs typeface="Arial"/>
              </a:rPr>
              <a:t>Propuesta de Desarrollo y puesta en producción de sistema informático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32003" y="0"/>
            <a:ext cx="3960495" cy="1800225"/>
            <a:chOff x="6732003" y="0"/>
            <a:chExt cx="3960495" cy="1800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9126" y="252000"/>
              <a:ext cx="952500" cy="952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2003" y="0"/>
              <a:ext cx="3960495" cy="1800225"/>
            </a:xfrm>
            <a:custGeom>
              <a:avLst/>
              <a:gdLst/>
              <a:ahLst/>
              <a:cxnLst/>
              <a:rect l="l" t="t" r="r" b="b"/>
              <a:pathLst>
                <a:path w="3960495" h="1800225">
                  <a:moveTo>
                    <a:pt x="3960000" y="1800003"/>
                  </a:moveTo>
                  <a:lnTo>
                    <a:pt x="0" y="1800003"/>
                  </a:lnTo>
                  <a:lnTo>
                    <a:pt x="0" y="0"/>
                  </a:lnTo>
                  <a:lnTo>
                    <a:pt x="3960000" y="0"/>
                  </a:lnTo>
                  <a:lnTo>
                    <a:pt x="3960000" y="18000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825" y="1908000"/>
            <a:ext cx="2857499" cy="28575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999" y="1897291"/>
            <a:ext cx="9963150" cy="19050"/>
          </a:xfrm>
          <a:custGeom>
            <a:avLst/>
            <a:gdLst/>
            <a:ahLst/>
            <a:cxnLst/>
            <a:rect l="l" t="t" r="r" b="b"/>
            <a:pathLst>
              <a:path w="9963150" h="19050">
                <a:moveTo>
                  <a:pt x="9963150" y="19050"/>
                </a:moveTo>
                <a:lnTo>
                  <a:pt x="0" y="19050"/>
                </a:lnTo>
                <a:lnTo>
                  <a:pt x="0" y="0"/>
                </a:lnTo>
                <a:lnTo>
                  <a:pt x="9963150" y="0"/>
                </a:lnTo>
                <a:lnTo>
                  <a:pt x="9963150" y="1905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7299" y="1621956"/>
            <a:ext cx="794448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Resumen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la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Estructura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de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Cobro: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en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Implantación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vs.</a:t>
            </a:r>
            <a:r>
              <a:rPr sz="13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0F2B59"/>
                </a:solidFill>
                <a:latin typeface="Verdana"/>
                <a:cs typeface="Verdana"/>
              </a:rPr>
              <a:t>Tarifa</a:t>
            </a:r>
            <a:r>
              <a:rPr sz="1300" b="1" spc="-2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F2B59"/>
                </a:solidFill>
                <a:latin typeface="Verdana"/>
                <a:cs typeface="Verdana"/>
              </a:rPr>
              <a:t>Recurrente.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39999" y="2059219"/>
            <a:ext cx="1822450" cy="1815464"/>
            <a:chOff x="539999" y="2059219"/>
            <a:chExt cx="1822450" cy="1815464"/>
          </a:xfrm>
        </p:grpSpPr>
        <p:sp>
          <p:nvSpPr>
            <p:cNvPr id="6" name="object 6"/>
            <p:cNvSpPr/>
            <p:nvPr/>
          </p:nvSpPr>
          <p:spPr>
            <a:xfrm>
              <a:off x="539999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3" y="0"/>
                  </a:lnTo>
                  <a:lnTo>
                    <a:pt x="1786983" y="4509"/>
                  </a:lnTo>
                  <a:lnTo>
                    <a:pt x="1805155" y="16787"/>
                  </a:lnTo>
                  <a:lnTo>
                    <a:pt x="1817433" y="34959"/>
                  </a:lnTo>
                  <a:lnTo>
                    <a:pt x="1821943" y="57150"/>
                  </a:lnTo>
                  <a:lnTo>
                    <a:pt x="1821943" y="1758315"/>
                  </a:lnTo>
                  <a:lnTo>
                    <a:pt x="1817433" y="1780505"/>
                  </a:lnTo>
                  <a:lnTo>
                    <a:pt x="1805155" y="1798677"/>
                  </a:lnTo>
                  <a:lnTo>
                    <a:pt x="1786983" y="1810955"/>
                  </a:lnTo>
                  <a:lnTo>
                    <a:pt x="1764793" y="1815465"/>
                  </a:lnTo>
                  <a:close/>
                </a:path>
              </a:pathLst>
            </a:custGeom>
            <a:solidFill>
              <a:srgbClr val="EF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9991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65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0F2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3603" y="2129129"/>
            <a:ext cx="975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1: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Diseño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787" y="2421870"/>
            <a:ext cx="1469390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Pago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fijo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inicial.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7787" y="2702536"/>
            <a:ext cx="1549400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Determinado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reportes</a:t>
            </a:r>
            <a:endParaRPr sz="850" dirty="0">
              <a:latin typeface="Verdana"/>
              <a:cs typeface="Verdana"/>
            </a:endParaRPr>
          </a:p>
          <a:p>
            <a:pPr marL="12700" marR="50800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 reproducir y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negocios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75302" y="2059219"/>
            <a:ext cx="1822450" cy="1815464"/>
            <a:chOff x="2575302" y="2059219"/>
            <a:chExt cx="1822450" cy="1815464"/>
          </a:xfrm>
        </p:grpSpPr>
        <p:sp>
          <p:nvSpPr>
            <p:cNvPr id="12" name="object 12"/>
            <p:cNvSpPr/>
            <p:nvPr/>
          </p:nvSpPr>
          <p:spPr>
            <a:xfrm>
              <a:off x="2575302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2F2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75293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56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85862" y="2129129"/>
            <a:ext cx="1202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2: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Desarrollo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53090" y="2400276"/>
            <a:ext cx="1660525" cy="303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entrega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hitos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funcionales</a:t>
            </a:r>
            <a:endParaRPr sz="85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3090" y="3004797"/>
            <a:ext cx="1627505" cy="456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Vinculado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pantallas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25" dirty="0">
                <a:solidFill>
                  <a:srgbClr val="333333"/>
                </a:solidFill>
                <a:latin typeface="Verdana"/>
                <a:cs typeface="Verdana"/>
              </a:rPr>
              <a:t>SW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conectar</a:t>
            </a:r>
            <a:r>
              <a:rPr lang="es-MX" sz="850" dirty="0">
                <a:solidFill>
                  <a:srgbClr val="333333"/>
                </a:solidFill>
                <a:latin typeface="Verdana"/>
                <a:cs typeface="Verdana"/>
              </a:rPr>
              <a:t>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0605" y="2059219"/>
            <a:ext cx="1822450" cy="1815464"/>
            <a:chOff x="4610605" y="2059219"/>
            <a:chExt cx="1822450" cy="1815464"/>
          </a:xfrm>
        </p:grpSpPr>
        <p:sp>
          <p:nvSpPr>
            <p:cNvPr id="18" name="object 18"/>
            <p:cNvSpPr/>
            <p:nvPr/>
          </p:nvSpPr>
          <p:spPr>
            <a:xfrm>
              <a:off x="4610605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FFF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10595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F9A8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70853" y="2129129"/>
            <a:ext cx="13017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3: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ETL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(Carga)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8392" y="2400276"/>
            <a:ext cx="1514475" cy="327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volumen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carga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datos.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88392" y="2853666"/>
            <a:ext cx="1661160" cy="6299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Relacionado</a:t>
            </a:r>
            <a:r>
              <a:rPr sz="850" spc="-6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con</a:t>
            </a:r>
            <a:endParaRPr sz="850" dirty="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años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histórico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viajes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flota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endParaRPr sz="8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que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se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Verdana"/>
                <a:cs typeface="Verdana"/>
              </a:rPr>
              <a:t>deseen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lang="es-MX" sz="850" spc="-10" dirty="0">
                <a:solidFill>
                  <a:srgbClr val="333333"/>
                </a:solidFill>
                <a:latin typeface="Verdana"/>
                <a:cs typeface="Verdana"/>
              </a:rPr>
              <a:t>cargar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45906" y="2059219"/>
            <a:ext cx="1822450" cy="1815464"/>
            <a:chOff x="6645906" y="2059219"/>
            <a:chExt cx="1822450" cy="1815464"/>
          </a:xfrm>
        </p:grpSpPr>
        <p:sp>
          <p:nvSpPr>
            <p:cNvPr id="24" name="object 24"/>
            <p:cNvSpPr/>
            <p:nvPr/>
          </p:nvSpPr>
          <p:spPr>
            <a:xfrm>
              <a:off x="6645906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92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92" y="0"/>
                  </a:lnTo>
                  <a:lnTo>
                    <a:pt x="1786982" y="4509"/>
                  </a:lnTo>
                  <a:lnTo>
                    <a:pt x="1805154" y="16787"/>
                  </a:lnTo>
                  <a:lnTo>
                    <a:pt x="1817432" y="34959"/>
                  </a:lnTo>
                  <a:lnTo>
                    <a:pt x="1821942" y="57150"/>
                  </a:lnTo>
                  <a:lnTo>
                    <a:pt x="1821942" y="1758315"/>
                  </a:lnTo>
                  <a:lnTo>
                    <a:pt x="1817432" y="1780505"/>
                  </a:lnTo>
                  <a:lnTo>
                    <a:pt x="1805154" y="1798677"/>
                  </a:lnTo>
                  <a:lnTo>
                    <a:pt x="1786982" y="1810955"/>
                  </a:lnTo>
                  <a:lnTo>
                    <a:pt x="1764792" y="1815465"/>
                  </a:lnTo>
                  <a:close/>
                </a:path>
              </a:pathLst>
            </a:custGeom>
            <a:solidFill>
              <a:srgbClr val="E8F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45897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42" y="57150"/>
                  </a:moveTo>
                  <a:lnTo>
                    <a:pt x="1817433" y="34950"/>
                  </a:lnTo>
                  <a:lnTo>
                    <a:pt x="1807654" y="20497"/>
                  </a:lnTo>
                  <a:lnTo>
                    <a:pt x="1807654" y="288607"/>
                  </a:lnTo>
                  <a:lnTo>
                    <a:pt x="1807654" y="1758315"/>
                  </a:lnTo>
                  <a:lnTo>
                    <a:pt x="1804276" y="1774952"/>
                  </a:lnTo>
                  <a:lnTo>
                    <a:pt x="1795068" y="1788579"/>
                  </a:lnTo>
                  <a:lnTo>
                    <a:pt x="1781441" y="1797786"/>
                  </a:lnTo>
                  <a:lnTo>
                    <a:pt x="1764792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54" y="288607"/>
                  </a:lnTo>
                  <a:lnTo>
                    <a:pt x="1807654" y="20497"/>
                  </a:lnTo>
                  <a:lnTo>
                    <a:pt x="1805152" y="16789"/>
                  </a:lnTo>
                  <a:lnTo>
                    <a:pt x="1801456" y="14287"/>
                  </a:lnTo>
                  <a:lnTo>
                    <a:pt x="1786991" y="4508"/>
                  </a:lnTo>
                  <a:lnTo>
                    <a:pt x="1764792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92" y="1815465"/>
                  </a:lnTo>
                  <a:lnTo>
                    <a:pt x="1801456" y="1801177"/>
                  </a:lnTo>
                  <a:lnTo>
                    <a:pt x="1821942" y="1758315"/>
                  </a:lnTo>
                  <a:lnTo>
                    <a:pt x="1821942" y="57150"/>
                  </a:lnTo>
                  <a:close/>
                </a:path>
              </a:pathLst>
            </a:custGeom>
            <a:solidFill>
              <a:srgbClr val="1D8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13041" y="2129129"/>
            <a:ext cx="1287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4: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Onboarding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23694" y="2400276"/>
            <a:ext cx="1581785" cy="32766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</a:t>
            </a:r>
            <a:r>
              <a:rPr sz="8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Tarifa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implementación</a:t>
            </a:r>
            <a:r>
              <a:rPr sz="850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850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sistema.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23694" y="2853666"/>
            <a:ext cx="1657985" cy="62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Medido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nivel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complejidad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endParaRPr sz="850" dirty="0">
              <a:latin typeface="Verdana"/>
              <a:cs typeface="Verdana"/>
            </a:endParaRPr>
          </a:p>
          <a:p>
            <a:pPr marL="12700" marR="27305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entrenamiento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los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equipos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comerciales.</a:t>
            </a:r>
            <a:endParaRPr sz="850" dirty="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681208" y="2059219"/>
            <a:ext cx="1822450" cy="1815464"/>
            <a:chOff x="8681208" y="2059219"/>
            <a:chExt cx="1822450" cy="1815464"/>
          </a:xfrm>
        </p:grpSpPr>
        <p:sp>
          <p:nvSpPr>
            <p:cNvPr id="30" name="object 30"/>
            <p:cNvSpPr/>
            <p:nvPr/>
          </p:nvSpPr>
          <p:spPr>
            <a:xfrm>
              <a:off x="8681208" y="2059219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764763" y="1815465"/>
                  </a:moveTo>
                  <a:lnTo>
                    <a:pt x="57150" y="1815465"/>
                  </a:lnTo>
                  <a:lnTo>
                    <a:pt x="34959" y="1810955"/>
                  </a:lnTo>
                  <a:lnTo>
                    <a:pt x="16787" y="1798677"/>
                  </a:lnTo>
                  <a:lnTo>
                    <a:pt x="4509" y="1780505"/>
                  </a:lnTo>
                  <a:lnTo>
                    <a:pt x="0" y="1758315"/>
                  </a:lnTo>
                  <a:lnTo>
                    <a:pt x="0" y="57150"/>
                  </a:lnTo>
                  <a:lnTo>
                    <a:pt x="4509" y="34959"/>
                  </a:lnTo>
                  <a:lnTo>
                    <a:pt x="16787" y="16787"/>
                  </a:lnTo>
                  <a:lnTo>
                    <a:pt x="34959" y="4509"/>
                  </a:lnTo>
                  <a:lnTo>
                    <a:pt x="57150" y="0"/>
                  </a:lnTo>
                  <a:lnTo>
                    <a:pt x="1764763" y="0"/>
                  </a:lnTo>
                  <a:lnTo>
                    <a:pt x="1786953" y="4509"/>
                  </a:lnTo>
                  <a:lnTo>
                    <a:pt x="1805125" y="16787"/>
                  </a:lnTo>
                  <a:lnTo>
                    <a:pt x="1817403" y="34959"/>
                  </a:lnTo>
                  <a:lnTo>
                    <a:pt x="1821913" y="57150"/>
                  </a:lnTo>
                  <a:lnTo>
                    <a:pt x="1821913" y="1758315"/>
                  </a:lnTo>
                  <a:lnTo>
                    <a:pt x="1817403" y="1780505"/>
                  </a:lnTo>
                  <a:lnTo>
                    <a:pt x="1805125" y="1798677"/>
                  </a:lnTo>
                  <a:lnTo>
                    <a:pt x="1786953" y="1810955"/>
                  </a:lnTo>
                  <a:lnTo>
                    <a:pt x="1764763" y="1815465"/>
                  </a:lnTo>
                  <a:close/>
                </a:path>
              </a:pathLst>
            </a:custGeom>
            <a:solidFill>
              <a:srgbClr val="FFF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81199" y="2059228"/>
              <a:ext cx="1822450" cy="1815464"/>
            </a:xfrm>
            <a:custGeom>
              <a:avLst/>
              <a:gdLst/>
              <a:ahLst/>
              <a:cxnLst/>
              <a:rect l="l" t="t" r="r" b="b"/>
              <a:pathLst>
                <a:path w="1822450" h="1815464">
                  <a:moveTo>
                    <a:pt x="1821916" y="57150"/>
                  </a:moveTo>
                  <a:lnTo>
                    <a:pt x="1817408" y="34950"/>
                  </a:lnTo>
                  <a:lnTo>
                    <a:pt x="1807629" y="20497"/>
                  </a:lnTo>
                  <a:lnTo>
                    <a:pt x="1807629" y="288607"/>
                  </a:lnTo>
                  <a:lnTo>
                    <a:pt x="1807629" y="1758315"/>
                  </a:lnTo>
                  <a:lnTo>
                    <a:pt x="1804250" y="1774952"/>
                  </a:lnTo>
                  <a:lnTo>
                    <a:pt x="1795056" y="1788579"/>
                  </a:lnTo>
                  <a:lnTo>
                    <a:pt x="1781429" y="1797786"/>
                  </a:lnTo>
                  <a:lnTo>
                    <a:pt x="1764766" y="1801177"/>
                  </a:lnTo>
                  <a:lnTo>
                    <a:pt x="57150" y="1801177"/>
                  </a:lnTo>
                  <a:lnTo>
                    <a:pt x="40513" y="1797786"/>
                  </a:lnTo>
                  <a:lnTo>
                    <a:pt x="26885" y="1788579"/>
                  </a:lnTo>
                  <a:lnTo>
                    <a:pt x="17678" y="1774952"/>
                  </a:lnTo>
                  <a:lnTo>
                    <a:pt x="14287" y="1758315"/>
                  </a:lnTo>
                  <a:lnTo>
                    <a:pt x="14287" y="288607"/>
                  </a:lnTo>
                  <a:lnTo>
                    <a:pt x="1807629" y="288607"/>
                  </a:lnTo>
                  <a:lnTo>
                    <a:pt x="1807629" y="20497"/>
                  </a:lnTo>
                  <a:lnTo>
                    <a:pt x="1805127" y="16789"/>
                  </a:lnTo>
                  <a:lnTo>
                    <a:pt x="1801431" y="14287"/>
                  </a:lnTo>
                  <a:lnTo>
                    <a:pt x="1786953" y="4508"/>
                  </a:lnTo>
                  <a:lnTo>
                    <a:pt x="1764766" y="0"/>
                  </a:lnTo>
                  <a:lnTo>
                    <a:pt x="57150" y="0"/>
                  </a:lnTo>
                  <a:lnTo>
                    <a:pt x="34963" y="4508"/>
                  </a:lnTo>
                  <a:lnTo>
                    <a:pt x="16789" y="16789"/>
                  </a:lnTo>
                  <a:lnTo>
                    <a:pt x="4508" y="34950"/>
                  </a:lnTo>
                  <a:lnTo>
                    <a:pt x="0" y="57150"/>
                  </a:lnTo>
                  <a:lnTo>
                    <a:pt x="0" y="1758315"/>
                  </a:lnTo>
                  <a:lnTo>
                    <a:pt x="4508" y="1780501"/>
                  </a:lnTo>
                  <a:lnTo>
                    <a:pt x="16789" y="1798675"/>
                  </a:lnTo>
                  <a:lnTo>
                    <a:pt x="34963" y="1810956"/>
                  </a:lnTo>
                  <a:lnTo>
                    <a:pt x="57150" y="1815465"/>
                  </a:lnTo>
                  <a:lnTo>
                    <a:pt x="1764766" y="1815465"/>
                  </a:lnTo>
                  <a:lnTo>
                    <a:pt x="1801431" y="1801177"/>
                  </a:lnTo>
                  <a:lnTo>
                    <a:pt x="1821916" y="1758315"/>
                  </a:lnTo>
                  <a:lnTo>
                    <a:pt x="1821916" y="5715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105258" y="2129129"/>
            <a:ext cx="9740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5:</a:t>
            </a:r>
            <a:r>
              <a:rPr sz="9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900" b="1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900" b="1" spc="-20" dirty="0">
                <a:solidFill>
                  <a:srgbClr val="FFFFFF"/>
                </a:solidFill>
                <a:latin typeface="Verdana"/>
                <a:cs typeface="Verdana"/>
              </a:rPr>
              <a:t>Situ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58996" y="2400276"/>
            <a:ext cx="1339850" cy="47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Lógica: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Cobro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por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días/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hombre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soporte</a:t>
            </a:r>
            <a:endParaRPr sz="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presencial.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58996" y="3004797"/>
            <a:ext cx="1617345" cy="78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700"/>
              </a:lnSpc>
              <a:spcBef>
                <a:spcPts val="100"/>
              </a:spcBef>
            </a:pPr>
            <a:r>
              <a:rPr sz="850" b="1" dirty="0">
                <a:solidFill>
                  <a:srgbClr val="333333"/>
                </a:solidFill>
                <a:latin typeface="Verdana"/>
                <a:cs typeface="Verdana"/>
              </a:rPr>
              <a:t>Esfuerzo:</a:t>
            </a:r>
            <a:r>
              <a:rPr sz="8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Dependiente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cantidad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analistas</a:t>
            </a:r>
            <a:endParaRPr sz="850">
              <a:latin typeface="Verdana"/>
              <a:cs typeface="Verdana"/>
            </a:endParaRPr>
          </a:p>
          <a:p>
            <a:pPr marL="12700" marR="56515" algn="just">
              <a:lnSpc>
                <a:spcPct val="116700"/>
              </a:lnSpc>
            </a:pP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comerciales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capacitar</a:t>
            </a:r>
            <a:r>
              <a:rPr sz="850" spc="-20" dirty="0">
                <a:solidFill>
                  <a:srgbClr val="333333"/>
                </a:solidFill>
                <a:latin typeface="Verdana"/>
                <a:cs typeface="Verdana"/>
              </a:rPr>
              <a:t> cara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a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cara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horas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 refinación </a:t>
            </a:r>
            <a:r>
              <a:rPr sz="8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8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850" spc="-10" dirty="0">
                <a:solidFill>
                  <a:srgbClr val="333333"/>
                </a:solidFill>
                <a:latin typeface="Verdana"/>
                <a:cs typeface="Verdana"/>
              </a:rPr>
              <a:t>oficina.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9999" y="4065184"/>
            <a:ext cx="9963150" cy="1581326"/>
            <a:chOff x="539999" y="4065184"/>
            <a:chExt cx="9963150" cy="1290320"/>
          </a:xfrm>
        </p:grpSpPr>
        <p:sp>
          <p:nvSpPr>
            <p:cNvPr id="36" name="object 36"/>
            <p:cNvSpPr/>
            <p:nvPr/>
          </p:nvSpPr>
          <p:spPr>
            <a:xfrm>
              <a:off x="539999" y="4065184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886922" y="1290323"/>
                  </a:moveTo>
                  <a:lnTo>
                    <a:pt x="76200" y="1290323"/>
                  </a:lnTo>
                  <a:lnTo>
                    <a:pt x="46612" y="1284310"/>
                  </a:lnTo>
                  <a:lnTo>
                    <a:pt x="22383" y="1267939"/>
                  </a:lnTo>
                  <a:lnTo>
                    <a:pt x="6012" y="1243710"/>
                  </a:lnTo>
                  <a:lnTo>
                    <a:pt x="0" y="1214123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86922" y="0"/>
                  </a:lnTo>
                  <a:lnTo>
                    <a:pt x="9916509" y="6012"/>
                  </a:lnTo>
                  <a:lnTo>
                    <a:pt x="9940738" y="22383"/>
                  </a:lnTo>
                  <a:lnTo>
                    <a:pt x="9957110" y="46612"/>
                  </a:lnTo>
                  <a:lnTo>
                    <a:pt x="9963122" y="76200"/>
                  </a:lnTo>
                  <a:lnTo>
                    <a:pt x="9963122" y="1214123"/>
                  </a:lnTo>
                  <a:lnTo>
                    <a:pt x="9957110" y="1243710"/>
                  </a:lnTo>
                  <a:lnTo>
                    <a:pt x="9940738" y="1267939"/>
                  </a:lnTo>
                  <a:lnTo>
                    <a:pt x="9916509" y="1284310"/>
                  </a:lnTo>
                  <a:lnTo>
                    <a:pt x="9886922" y="1290323"/>
                  </a:lnTo>
                  <a:close/>
                </a:path>
              </a:pathLst>
            </a:custGeom>
            <a:solidFill>
              <a:srgbClr val="F2E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9991" y="4065193"/>
              <a:ext cx="9963150" cy="1290320"/>
            </a:xfrm>
            <a:custGeom>
              <a:avLst/>
              <a:gdLst/>
              <a:ahLst/>
              <a:cxnLst/>
              <a:rect l="l" t="t" r="r" b="b"/>
              <a:pathLst>
                <a:path w="9963150" h="1290320">
                  <a:moveTo>
                    <a:pt x="9963125" y="76200"/>
                  </a:moveTo>
                  <a:lnTo>
                    <a:pt x="9957117" y="46609"/>
                  </a:lnTo>
                  <a:lnTo>
                    <a:pt x="9944075" y="27305"/>
                  </a:lnTo>
                  <a:lnTo>
                    <a:pt x="9944075" y="367030"/>
                  </a:lnTo>
                  <a:lnTo>
                    <a:pt x="9944075" y="1214120"/>
                  </a:lnTo>
                  <a:lnTo>
                    <a:pt x="9939566" y="1236306"/>
                  </a:lnTo>
                  <a:lnTo>
                    <a:pt x="9927285" y="1254480"/>
                  </a:lnTo>
                  <a:lnTo>
                    <a:pt x="9909111" y="1266761"/>
                  </a:lnTo>
                  <a:lnTo>
                    <a:pt x="9886925" y="1271270"/>
                  </a:lnTo>
                  <a:lnTo>
                    <a:pt x="76200" y="1271270"/>
                  </a:lnTo>
                  <a:lnTo>
                    <a:pt x="54013" y="1266761"/>
                  </a:lnTo>
                  <a:lnTo>
                    <a:pt x="35839" y="1254480"/>
                  </a:lnTo>
                  <a:lnTo>
                    <a:pt x="23558" y="1236306"/>
                  </a:lnTo>
                  <a:lnTo>
                    <a:pt x="19050" y="1214120"/>
                  </a:lnTo>
                  <a:lnTo>
                    <a:pt x="19050" y="367030"/>
                  </a:lnTo>
                  <a:lnTo>
                    <a:pt x="9944075" y="367030"/>
                  </a:lnTo>
                  <a:lnTo>
                    <a:pt x="9944075" y="27305"/>
                  </a:lnTo>
                  <a:lnTo>
                    <a:pt x="9940747" y="22377"/>
                  </a:lnTo>
                  <a:lnTo>
                    <a:pt x="9935807" y="19050"/>
                  </a:lnTo>
                  <a:lnTo>
                    <a:pt x="9916516" y="6007"/>
                  </a:lnTo>
                  <a:lnTo>
                    <a:pt x="9886925" y="0"/>
                  </a:lnTo>
                  <a:lnTo>
                    <a:pt x="76200" y="0"/>
                  </a:lnTo>
                  <a:lnTo>
                    <a:pt x="46609" y="6007"/>
                  </a:lnTo>
                  <a:lnTo>
                    <a:pt x="22390" y="22377"/>
                  </a:lnTo>
                  <a:lnTo>
                    <a:pt x="6019" y="46609"/>
                  </a:lnTo>
                  <a:lnTo>
                    <a:pt x="0" y="76200"/>
                  </a:lnTo>
                  <a:lnTo>
                    <a:pt x="0" y="1214120"/>
                  </a:lnTo>
                  <a:lnTo>
                    <a:pt x="6019" y="1243711"/>
                  </a:lnTo>
                  <a:lnTo>
                    <a:pt x="22390" y="1267942"/>
                  </a:lnTo>
                  <a:lnTo>
                    <a:pt x="46609" y="1284312"/>
                  </a:lnTo>
                  <a:lnTo>
                    <a:pt x="76200" y="1290320"/>
                  </a:lnTo>
                  <a:lnTo>
                    <a:pt x="9886925" y="1290320"/>
                  </a:lnTo>
                  <a:lnTo>
                    <a:pt x="9916516" y="1284312"/>
                  </a:lnTo>
                  <a:lnTo>
                    <a:pt x="9935807" y="1271270"/>
                  </a:lnTo>
                  <a:lnTo>
                    <a:pt x="9940747" y="1267942"/>
                  </a:lnTo>
                  <a:lnTo>
                    <a:pt x="9957117" y="1243711"/>
                  </a:lnTo>
                  <a:lnTo>
                    <a:pt x="9963125" y="1214120"/>
                  </a:lnTo>
                  <a:lnTo>
                    <a:pt x="9963125" y="76200"/>
                  </a:lnTo>
                  <a:close/>
                </a:path>
              </a:pathLst>
            </a:custGeom>
            <a:solidFill>
              <a:srgbClr val="691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89224" y="4161392"/>
            <a:ext cx="6136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Paso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6:</a:t>
            </a:r>
            <a:r>
              <a:rPr sz="1100" b="1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Tarifa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Recurrente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Mensual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Soporte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Alojamiento</a:t>
            </a:r>
            <a:r>
              <a:rPr sz="1100" b="1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(Mantenimiento)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89224" y="4521475"/>
            <a:ext cx="9462770" cy="88479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290"/>
              </a:spcBef>
            </a:pP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b="1" dirty="0">
                <a:solidFill>
                  <a:srgbClr val="333333"/>
                </a:solidFill>
                <a:latin typeface="Verdana"/>
                <a:cs typeface="Verdana"/>
              </a:rPr>
              <a:t>Pago:</a:t>
            </a:r>
            <a:r>
              <a:rPr sz="95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Suscripción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mensual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fija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posterior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despliegue.</a:t>
            </a:r>
            <a:endParaRPr sz="950" dirty="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</a:pPr>
            <a:r>
              <a:rPr sz="950" b="1" spc="-10" dirty="0">
                <a:solidFill>
                  <a:srgbClr val="333333"/>
                </a:solidFill>
                <a:latin typeface="Verdana"/>
                <a:cs typeface="Verdana"/>
              </a:rPr>
              <a:t>Cobertura: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Asegura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acceso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seguro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Naviera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Petral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al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software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web.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Incluye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costo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del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servidor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dedicado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nube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(VPS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en</a:t>
            </a:r>
            <a:r>
              <a:rPr sz="950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Contabo),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el costo 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la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datos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centralizada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(Supabase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PostgreSQL),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respaldos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diarios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 err="1">
                <a:solidFill>
                  <a:srgbClr val="333333"/>
                </a:solidFill>
                <a:latin typeface="Verdana"/>
                <a:cs typeface="Verdana"/>
              </a:rPr>
              <a:t>seguridad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lang="es-MX" sz="950" dirty="0">
                <a:solidFill>
                  <a:srgbClr val="333333"/>
                </a:solidFill>
                <a:latin typeface="Verdana"/>
                <a:cs typeface="Verdana"/>
              </a:rPr>
              <a:t> la base de datos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,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resolución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de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incidentes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operativos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mejoras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continuas</a:t>
            </a:r>
            <a:r>
              <a:rPr sz="950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de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lógica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comercial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(mantenimiento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correctivo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y</a:t>
            </a:r>
            <a:r>
              <a:rPr sz="950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dirty="0">
                <a:solidFill>
                  <a:srgbClr val="333333"/>
                </a:solidFill>
                <a:latin typeface="Verdana"/>
                <a:cs typeface="Verdana"/>
              </a:rPr>
              <a:t>evolutivo</a:t>
            </a:r>
            <a:r>
              <a:rPr sz="950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950" spc="-10" dirty="0" err="1">
                <a:solidFill>
                  <a:srgbClr val="333333"/>
                </a:solidFill>
                <a:latin typeface="Verdana"/>
                <a:cs typeface="Verdana"/>
              </a:rPr>
              <a:t>menor</a:t>
            </a:r>
            <a:r>
              <a:rPr sz="950" spc="-10" dirty="0">
                <a:solidFill>
                  <a:srgbClr val="333333"/>
                </a:solidFill>
                <a:latin typeface="Verdana"/>
                <a:cs typeface="Verdana"/>
              </a:rPr>
              <a:t>).</a:t>
            </a:r>
            <a:r>
              <a:rPr lang="es-MX" sz="950" spc="-10" dirty="0">
                <a:solidFill>
                  <a:srgbClr val="333333"/>
                </a:solidFill>
                <a:latin typeface="Verdana"/>
                <a:cs typeface="Verdana"/>
              </a:rPr>
              <a:t> No incluye nuevos desarrollos</a:t>
            </a:r>
            <a:endParaRPr sz="950" dirty="0">
              <a:latin typeface="Verdana"/>
              <a:cs typeface="Verdan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9126" y="252000"/>
            <a:ext cx="952500" cy="952500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539999" y="6785047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1963" y="9525"/>
                </a:moveTo>
                <a:lnTo>
                  <a:pt x="0" y="9525"/>
                </a:lnTo>
                <a:lnTo>
                  <a:pt x="0" y="0"/>
                </a:lnTo>
                <a:lnTo>
                  <a:pt x="9611963" y="0"/>
                </a:lnTo>
                <a:lnTo>
                  <a:pt x="9611963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PROPUESTA</a:t>
            </a:r>
            <a:r>
              <a:rPr spc="-50" dirty="0"/>
              <a:t> </a:t>
            </a:r>
            <a:r>
              <a:rPr spc="-10" dirty="0"/>
              <a:t>COMERCIAL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spc="-20" dirty="0"/>
              <a:t>NAVIERA</a:t>
            </a:r>
            <a:r>
              <a:rPr spc="-45" dirty="0"/>
              <a:t> </a:t>
            </a:r>
            <a:r>
              <a:rPr dirty="0"/>
              <a:t>PETRAL</a:t>
            </a:r>
            <a:r>
              <a:rPr spc="-3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GEEKSOFT</a:t>
            </a:r>
            <a:r>
              <a:rPr spc="-10" dirty="0"/>
              <a:t> </a:t>
            </a:r>
            <a:r>
              <a:rPr dirty="0"/>
              <a:t>|</a:t>
            </a:r>
            <a:r>
              <a:rPr spc="10" dirty="0"/>
              <a:t> </a:t>
            </a:r>
            <a:r>
              <a:rPr dirty="0"/>
              <a:t>JUNIO</a:t>
            </a:r>
            <a:r>
              <a:rPr spc="10" dirty="0"/>
              <a:t> </a:t>
            </a:r>
            <a:r>
              <a:rPr spc="-20" dirty="0"/>
              <a:t>2026</a:t>
            </a:r>
          </a:p>
        </p:txBody>
      </p:sp>
      <p:sp>
        <p:nvSpPr>
          <p:cNvPr id="43" name="object 3">
            <a:extLst>
              <a:ext uri="{FF2B5EF4-FFF2-40B4-BE49-F238E27FC236}">
                <a16:creationId xmlns:a16="http://schemas.microsoft.com/office/drawing/2014/main" id="{F377C29D-1602-1FB6-ECB6-CD360C41081E}"/>
              </a:ext>
            </a:extLst>
          </p:cNvPr>
          <p:cNvSpPr txBox="1"/>
          <p:nvPr/>
        </p:nvSpPr>
        <p:spPr>
          <a:xfrm>
            <a:off x="527299" y="1247732"/>
            <a:ext cx="394842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sz="1400" b="1" dirty="0">
                <a:solidFill>
                  <a:srgbClr val="0F2B59"/>
                </a:solidFill>
                <a:latin typeface="Verdana"/>
                <a:cs typeface="Verdana"/>
              </a:rPr>
              <a:t>Esquema Lógico de </a:t>
            </a:r>
            <a:r>
              <a:rPr lang="es-MX" sz="1400" b="1" dirty="0" err="1">
                <a:solidFill>
                  <a:srgbClr val="0F2B59"/>
                </a:solidFill>
                <a:latin typeface="Verdana"/>
                <a:cs typeface="Verdana"/>
              </a:rPr>
              <a:t>Pricing</a:t>
            </a:r>
            <a:endParaRPr sz="1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6200" y="1245829"/>
            <a:ext cx="9459595" cy="9525"/>
          </a:xfrm>
          <a:custGeom>
            <a:avLst/>
            <a:gdLst/>
            <a:ahLst/>
            <a:cxnLst/>
            <a:rect l="l" t="t" r="r" b="b"/>
            <a:pathLst>
              <a:path w="9459595" h="9525">
                <a:moveTo>
                  <a:pt x="9459600" y="9525"/>
                </a:moveTo>
                <a:lnTo>
                  <a:pt x="0" y="9525"/>
                </a:lnTo>
                <a:lnTo>
                  <a:pt x="0" y="0"/>
                </a:lnTo>
                <a:lnTo>
                  <a:pt x="9459600" y="0"/>
                </a:lnTo>
                <a:lnTo>
                  <a:pt x="9459600" y="9525"/>
                </a:lnTo>
                <a:close/>
              </a:path>
            </a:pathLst>
          </a:custGeom>
          <a:solidFill>
            <a:srgbClr val="E2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3499" y="945707"/>
            <a:ext cx="39484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4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Única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Verdana"/>
                <a:cs typeface="Verdana"/>
              </a:rPr>
              <a:t>(One-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Timers)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-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Parte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0F2B59"/>
                </a:solidFill>
                <a:latin typeface="Verdana"/>
                <a:cs typeface="Verdana"/>
              </a:rPr>
              <a:t>1</a:t>
            </a:r>
            <a:endParaRPr sz="14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30336"/>
              </p:ext>
            </p:extLst>
          </p:nvPr>
        </p:nvGraphicFramePr>
        <p:xfrm>
          <a:off x="616199" y="1298217"/>
          <a:ext cx="9449434" cy="372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2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4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116839" marR="109855" indent="6731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USD/hr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08610" marR="111760" indent="-18923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1: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01600" algn="just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Forecast:</a:t>
                      </a:r>
                      <a:r>
                        <a:rPr sz="1100" b="1" spc="-2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de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proyectar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ventas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hacer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P&amp;L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nivel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Gross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Margin.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 marR="141605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Herramienta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Cotización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(Proformador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SPOT):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Definición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interfaz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estructurar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paquetes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viajes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maximicen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rentabilidad.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Las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siguientes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etapas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 marR="203835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adicional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diseño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MEDIR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MEJORAR.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1,000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6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2: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Desarrollo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 marR="499745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Stack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Tecnológico: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Construcción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conectando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(Supabase)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un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frontend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rápido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(Vite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React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Tailwind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ECharts).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 marR="103505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b="1" spc="-5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Matemática: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Programación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algoritmos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y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APIs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cálculos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avanzados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creación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pantallas.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7556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toman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siguientes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 marR="24511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etapas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requerirán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nuevos desarrollos.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 marR="301625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incluye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lógica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central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futuros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desarrollos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3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reportes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gráficos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elección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cliente.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6</a:t>
                      </a: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6</a:t>
                      </a: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,</a:t>
                      </a:r>
                      <a:r>
                        <a:rPr lang="es-MX"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6</a:t>
                      </a:r>
                      <a:r>
                        <a:rPr sz="1100" b="1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999" y="179999"/>
            <a:ext cx="761999" cy="761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40000" y="7119649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499" y="869507"/>
            <a:ext cx="394842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Inversión</a:t>
            </a:r>
            <a:r>
              <a:rPr sz="1400" b="1" spc="-3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Única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0F2B59"/>
                </a:solidFill>
                <a:latin typeface="Verdana"/>
                <a:cs typeface="Verdana"/>
              </a:rPr>
              <a:t>(One-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Timers)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-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Parte</a:t>
            </a:r>
            <a:r>
              <a:rPr sz="1400" b="1" spc="-2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0F2B59"/>
                </a:solidFill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746388"/>
              </p:ext>
            </p:extLst>
          </p:nvPr>
        </p:nvGraphicFramePr>
        <p:xfrm>
          <a:off x="616199" y="1226779"/>
          <a:ext cx="9450070" cy="4478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113664" marR="106045" indent="6731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Tarifa USD/hr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Hrs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308610" marR="112395" indent="-18923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</a:t>
                      </a:r>
                      <a:r>
                        <a:rPr sz="11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sin IGV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3: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ETL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(Carga)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121285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Alcance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b="1" spc="-4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Carga: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Integración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exclusiva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operativa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comercial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año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 marR="265430">
                        <a:lnSpc>
                          <a:spcPct val="1083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Proceso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ETL: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Extracción,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Transformación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desde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archivos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actuales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Supabase.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74955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Solo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cargarán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meses transcurridos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 año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2026.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De requerirse mas años, se ejecutará el ETL al mismo costo por año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280"/>
                        </a:lnSpc>
                        <a:spcBef>
                          <a:spcPts val="54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Entrenamiento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Operativo: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Capacitación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directa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858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4: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Onboarding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web.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Clave: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24790" indent="-125095">
                        <a:lnSpc>
                          <a:spcPct val="100000"/>
                        </a:lnSpc>
                        <a:spcBef>
                          <a:spcPts val="635"/>
                        </a:spcBef>
                        <a:buChar char="•"/>
                        <a:tabLst>
                          <a:tab pos="224790" algn="l"/>
                          <a:tab pos="2053589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Jorge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Neyra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	•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Fernando</a:t>
                      </a:r>
                      <a:r>
                        <a:rPr sz="1100" spc="-4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Harten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onboarding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será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presencial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elección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cliente.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 indent="-125095">
                        <a:lnSpc>
                          <a:spcPct val="100000"/>
                        </a:lnSpc>
                        <a:spcBef>
                          <a:spcPts val="125"/>
                        </a:spcBef>
                        <a:buChar char="•"/>
                        <a:tabLst>
                          <a:tab pos="224790" algn="l"/>
                          <a:tab pos="2053589" algn="l"/>
                        </a:tabLst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Maria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Elena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Castro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	• Iosef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Zavala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5: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Situ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217804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Presencial</a:t>
                      </a: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(Go-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Live):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Acompañamiento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directo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oficina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operando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real.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Convivencia</a:t>
                      </a:r>
                      <a:r>
                        <a:rPr sz="1100" b="1" spc="-4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"Dos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Mundos":</a:t>
                      </a:r>
                      <a:r>
                        <a:rPr sz="1100" b="1" spc="-3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Comparación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 marR="20447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paralelo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resultados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vs.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3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actual.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645" marR="85725" algn="just">
                        <a:lnSpc>
                          <a:spcPct val="108300"/>
                        </a:lnSpc>
                        <a:spcBef>
                          <a:spcPts val="1145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conciliará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resultados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de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EXCEL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para que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sean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convergentes</a:t>
                      </a:r>
                      <a:r>
                        <a:rPr sz="1100" spc="-4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con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sistema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asistirá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usuarios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hasta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que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hayan</a:t>
                      </a:r>
                      <a:r>
                        <a:rPr lang="es-MX" sz="1100" spc="-20" dirty="0">
                          <a:solidFill>
                            <a:schemeClr val="tx1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inconsistencias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ni</a:t>
                      </a:r>
                      <a:r>
                        <a:rPr sz="1100" spc="-5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BUGS.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145415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100" b="1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T w="9525">
                      <a:solidFill>
                        <a:srgbClr val="CAD4E1"/>
                      </a:solidFill>
                      <a:prstDash val="solid"/>
                    </a:lnT>
                    <a:lnB w="9525">
                      <a:solidFill>
                        <a:srgbClr val="CAD4E1"/>
                      </a:solidFill>
                      <a:prstDash val="solid"/>
                    </a:lnB>
                    <a:solidFill>
                      <a:srgbClr val="0F2B59">
                        <a:alpha val="4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73533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INVERSIÓN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(Sin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IGV):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$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lang="es-MX"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9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,</a:t>
                      </a:r>
                      <a:r>
                        <a:rPr lang="es-MX"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1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00</a:t>
                      </a:r>
                      <a:endParaRPr sz="1300" dirty="0">
                        <a:latin typeface="Verdana"/>
                        <a:cs typeface="Verdana"/>
                      </a:endParaRPr>
                    </a:p>
                  </a:txBody>
                  <a:tcPr marL="0" marR="0" marT="69850" marB="0">
                    <a:lnT w="9525">
                      <a:solidFill>
                        <a:srgbClr val="CAD4E1"/>
                      </a:solidFill>
                      <a:prstDash val="solid"/>
                    </a:lnT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999" y="179999"/>
            <a:ext cx="761999" cy="7619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40000" y="7119649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499" y="869507"/>
            <a:ext cx="908660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F2B59"/>
                </a:solidFill>
                <a:latin typeface="Verdana"/>
                <a:cs typeface="Verdana"/>
              </a:rPr>
              <a:t>Costo</a:t>
            </a:r>
            <a:r>
              <a:rPr sz="1400" b="1" spc="-55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sz="1400" b="1" dirty="0" err="1">
                <a:solidFill>
                  <a:srgbClr val="0F2B59"/>
                </a:solidFill>
                <a:latin typeface="Verdana"/>
                <a:cs typeface="Verdana"/>
              </a:rPr>
              <a:t>Recurrente</a:t>
            </a:r>
            <a:r>
              <a:rPr sz="1400" b="1" spc="-40" dirty="0">
                <a:solidFill>
                  <a:srgbClr val="0F2B59"/>
                </a:solidFill>
                <a:latin typeface="Verdana"/>
                <a:cs typeface="Verdana"/>
              </a:rPr>
              <a:t> </a:t>
            </a:r>
            <a:r>
              <a:rPr lang="es-MX" sz="1400" b="1" spc="-10" dirty="0">
                <a:solidFill>
                  <a:srgbClr val="0F2B59"/>
                </a:solidFill>
                <a:latin typeface="Verdana"/>
                <a:cs typeface="Verdana"/>
              </a:rPr>
              <a:t>Mensual que garantizan la </a:t>
            </a:r>
            <a:r>
              <a:rPr sz="1400" b="1" spc="-10" dirty="0" err="1">
                <a:solidFill>
                  <a:srgbClr val="0F2B59"/>
                </a:solidFill>
                <a:latin typeface="Verdana"/>
                <a:cs typeface="Verdana"/>
              </a:rPr>
              <a:t>Operatividad</a:t>
            </a:r>
            <a:r>
              <a:rPr lang="es-MX" sz="1400" b="1" spc="-10" dirty="0">
                <a:solidFill>
                  <a:srgbClr val="0F2B59"/>
                </a:solidFill>
                <a:latin typeface="Verdana"/>
                <a:cs typeface="Verdana"/>
              </a:rPr>
              <a:t>,  y seguridad del sistema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040" y="3797455"/>
            <a:ext cx="9380220" cy="22872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3300"/>
              </a:lnSpc>
              <a:spcBef>
                <a:spcPts val="100"/>
              </a:spcBef>
            </a:pPr>
            <a:r>
              <a:rPr sz="1400" b="1" dirty="0" err="1">
                <a:solidFill>
                  <a:srgbClr val="0F2B59"/>
                </a:solidFill>
                <a:latin typeface="Verdana"/>
              </a:rPr>
              <a:t>Comentarios</a:t>
            </a:r>
            <a:r>
              <a:rPr sz="1400" b="1" dirty="0">
                <a:solidFill>
                  <a:srgbClr val="0F2B59"/>
                </a:solidFill>
                <a:latin typeface="Verdana"/>
              </a:rPr>
              <a:t> de </a:t>
            </a:r>
            <a:r>
              <a:rPr sz="1400" b="1" dirty="0" err="1">
                <a:solidFill>
                  <a:srgbClr val="0F2B59"/>
                </a:solidFill>
                <a:latin typeface="Verdana"/>
              </a:rPr>
              <a:t>Geeksoft</a:t>
            </a:r>
            <a:r>
              <a:rPr sz="1400" b="1" dirty="0">
                <a:solidFill>
                  <a:srgbClr val="0F2B59"/>
                </a:solidFill>
                <a:latin typeface="Verdana"/>
              </a:rPr>
              <a:t>: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mi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experiencia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implementando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este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tipo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transiciones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procesos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legacy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(herramientas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basadas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íntegramente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Excel)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hacia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ecosistemas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centralizados,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adoptar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un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enfoque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modular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estrategia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más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segura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y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con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mayor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tasa</a:t>
            </a:r>
            <a:r>
              <a:rPr sz="1400" spc="-1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éxito.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Permitir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el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equipo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(especialmente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aquellos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perfiles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muy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habituados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sus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hojas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cálculo)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valide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el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sistema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paso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paso,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y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tener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una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etapa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formal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de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convivencia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"dos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mundos",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reduce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drásticamente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resistencia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al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cambio.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Esto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asegura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herramienta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no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solo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sea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un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avance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tecnológico,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sino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genere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confianza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plena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en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números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que</a:t>
            </a:r>
            <a:r>
              <a:rPr sz="1400" spc="-25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arroja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frente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1D283B"/>
                </a:solidFill>
                <a:latin typeface="Arial MT"/>
                <a:cs typeface="Arial MT"/>
              </a:rPr>
              <a:t>modelos</a:t>
            </a:r>
            <a:r>
              <a:rPr sz="1400" spc="-20" dirty="0">
                <a:solidFill>
                  <a:srgbClr val="1D283B"/>
                </a:solidFill>
                <a:latin typeface="Arial MT"/>
                <a:cs typeface="Arial MT"/>
              </a:rPr>
              <a:t> </a:t>
            </a:r>
            <a:r>
              <a:rPr sz="1400" spc="-10" dirty="0" err="1">
                <a:solidFill>
                  <a:srgbClr val="1D283B"/>
                </a:solidFill>
                <a:latin typeface="Arial MT"/>
                <a:cs typeface="Arial MT"/>
              </a:rPr>
              <a:t>tradicionales</a:t>
            </a:r>
            <a:r>
              <a:rPr sz="1400" spc="-10" dirty="0">
                <a:solidFill>
                  <a:srgbClr val="1D283B"/>
                </a:solidFill>
                <a:latin typeface="Arial MT"/>
                <a:cs typeface="Arial MT"/>
              </a:rPr>
              <a:t>.</a:t>
            </a:r>
            <a:endParaRPr lang="es-MX" sz="1400" spc="-10" dirty="0">
              <a:solidFill>
                <a:srgbClr val="1D283B"/>
              </a:solidFill>
              <a:latin typeface="Arial MT"/>
              <a:cs typeface="Arial MT"/>
            </a:endParaRPr>
          </a:p>
          <a:p>
            <a:pPr marL="12700" marR="5080" algn="just">
              <a:lnSpc>
                <a:spcPct val="133300"/>
              </a:lnSpc>
              <a:spcBef>
                <a:spcPts val="100"/>
              </a:spcBef>
            </a:pPr>
            <a:r>
              <a:rPr lang="es-PE" sz="1400" spc="-10" dirty="0">
                <a:solidFill>
                  <a:srgbClr val="1D283B"/>
                </a:solidFill>
                <a:latin typeface="Arial MT"/>
                <a:cs typeface="Arial MT"/>
              </a:rPr>
              <a:t>La propiedad intelectual del SW es 100% de PETRAL. Desde el inicio, PETRAL tendrá copia de código del sistema en GIT HUB.</a:t>
            </a:r>
            <a:endParaRPr sz="1100" dirty="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403968"/>
              </p:ext>
            </p:extLst>
          </p:nvPr>
        </p:nvGraphicFramePr>
        <p:xfrm>
          <a:off x="616198" y="1222017"/>
          <a:ext cx="9380220" cy="2073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2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Etapa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Descripción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Comentarios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5085" marB="0">
                    <a:solidFill>
                      <a:srgbClr val="0F2B59"/>
                    </a:solidFill>
                  </a:tcPr>
                </a:tc>
                <a:tc>
                  <a:txBody>
                    <a:bodyPr/>
                    <a:lstStyle/>
                    <a:p>
                      <a:pPr marL="132715" marR="125095" indent="125730">
                        <a:lnSpc>
                          <a:spcPct val="133300"/>
                        </a:lnSpc>
                        <a:spcBef>
                          <a:spcPts val="30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Total Mensual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0" marB="0">
                    <a:solidFill>
                      <a:srgbClr val="0F2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3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6: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Tarifa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Mensual </a:t>
                      </a:r>
                      <a:r>
                        <a:rPr sz="1100" b="1" spc="-25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de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b="1" spc="-10" dirty="0">
                          <a:solidFill>
                            <a:srgbClr val="334154"/>
                          </a:solidFill>
                          <a:latin typeface="Verdana"/>
                          <a:cs typeface="Verdana"/>
                        </a:rPr>
                        <a:t>Mantenimiento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 marR="85090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Suscripción</a:t>
                      </a:r>
                      <a:r>
                        <a:rPr sz="1100" b="1" spc="-3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Mensual:</a:t>
                      </a:r>
                      <a:r>
                        <a:rPr sz="1100" b="1" spc="-1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Asegura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operatividad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plataforma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24/7.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100" b="1" spc="-10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Cobertura:</a:t>
                      </a:r>
                      <a:r>
                        <a:rPr sz="1100" b="1" spc="-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Pago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en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nube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80645" marR="11176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(Contabo),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(Supabase)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labores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 </a:t>
                      </a:r>
                      <a:r>
                        <a:rPr sz="110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soporte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evolutivo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, salud del sistema y reporte de uso del sistema por usuario (interacciones de los usuarios con el sistema para evitar el uso del LEGACY en Excel)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 marR="88265">
                        <a:lnSpc>
                          <a:spcPct val="108300"/>
                        </a:lnSpc>
                        <a:spcBef>
                          <a:spcPts val="430"/>
                        </a:spcBef>
                      </a:pPr>
                      <a:r>
                        <a:rPr lang="es-MX"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Incluye el pago por GEEKSOFT 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los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costos asociados a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la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base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datos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y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el</a:t>
                      </a:r>
                      <a:r>
                        <a:rPr sz="1100" spc="-1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servidor.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80645" marR="796290">
                        <a:lnSpc>
                          <a:spcPct val="108300"/>
                        </a:lnSpc>
                      </a:pP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incluye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nuevos </a:t>
                      </a:r>
                      <a:r>
                        <a:rPr sz="1100" spc="-10" dirty="0" err="1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desarrollos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.</a:t>
                      </a:r>
                      <a:r>
                        <a:rPr lang="es-MX"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Pagaderos desde el cierre de la etapa 5.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54610" marB="0">
                    <a:lnL w="9525">
                      <a:solidFill>
                        <a:srgbClr val="CAD4E1"/>
                      </a:solidFill>
                      <a:prstDash val="soli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9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13995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$ </a:t>
                      </a:r>
                      <a:r>
                        <a:rPr sz="1200" b="1" spc="-25" dirty="0">
                          <a:solidFill>
                            <a:srgbClr val="0F2B59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AD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E1"/>
                      </a:solidFill>
                      <a:prstDash val="solid"/>
                    </a:lnR>
                    <a:lnB w="9525">
                      <a:solidFill>
                        <a:srgbClr val="CAD4E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9999" y="179999"/>
            <a:ext cx="761999" cy="761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40000" y="7119649"/>
            <a:ext cx="9611995" cy="9525"/>
          </a:xfrm>
          <a:custGeom>
            <a:avLst/>
            <a:gdLst/>
            <a:ahLst/>
            <a:cxnLst/>
            <a:rect l="l" t="t" r="r" b="b"/>
            <a:pathLst>
              <a:path w="9611995" h="9525">
                <a:moveTo>
                  <a:pt x="9612000" y="9525"/>
                </a:moveTo>
                <a:lnTo>
                  <a:pt x="0" y="9525"/>
                </a:lnTo>
                <a:lnTo>
                  <a:pt x="0" y="0"/>
                </a:lnTo>
                <a:lnTo>
                  <a:pt x="9612000" y="0"/>
                </a:lnTo>
                <a:lnTo>
                  <a:pt x="96120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PROPUESTA</a:t>
            </a:r>
            <a:r>
              <a:rPr spc="-40" dirty="0"/>
              <a:t> </a:t>
            </a:r>
            <a:r>
              <a:rPr dirty="0"/>
              <a:t>COMERCIAL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NAVIERA</a:t>
            </a:r>
            <a:r>
              <a:rPr spc="-40" dirty="0"/>
              <a:t> </a:t>
            </a:r>
            <a:r>
              <a:rPr dirty="0"/>
              <a:t>PETRAL</a:t>
            </a:r>
            <a:r>
              <a:rPr spc="-35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GEEKSOFT</a:t>
            </a:r>
            <a:r>
              <a:rPr spc="-40" dirty="0"/>
              <a:t> </a:t>
            </a:r>
            <a:r>
              <a:rPr dirty="0"/>
              <a:t>|</a:t>
            </a:r>
            <a:r>
              <a:rPr spc="-35" dirty="0"/>
              <a:t> </a:t>
            </a:r>
            <a:r>
              <a:rPr dirty="0"/>
              <a:t>JUNIO</a:t>
            </a:r>
            <a:r>
              <a:rPr spc="-35" dirty="0"/>
              <a:t> </a:t>
            </a:r>
            <a:r>
              <a:rPr spc="-20" dirty="0"/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976</Words>
  <Application>Microsoft Office PowerPoint</Application>
  <PresentationFormat>Custom</PresentationFormat>
  <Paragraphs>199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Gutierrez</cp:lastModifiedBy>
  <cp:revision>10</cp:revision>
  <dcterms:created xsi:type="dcterms:W3CDTF">2026-06-22T22:46:25Z</dcterms:created>
  <dcterms:modified xsi:type="dcterms:W3CDTF">2026-06-23T00:03:05Z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2026-06-22T00:00:00Z</vt:filetime>
  </property>
  <property fmtid="{D5CDD505-2E9C-101B-9397-08002B2CF9AE}" pid="4" name="Producer">
    <vt:lpwstr>WeasyPrint 66.0</vt:lpwstr>
  </property>
  <property fmtid="{D5CDD505-2E9C-101B-9397-08002B2CF9AE}" pid="5" name="LastSaved">
    <vt:filetime>2026-06-22T00:00:00Z</vt:filetime>
  </property>
</Properties>
</file>