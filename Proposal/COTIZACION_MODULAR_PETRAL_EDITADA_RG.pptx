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74" r:id="rId5"/>
    <p:sldId id="259" r:id="rId6"/>
  </p:sldIdLst>
  <p:sldSz cx="10693400" cy="7562850"/>
  <p:notesSz cx="10693400" cy="7562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0F2B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45454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PROPUESTA</a:t>
            </a:r>
            <a:r>
              <a:rPr spc="-40" dirty="0"/>
              <a:t> </a:t>
            </a:r>
            <a:r>
              <a:rPr dirty="0"/>
              <a:t>COMERCIAL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NAVIERA</a:t>
            </a:r>
            <a:r>
              <a:rPr spc="-40" dirty="0"/>
              <a:t> </a:t>
            </a:r>
            <a:r>
              <a:rPr dirty="0"/>
              <a:t>PETRAL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GEEKSOFT</a:t>
            </a:r>
            <a:r>
              <a:rPr spc="-40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JUNIO</a:t>
            </a:r>
            <a:r>
              <a:rPr spc="-35" dirty="0"/>
              <a:t> </a:t>
            </a:r>
            <a:r>
              <a:rPr spc="-20" dirty="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96200" y="1458798"/>
            <a:ext cx="9100185" cy="19050"/>
          </a:xfrm>
          <a:custGeom>
            <a:avLst/>
            <a:gdLst/>
            <a:ahLst/>
            <a:cxnLst/>
            <a:rect l="l" t="t" r="r" b="b"/>
            <a:pathLst>
              <a:path w="9100185" h="19050">
                <a:moveTo>
                  <a:pt x="9099604" y="19050"/>
                </a:moveTo>
                <a:lnTo>
                  <a:pt x="0" y="19050"/>
                </a:lnTo>
                <a:lnTo>
                  <a:pt x="0" y="0"/>
                </a:lnTo>
                <a:lnTo>
                  <a:pt x="9099604" y="0"/>
                </a:lnTo>
                <a:lnTo>
                  <a:pt x="9099604" y="19050"/>
                </a:lnTo>
                <a:close/>
              </a:path>
            </a:pathLst>
          </a:custGeom>
          <a:solidFill>
            <a:srgbClr val="E2E8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0F2B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45454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PROPUESTA</a:t>
            </a:r>
            <a:r>
              <a:rPr spc="-40" dirty="0"/>
              <a:t> </a:t>
            </a:r>
            <a:r>
              <a:rPr dirty="0"/>
              <a:t>COMERCIAL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NAVIERA</a:t>
            </a:r>
            <a:r>
              <a:rPr spc="-40" dirty="0"/>
              <a:t> </a:t>
            </a:r>
            <a:r>
              <a:rPr dirty="0"/>
              <a:t>PETRAL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GEEKSOFT</a:t>
            </a:r>
            <a:r>
              <a:rPr spc="-40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JUNIO</a:t>
            </a:r>
            <a:r>
              <a:rPr spc="-35" dirty="0"/>
              <a:t> </a:t>
            </a:r>
            <a:r>
              <a:rPr spc="-20" dirty="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0F2B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45454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PROPUESTA</a:t>
            </a:r>
            <a:r>
              <a:rPr spc="-40" dirty="0"/>
              <a:t> </a:t>
            </a:r>
            <a:r>
              <a:rPr dirty="0"/>
              <a:t>COMERCIAL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NAVIERA</a:t>
            </a:r>
            <a:r>
              <a:rPr spc="-40" dirty="0"/>
              <a:t> </a:t>
            </a:r>
            <a:r>
              <a:rPr dirty="0"/>
              <a:t>PETRAL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GEEKSOFT</a:t>
            </a:r>
            <a:r>
              <a:rPr spc="-40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JUNIO</a:t>
            </a:r>
            <a:r>
              <a:rPr spc="-35" dirty="0"/>
              <a:t> </a:t>
            </a:r>
            <a:r>
              <a:rPr spc="-20" dirty="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0F2B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45454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PROPUESTA</a:t>
            </a:r>
            <a:r>
              <a:rPr spc="-40" dirty="0"/>
              <a:t> </a:t>
            </a:r>
            <a:r>
              <a:rPr dirty="0"/>
              <a:t>COMERCIAL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NAVIERA</a:t>
            </a:r>
            <a:r>
              <a:rPr spc="-40" dirty="0"/>
              <a:t> </a:t>
            </a:r>
            <a:r>
              <a:rPr dirty="0"/>
              <a:t>PETRAL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GEEKSOFT</a:t>
            </a:r>
            <a:r>
              <a:rPr spc="-40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JUNIO</a:t>
            </a:r>
            <a:r>
              <a:rPr spc="-35" dirty="0"/>
              <a:t> </a:t>
            </a:r>
            <a:r>
              <a:rPr spc="-20" dirty="0"/>
              <a:t>2026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45454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PROPUESTA</a:t>
            </a:r>
            <a:r>
              <a:rPr spc="-40" dirty="0"/>
              <a:t> </a:t>
            </a:r>
            <a:r>
              <a:rPr dirty="0"/>
              <a:t>COMERCIAL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NAVIERA</a:t>
            </a:r>
            <a:r>
              <a:rPr spc="-40" dirty="0"/>
              <a:t> </a:t>
            </a:r>
            <a:r>
              <a:rPr dirty="0"/>
              <a:t>PETRAL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GEEKSOFT</a:t>
            </a:r>
            <a:r>
              <a:rPr spc="-40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JUNIO</a:t>
            </a:r>
            <a:r>
              <a:rPr spc="-35" dirty="0"/>
              <a:t> </a:t>
            </a:r>
            <a:r>
              <a:rPr spc="-20" dirty="0"/>
              <a:t>2026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3500" y="1000760"/>
            <a:ext cx="6914515" cy="330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0F2B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58100" y="2425274"/>
            <a:ext cx="9176385" cy="44138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052511" y="7008524"/>
            <a:ext cx="4589145" cy="1803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545454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PROPUESTA</a:t>
            </a:r>
            <a:r>
              <a:rPr spc="-40" dirty="0"/>
              <a:t> </a:t>
            </a:r>
            <a:r>
              <a:rPr dirty="0"/>
              <a:t>COMERCIAL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NAVIERA</a:t>
            </a:r>
            <a:r>
              <a:rPr spc="-40" dirty="0"/>
              <a:t> </a:t>
            </a:r>
            <a:r>
              <a:rPr dirty="0"/>
              <a:t>PETRAL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GEEKSOFT</a:t>
            </a:r>
            <a:r>
              <a:rPr spc="-40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JUNIO</a:t>
            </a:r>
            <a:r>
              <a:rPr spc="-35" dirty="0"/>
              <a:t> </a:t>
            </a:r>
            <a:r>
              <a:rPr spc="-20" dirty="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3500" y="1000760"/>
            <a:ext cx="966860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Propuesta</a:t>
            </a:r>
            <a:r>
              <a:rPr spc="-35" dirty="0"/>
              <a:t> </a:t>
            </a:r>
            <a:r>
              <a:rPr dirty="0" err="1"/>
              <a:t>Comercial</a:t>
            </a:r>
            <a:r>
              <a:rPr spc="-35" dirty="0"/>
              <a:t> </a:t>
            </a:r>
            <a:r>
              <a:rPr dirty="0"/>
              <a:t>Modular</a:t>
            </a:r>
            <a:r>
              <a:rPr lang="es-MX" dirty="0"/>
              <a:t> PROYECTAR &amp; COTIZAR</a:t>
            </a:r>
            <a:r>
              <a:rPr spc="-35" dirty="0"/>
              <a:t> </a:t>
            </a:r>
            <a:r>
              <a:rPr dirty="0"/>
              <a:t>-</a:t>
            </a:r>
            <a:r>
              <a:rPr spc="-35" dirty="0"/>
              <a:t> </a:t>
            </a:r>
            <a:r>
              <a:rPr dirty="0"/>
              <a:t>Naviera</a:t>
            </a:r>
            <a:r>
              <a:rPr spc="-35" dirty="0"/>
              <a:t> </a:t>
            </a:r>
            <a:r>
              <a:rPr dirty="0" err="1"/>
              <a:t>Petral</a:t>
            </a:r>
            <a:endParaRPr spc="-25" dirty="0"/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284697"/>
              </p:ext>
            </p:extLst>
          </p:nvPr>
        </p:nvGraphicFramePr>
        <p:xfrm>
          <a:off x="801280" y="1574482"/>
          <a:ext cx="9090024" cy="523589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41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1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25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80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9330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Etapa</a:t>
                      </a:r>
                      <a:endParaRPr sz="1100" dirty="0">
                        <a:latin typeface="Verdana"/>
                        <a:cs typeface="Verdana"/>
                      </a:endParaRPr>
                    </a:p>
                  </a:txBody>
                  <a:tcPr marL="0" marR="0" marT="83185" marB="0">
                    <a:solidFill>
                      <a:srgbClr val="0F2B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Descripción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83185" marB="0">
                    <a:solidFill>
                      <a:srgbClr val="0F2B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Comentarios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83185" marB="0">
                    <a:solidFill>
                      <a:srgbClr val="0F2B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325755" indent="0" algn="ctr" defTabSz="1260475">
                        <a:lnSpc>
                          <a:spcPct val="133300"/>
                        </a:lnSpc>
                        <a:spcBef>
                          <a:spcPts val="600"/>
                        </a:spcBef>
                      </a:pPr>
                      <a:r>
                        <a:rPr sz="105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Tarifa </a:t>
                      </a:r>
                      <a:r>
                        <a:rPr lang="es-MX" sz="105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 (USD/</a:t>
                      </a:r>
                      <a:r>
                        <a:rPr lang="es-MX" sz="1050" b="1" spc="-10" dirty="0" err="1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hr</a:t>
                      </a:r>
                      <a:r>
                        <a:rPr lang="es-MX" sz="105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)</a:t>
                      </a:r>
                      <a:endParaRPr sz="1050" dirty="0">
                        <a:latin typeface="Verdana"/>
                        <a:cs typeface="Verdana"/>
                      </a:endParaRPr>
                    </a:p>
                  </a:txBody>
                  <a:tcPr marL="0" marR="0" marT="76200" marB="0">
                    <a:solidFill>
                      <a:srgbClr val="0F2B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Horas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83185" marB="0">
                    <a:solidFill>
                      <a:srgbClr val="0F2B59"/>
                    </a:solidFill>
                  </a:tcPr>
                </a:tc>
                <a:tc>
                  <a:txBody>
                    <a:bodyPr/>
                    <a:lstStyle/>
                    <a:p>
                      <a:pPr marL="476884" marR="280670" indent="-189230">
                        <a:lnSpc>
                          <a:spcPct val="133300"/>
                        </a:lnSpc>
                        <a:spcBef>
                          <a:spcPts val="600"/>
                        </a:spcBef>
                      </a:pPr>
                      <a:r>
                        <a:rPr sz="1100" b="1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Total </a:t>
                      </a:r>
                      <a:r>
                        <a:rPr sz="1100" b="1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sin IGV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6200" marB="0">
                    <a:solidFill>
                      <a:srgbClr val="0F2B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01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</a:pPr>
                      <a:r>
                        <a:rPr sz="1100" b="1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1:</a:t>
                      </a:r>
                      <a:r>
                        <a:rPr sz="1100" b="1" spc="-25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spc="-10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Diseño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8745" marR="245745">
                        <a:lnSpc>
                          <a:spcPct val="133300"/>
                        </a:lnSpc>
                        <a:spcBef>
                          <a:spcPts val="715"/>
                        </a:spcBef>
                      </a:pP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Diseño</a:t>
                      </a:r>
                      <a:r>
                        <a:rPr sz="1100" b="1" spc="-35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100" b="1" spc="-35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Herramienta</a:t>
                      </a:r>
                      <a:r>
                        <a:rPr sz="1100" b="1" spc="-30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spc="-25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de </a:t>
                      </a: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Forecast:</a:t>
                      </a:r>
                      <a:r>
                        <a:rPr sz="1100" b="1" spc="-15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Definición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la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interfaz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5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y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lógica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para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proyectar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ventas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y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hacer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P&amp;L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nivel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Gross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Margin.</a:t>
                      </a:r>
                      <a:endParaRPr sz="1100" dirty="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118745" marR="289560">
                        <a:lnSpc>
                          <a:spcPct val="133300"/>
                        </a:lnSpc>
                      </a:pP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Diseño</a:t>
                      </a:r>
                      <a:r>
                        <a:rPr sz="1100" b="1" spc="-35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100" b="1" spc="-35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Herramienta</a:t>
                      </a:r>
                      <a:r>
                        <a:rPr sz="1100" b="1" spc="-30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spc="-25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de </a:t>
                      </a:r>
                      <a:r>
                        <a:rPr sz="1100" b="1" spc="-10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Cotización</a:t>
                      </a:r>
                      <a:r>
                        <a:rPr sz="1100" b="1" spc="-40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(Proformador</a:t>
                      </a:r>
                      <a:r>
                        <a:rPr sz="1100" b="1" spc="-30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spc="-10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SPOT):</a:t>
                      </a:r>
                      <a:endParaRPr sz="1100" dirty="0">
                        <a:latin typeface="Verdana"/>
                        <a:cs typeface="Verdana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Definición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la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interfaz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para</a:t>
                      </a:r>
                      <a:endParaRPr sz="1100" dirty="0">
                        <a:latin typeface="Verdana"/>
                        <a:cs typeface="Verdana"/>
                      </a:endParaRPr>
                    </a:p>
                    <a:p>
                      <a:pPr marL="118745" marR="362585">
                        <a:lnSpc>
                          <a:spcPct val="133300"/>
                        </a:lnSpc>
                      </a:pP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estructurar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paquetes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viajes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que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maximicen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la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rentabilidad.</a:t>
                      </a:r>
                      <a:endParaRPr sz="1100" dirty="0">
                        <a:latin typeface="Verdana"/>
                        <a:cs typeface="Verdana"/>
                      </a:endParaRPr>
                    </a:p>
                  </a:txBody>
                  <a:tcPr marL="0" marR="0" marT="90805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118745" marR="215265">
                        <a:lnSpc>
                          <a:spcPct val="133300"/>
                        </a:lnSpc>
                      </a:pP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Las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siguientes etapas</a:t>
                      </a:r>
                      <a:endParaRPr sz="1100" dirty="0">
                        <a:latin typeface="Verdana"/>
                        <a:cs typeface="Verdana"/>
                      </a:endParaRPr>
                    </a:p>
                    <a:p>
                      <a:pPr marL="118745" marR="170815">
                        <a:lnSpc>
                          <a:spcPct val="133300"/>
                        </a:lnSpc>
                      </a:pP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requerirán</a:t>
                      </a:r>
                      <a:r>
                        <a:rPr sz="1100" spc="-6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un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costo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adicional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diseño 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para </a:t>
                      </a:r>
                      <a:r>
                        <a:rPr lang="es-MX"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MEDIR &amp; MEJORAR</a:t>
                      </a:r>
                      <a:endParaRPr sz="1100" dirty="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MX" sz="1100" b="1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125</a:t>
                      </a:r>
                      <a:endParaRPr sz="1100" dirty="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MX" sz="1100" b="1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100" dirty="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MX" sz="1100" b="1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1,250</a:t>
                      </a:r>
                      <a:endParaRPr sz="1100" dirty="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247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</a:pPr>
                      <a:r>
                        <a:rPr sz="1100" b="1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2:</a:t>
                      </a:r>
                      <a:r>
                        <a:rPr sz="1100" b="1" spc="-25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spc="-10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Desarrollo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18745" marR="135255" algn="just">
                        <a:lnSpc>
                          <a:spcPct val="133300"/>
                        </a:lnSpc>
                        <a:spcBef>
                          <a:spcPts val="715"/>
                        </a:spcBef>
                      </a:pP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Stack</a:t>
                      </a:r>
                      <a:r>
                        <a:rPr sz="1100" b="1" spc="-55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Tecnológico:</a:t>
                      </a:r>
                      <a:r>
                        <a:rPr sz="1100" b="1" spc="-45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Construcción</a:t>
                      </a:r>
                      <a:r>
                        <a:rPr sz="1100" spc="-5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del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software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conectando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la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base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datos (Supabase)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con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un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frontend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rápido</a:t>
                      </a:r>
                      <a:endParaRPr sz="1100" dirty="0">
                        <a:latin typeface="Verdana"/>
                        <a:cs typeface="Verdana"/>
                      </a:endParaRPr>
                    </a:p>
                    <a:p>
                      <a:pPr marL="118745" algn="just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(Vite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+</a:t>
                      </a:r>
                      <a:r>
                        <a:rPr sz="11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React</a:t>
                      </a:r>
                      <a:r>
                        <a:rPr sz="11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+</a:t>
                      </a:r>
                      <a:r>
                        <a:rPr sz="11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Tailwind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+</a:t>
                      </a:r>
                      <a:r>
                        <a:rPr sz="11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 err="1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ECharts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).</a:t>
                      </a:r>
                      <a:endParaRPr lang="es-MX" sz="1100" spc="-10" dirty="0">
                        <a:solidFill>
                          <a:srgbClr val="465469"/>
                        </a:solidFill>
                        <a:latin typeface="Verdana"/>
                        <a:cs typeface="Verdana"/>
                      </a:endParaRPr>
                    </a:p>
                    <a:p>
                      <a:pPr marL="118745" algn="just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lang="es-PE" sz="1100" spc="-10" dirty="0">
                        <a:solidFill>
                          <a:srgbClr val="465469"/>
                        </a:solidFill>
                        <a:latin typeface="Verdana"/>
                        <a:cs typeface="Verdana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lang="es-MX"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Lógica</a:t>
                      </a:r>
                      <a:r>
                        <a:rPr lang="es-MX" sz="1100" b="1" spc="-45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lang="es-MX"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Matemática:</a:t>
                      </a:r>
                      <a:r>
                        <a:rPr lang="es-MX" sz="1100" b="1" spc="-35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lang="es-MX"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Programación</a:t>
                      </a:r>
                      <a:endParaRPr lang="es-MX" sz="1100" dirty="0">
                        <a:latin typeface="Verdana"/>
                        <a:cs typeface="Verdana"/>
                      </a:endParaRPr>
                    </a:p>
                    <a:p>
                      <a:pPr marL="118745" marR="361315">
                        <a:lnSpc>
                          <a:spcPct val="133300"/>
                        </a:lnSpc>
                      </a:pPr>
                      <a:r>
                        <a:rPr lang="es-MX"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lang="es-MX"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lang="es-MX"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algoritmos</a:t>
                      </a:r>
                      <a:r>
                        <a:rPr lang="es-MX"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lang="es-MX"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y</a:t>
                      </a:r>
                      <a:r>
                        <a:rPr lang="es-MX"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lang="es-MX" sz="1100" dirty="0" err="1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APIs</a:t>
                      </a:r>
                      <a:r>
                        <a:rPr lang="es-MX"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lang="es-MX"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para</a:t>
                      </a:r>
                      <a:r>
                        <a:rPr lang="es-MX"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lang="es-MX"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cálculos </a:t>
                      </a:r>
                      <a:r>
                        <a:rPr lang="es-MX"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avanzados</a:t>
                      </a:r>
                      <a:r>
                        <a:rPr lang="es-MX"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lang="es-MX"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y</a:t>
                      </a:r>
                      <a:r>
                        <a:rPr lang="es-MX"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lang="es-MX"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creación</a:t>
                      </a:r>
                      <a:r>
                        <a:rPr lang="es-MX"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lang="es-MX"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lang="es-MX"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lang="es-MX"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pantallas.</a:t>
                      </a:r>
                      <a:endParaRPr lang="es-MX" sz="1100" dirty="0">
                        <a:latin typeface="Verdana"/>
                        <a:cs typeface="Verdana"/>
                      </a:endParaRPr>
                    </a:p>
                    <a:p>
                      <a:pPr marL="118745" algn="just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1100" dirty="0">
                        <a:latin typeface="Verdana"/>
                        <a:cs typeface="Verdana"/>
                      </a:endParaRPr>
                    </a:p>
                  </a:txBody>
                  <a:tcPr marL="0" marR="0" marT="90805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18745" marR="215265">
                        <a:lnSpc>
                          <a:spcPct val="133300"/>
                        </a:lnSpc>
                        <a:spcBef>
                          <a:spcPts val="715"/>
                        </a:spcBef>
                      </a:pPr>
                      <a:r>
                        <a:rPr lang="es-MX"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Si se toman la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 err="1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siguientes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 err="1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etapas</a:t>
                      </a:r>
                      <a:r>
                        <a:rPr lang="es-MX"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se</a:t>
                      </a:r>
                      <a:r>
                        <a:rPr lang="es-MX" sz="1100" spc="0" dirty="0">
                          <a:solidFill>
                            <a:schemeClr val="tx1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lang="es-PE"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sz="1100" spc="-10" dirty="0" err="1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equerirán</a:t>
                      </a:r>
                      <a:r>
                        <a:rPr lang="es-MX"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nuevos desarrollos.</a:t>
                      </a:r>
                    </a:p>
                    <a:p>
                      <a:pPr marL="118745" marR="215265">
                        <a:lnSpc>
                          <a:spcPct val="133300"/>
                        </a:lnSpc>
                        <a:spcBef>
                          <a:spcPts val="715"/>
                        </a:spcBef>
                      </a:pPr>
                      <a:r>
                        <a:rPr lang="es-MX"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Se incluye la lógica central para futuros desarrollos y 3 reportes gráficos a elección del cliente</a:t>
                      </a:r>
                      <a:endParaRPr sz="1100" dirty="0">
                        <a:latin typeface="Verdana"/>
                        <a:cs typeface="Verdana"/>
                      </a:endParaRPr>
                    </a:p>
                  </a:txBody>
                  <a:tcPr marL="0" marR="0" marT="90805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MX" sz="1100" b="1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50</a:t>
                      </a:r>
                      <a:endParaRPr sz="1100" dirty="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MX" sz="1100" b="1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80</a:t>
                      </a:r>
                      <a:endParaRPr sz="1100" dirty="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MX" sz="1100" b="1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4,000</a:t>
                      </a:r>
                      <a:endParaRPr sz="1100" dirty="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09999" y="360000"/>
            <a:ext cx="762000" cy="762000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720000" y="6939648"/>
            <a:ext cx="9252585" cy="9525"/>
          </a:xfrm>
          <a:custGeom>
            <a:avLst/>
            <a:gdLst/>
            <a:ahLst/>
            <a:cxnLst/>
            <a:rect l="l" t="t" r="r" b="b"/>
            <a:pathLst>
              <a:path w="9252585" h="9525">
                <a:moveTo>
                  <a:pt x="9252004" y="9525"/>
                </a:moveTo>
                <a:lnTo>
                  <a:pt x="0" y="9525"/>
                </a:lnTo>
                <a:lnTo>
                  <a:pt x="0" y="0"/>
                </a:lnTo>
                <a:lnTo>
                  <a:pt x="9252004" y="0"/>
                </a:lnTo>
                <a:lnTo>
                  <a:pt x="9252004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PROPUESTA</a:t>
            </a:r>
            <a:r>
              <a:rPr spc="-40" dirty="0"/>
              <a:t> </a:t>
            </a:r>
            <a:r>
              <a:rPr dirty="0"/>
              <a:t>COMERCIAL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NAVIERA</a:t>
            </a:r>
            <a:r>
              <a:rPr spc="-40" dirty="0"/>
              <a:t> </a:t>
            </a:r>
            <a:r>
              <a:rPr dirty="0"/>
              <a:t>PETRAL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GEEKSOFT</a:t>
            </a:r>
            <a:r>
              <a:rPr spc="-40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JUNIO</a:t>
            </a:r>
            <a:r>
              <a:rPr spc="-35" dirty="0"/>
              <a:t> </a:t>
            </a:r>
            <a:r>
              <a:rPr spc="-20" dirty="0"/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1161280"/>
              </p:ext>
            </p:extLst>
          </p:nvPr>
        </p:nvGraphicFramePr>
        <p:xfrm>
          <a:off x="796200" y="895237"/>
          <a:ext cx="9090024" cy="47028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41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1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4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59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50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515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Etapa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83185" marB="0">
                    <a:solidFill>
                      <a:srgbClr val="0F2B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Descripción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83185" marB="0">
                    <a:solidFill>
                      <a:srgbClr val="0F2B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Comentarios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83185" marB="0">
                    <a:solidFill>
                      <a:srgbClr val="0F2B59"/>
                    </a:solidFill>
                  </a:tcPr>
                </a:tc>
                <a:tc>
                  <a:txBody>
                    <a:bodyPr/>
                    <a:lstStyle/>
                    <a:p>
                      <a:pPr marL="333375" marR="325755" indent="63500">
                        <a:lnSpc>
                          <a:spcPct val="133300"/>
                        </a:lnSpc>
                        <a:spcBef>
                          <a:spcPts val="600"/>
                        </a:spcBef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Tarifa Horaria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6200" marB="0">
                    <a:solidFill>
                      <a:srgbClr val="0F2B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Horas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83185" marB="0">
                    <a:solidFill>
                      <a:srgbClr val="0F2B59"/>
                    </a:solidFill>
                  </a:tcPr>
                </a:tc>
                <a:tc>
                  <a:txBody>
                    <a:bodyPr/>
                    <a:lstStyle/>
                    <a:p>
                      <a:pPr marL="476884" marR="280670" indent="-189230">
                        <a:lnSpc>
                          <a:spcPct val="133300"/>
                        </a:lnSpc>
                        <a:spcBef>
                          <a:spcPts val="600"/>
                        </a:spcBef>
                      </a:pPr>
                      <a:r>
                        <a:rPr sz="1100" b="1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Total </a:t>
                      </a:r>
                      <a:r>
                        <a:rPr sz="1100" b="1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sin IGV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6200" marB="0">
                    <a:solidFill>
                      <a:srgbClr val="0F2B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21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</a:pPr>
                      <a:r>
                        <a:rPr sz="1100" b="1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3:</a:t>
                      </a:r>
                      <a:r>
                        <a:rPr sz="1100" b="1" spc="-20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ETL</a:t>
                      </a:r>
                      <a:r>
                        <a:rPr sz="1100" b="1" spc="-15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spc="-10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(Carga)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 cap="flat" cmpd="sng" algn="ctr">
                      <a:solidFill>
                        <a:srgbClr val="CAD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8745" marR="563880" algn="just">
                        <a:lnSpc>
                          <a:spcPct val="133300"/>
                        </a:lnSpc>
                        <a:spcBef>
                          <a:spcPts val="715"/>
                        </a:spcBef>
                      </a:pP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Alcance</a:t>
                      </a:r>
                      <a:r>
                        <a:rPr sz="1100" b="1" spc="-55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100" b="1" spc="-55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Carga:</a:t>
                      </a:r>
                      <a:r>
                        <a:rPr sz="1100" b="1" spc="-45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Integración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exclusiva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la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data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operativa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5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y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comercial</a:t>
                      </a:r>
                      <a:r>
                        <a:rPr sz="1100" spc="-4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del</a:t>
                      </a:r>
                      <a:r>
                        <a:rPr sz="1100" spc="-4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año</a:t>
                      </a:r>
                      <a:r>
                        <a:rPr sz="1100" spc="-4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2026.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</a:pP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Proceso</a:t>
                      </a:r>
                      <a:r>
                        <a:rPr sz="1100" b="1" spc="-10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ETL: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Extracción,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Transformación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y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Carga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desde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los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archivos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Excel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actuales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Supabase.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90805" marB="0">
                    <a:lnL w="9525" cap="flat" cmpd="sng" algn="ctr">
                      <a:solidFill>
                        <a:srgbClr val="CAD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</a:pP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Solo 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se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118745" marR="342265">
                        <a:lnSpc>
                          <a:spcPct val="133300"/>
                        </a:lnSpc>
                      </a:pP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cargarán</a:t>
                      </a:r>
                      <a:r>
                        <a:rPr sz="1100" spc="-5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los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meses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118745" marR="236220">
                        <a:lnSpc>
                          <a:spcPct val="133300"/>
                        </a:lnSpc>
                      </a:pP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transcurridos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del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año</a:t>
                      </a:r>
                      <a:r>
                        <a:rPr sz="11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2026.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CAD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MX" sz="1100" b="1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50</a:t>
                      </a:r>
                      <a:endParaRPr sz="1100" dirty="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CAD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MX" sz="1100" b="1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100" dirty="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CAD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MX" sz="1100" b="1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500</a:t>
                      </a:r>
                      <a:endParaRPr sz="1100" dirty="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CAD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91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</a:pPr>
                      <a:r>
                        <a:rPr sz="1100" b="1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4:</a:t>
                      </a:r>
                      <a:r>
                        <a:rPr sz="1100" b="1" spc="-25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spc="-10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Onboarding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1155"/>
                        </a:spcBef>
                      </a:pP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Entrenamiento </a:t>
                      </a:r>
                      <a:r>
                        <a:rPr sz="1100" b="1" spc="-10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Operativo: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118745" marR="160655">
                        <a:lnSpc>
                          <a:spcPct val="133300"/>
                        </a:lnSpc>
                      </a:pP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Capacitación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directa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los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usuarios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en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el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uso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la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nueva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plataforma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web.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</a:pP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Usuarios</a:t>
                      </a:r>
                      <a:r>
                        <a:rPr sz="1100" b="1" spc="-40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spc="-10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Clave: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243840" indent="-125095">
                        <a:lnSpc>
                          <a:spcPct val="100000"/>
                        </a:lnSpc>
                        <a:spcBef>
                          <a:spcPts val="440"/>
                        </a:spcBef>
                        <a:buChar char="•"/>
                        <a:tabLst>
                          <a:tab pos="243840" algn="l"/>
                        </a:tabLst>
                      </a:pP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Jorge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Neyra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243840" indent="-125095">
                        <a:lnSpc>
                          <a:spcPct val="100000"/>
                        </a:lnSpc>
                        <a:spcBef>
                          <a:spcPts val="440"/>
                        </a:spcBef>
                        <a:buChar char="•"/>
                        <a:tabLst>
                          <a:tab pos="243840" algn="l"/>
                        </a:tabLst>
                      </a:pP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Maria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Elena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Castro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243840" indent="-125095">
                        <a:lnSpc>
                          <a:spcPct val="100000"/>
                        </a:lnSpc>
                        <a:spcBef>
                          <a:spcPts val="440"/>
                        </a:spcBef>
                        <a:buChar char="•"/>
                        <a:tabLst>
                          <a:tab pos="243840" algn="l"/>
                        </a:tabLst>
                      </a:pP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Fernando</a:t>
                      </a:r>
                      <a:r>
                        <a:rPr sz="1100" spc="-8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Harten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243840" indent="-125095">
                        <a:lnSpc>
                          <a:spcPct val="100000"/>
                        </a:lnSpc>
                        <a:spcBef>
                          <a:spcPts val="440"/>
                        </a:spcBef>
                        <a:buChar char="•"/>
                        <a:tabLst>
                          <a:tab pos="243840" algn="l"/>
                        </a:tabLst>
                      </a:pP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Iosef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Zavala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46685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18745" marR="241300">
                        <a:lnSpc>
                          <a:spcPct val="133300"/>
                        </a:lnSpc>
                      </a:pP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El</a:t>
                      </a:r>
                      <a:r>
                        <a:rPr sz="11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onboarding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será</a:t>
                      </a:r>
                      <a:r>
                        <a:rPr sz="11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en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su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118745" marR="366395">
                        <a:lnSpc>
                          <a:spcPct val="133300"/>
                        </a:lnSpc>
                      </a:pP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mayoría presencial</a:t>
                      </a:r>
                      <a:r>
                        <a:rPr sz="1100" spc="-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5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elección 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del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cliente.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MX" sz="1100" b="1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50</a:t>
                      </a:r>
                      <a:endParaRPr sz="1100" dirty="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MX" sz="1100" b="1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100" dirty="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MX" sz="1100" b="1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500</a:t>
                      </a:r>
                      <a:endParaRPr sz="1100" dirty="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09999" y="360000"/>
            <a:ext cx="762000" cy="76200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720000" y="6939648"/>
            <a:ext cx="9252585" cy="9525"/>
          </a:xfrm>
          <a:custGeom>
            <a:avLst/>
            <a:gdLst/>
            <a:ahLst/>
            <a:cxnLst/>
            <a:rect l="l" t="t" r="r" b="b"/>
            <a:pathLst>
              <a:path w="9252585" h="9525">
                <a:moveTo>
                  <a:pt x="9252004" y="9525"/>
                </a:moveTo>
                <a:lnTo>
                  <a:pt x="0" y="9525"/>
                </a:lnTo>
                <a:lnTo>
                  <a:pt x="0" y="0"/>
                </a:lnTo>
                <a:lnTo>
                  <a:pt x="9252004" y="0"/>
                </a:lnTo>
                <a:lnTo>
                  <a:pt x="9252004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PROPUESTA</a:t>
            </a:r>
            <a:r>
              <a:rPr spc="-40" dirty="0"/>
              <a:t> </a:t>
            </a:r>
            <a:r>
              <a:rPr dirty="0"/>
              <a:t>COMERCIAL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NAVIERA</a:t>
            </a:r>
            <a:r>
              <a:rPr spc="-40" dirty="0"/>
              <a:t> </a:t>
            </a:r>
            <a:r>
              <a:rPr dirty="0"/>
              <a:t>PETRAL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GEEKSOFT</a:t>
            </a:r>
            <a:r>
              <a:rPr spc="-40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JUNIO</a:t>
            </a:r>
            <a:r>
              <a:rPr spc="-35" dirty="0"/>
              <a:t> </a:t>
            </a:r>
            <a:r>
              <a:rPr spc="-20" dirty="0"/>
              <a:t>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061940"/>
              </p:ext>
            </p:extLst>
          </p:nvPr>
        </p:nvGraphicFramePr>
        <p:xfrm>
          <a:off x="796200" y="895237"/>
          <a:ext cx="9090024" cy="36331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41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1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42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33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59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50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515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Etapa</a:t>
                      </a:r>
                      <a:endParaRPr sz="1100" dirty="0">
                        <a:latin typeface="Verdana"/>
                        <a:cs typeface="Verdana"/>
                      </a:endParaRPr>
                    </a:p>
                  </a:txBody>
                  <a:tcPr marL="0" marR="0" marT="83185" marB="0">
                    <a:solidFill>
                      <a:srgbClr val="0F2B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Descripción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83185" marB="0">
                    <a:solidFill>
                      <a:srgbClr val="0F2B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Comentarios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83185" marB="0">
                    <a:solidFill>
                      <a:srgbClr val="0F2B59"/>
                    </a:solidFill>
                  </a:tcPr>
                </a:tc>
                <a:tc>
                  <a:txBody>
                    <a:bodyPr/>
                    <a:lstStyle/>
                    <a:p>
                      <a:pPr marL="333375" marR="325755" indent="63500">
                        <a:lnSpc>
                          <a:spcPct val="133300"/>
                        </a:lnSpc>
                        <a:spcBef>
                          <a:spcPts val="600"/>
                        </a:spcBef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Tarifa Horaria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6200" marB="0">
                    <a:solidFill>
                      <a:srgbClr val="0F2B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Horas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83185" marB="0">
                    <a:solidFill>
                      <a:srgbClr val="0F2B59"/>
                    </a:solidFill>
                  </a:tcPr>
                </a:tc>
                <a:tc>
                  <a:txBody>
                    <a:bodyPr/>
                    <a:lstStyle/>
                    <a:p>
                      <a:pPr marL="476884" marR="280670" indent="-189230">
                        <a:lnSpc>
                          <a:spcPct val="133300"/>
                        </a:lnSpc>
                        <a:spcBef>
                          <a:spcPts val="600"/>
                        </a:spcBef>
                      </a:pPr>
                      <a:r>
                        <a:rPr sz="1100" b="1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Total </a:t>
                      </a:r>
                      <a:r>
                        <a:rPr sz="1100" b="1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sin IGV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6200" marB="0">
                    <a:solidFill>
                      <a:srgbClr val="0F2B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256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</a:pPr>
                      <a:r>
                        <a:rPr sz="1100" b="1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5:</a:t>
                      </a:r>
                      <a:r>
                        <a:rPr sz="1100" b="1" spc="-25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In</a:t>
                      </a:r>
                      <a:r>
                        <a:rPr sz="1100" b="1" spc="-25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spc="-20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Situ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1155"/>
                        </a:spcBef>
                      </a:pP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Soporte</a:t>
                      </a:r>
                      <a:r>
                        <a:rPr sz="1100" b="1" spc="-5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Presencial</a:t>
                      </a:r>
                      <a:r>
                        <a:rPr sz="1100" b="1" spc="-5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spc="-10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(Go-Live):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118745" marR="168910">
                        <a:lnSpc>
                          <a:spcPct val="133300"/>
                        </a:lnSpc>
                      </a:pP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Acompañamiento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directo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en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la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oficina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operando</a:t>
                      </a:r>
                      <a:r>
                        <a:rPr sz="1100" spc="-4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la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plataforma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real.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</a:pP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Convivencia</a:t>
                      </a:r>
                      <a:r>
                        <a:rPr sz="1100" b="1" spc="-10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"Dos</a:t>
                      </a:r>
                      <a:r>
                        <a:rPr sz="1100" b="1" spc="-10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Mundos":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Comparación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en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paralelo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los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118745" marR="278765">
                        <a:lnSpc>
                          <a:spcPct val="133300"/>
                        </a:lnSpc>
                      </a:pP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resultados</a:t>
                      </a:r>
                      <a:r>
                        <a:rPr sz="1100" spc="-4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del</a:t>
                      </a:r>
                      <a:r>
                        <a:rPr sz="1100" spc="-4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nuevo</a:t>
                      </a:r>
                      <a:r>
                        <a:rPr sz="1100" spc="-4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software</a:t>
                      </a:r>
                      <a:r>
                        <a:rPr sz="1100" spc="-4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vs.</a:t>
                      </a:r>
                      <a:r>
                        <a:rPr sz="1100" spc="-4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el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Excel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actual.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46685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</a:pPr>
                      <a:r>
                        <a:rPr lang="es-MX"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Se conciliará los resultados de EXCEL sean convergentes con los del sistema y asistirá a los usuarios hasta que no hayan inconsistencias ni BUGS</a:t>
                      </a:r>
                      <a:endParaRPr sz="1100" dirty="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MX" sz="1100" b="1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50</a:t>
                      </a:r>
                      <a:endParaRPr sz="1100" dirty="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MX" sz="1100" b="1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100" dirty="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351155">
                        <a:lnSpc>
                          <a:spcPct val="100000"/>
                        </a:lnSpc>
                      </a:pPr>
                      <a:r>
                        <a:rPr lang="es-MX" sz="1100" b="1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500</a:t>
                      </a:r>
                      <a:endParaRPr sz="1100" dirty="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228"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1100" dirty="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 cap="flat" cmpd="sng" algn="ctr">
                      <a:solidFill>
                        <a:srgbClr val="CAD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1100" dirty="0">
                        <a:latin typeface="Verdana"/>
                        <a:cs typeface="Verdana"/>
                      </a:endParaRPr>
                    </a:p>
                  </a:txBody>
                  <a:tcPr marL="0" marR="0" marT="90805" marB="0">
                    <a:lnL w="9525" cap="flat" cmpd="sng" algn="ctr">
                      <a:solidFill>
                        <a:srgbClr val="CAD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8745" marR="220979" algn="just">
                        <a:lnSpc>
                          <a:spcPct val="133300"/>
                        </a:lnSpc>
                      </a:pPr>
                      <a:endParaRPr sz="1100" dirty="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9525" cap="flat" cmpd="sng" algn="ctr">
                      <a:solidFill>
                        <a:srgbClr val="CAD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1100" dirty="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CAD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MX" sz="1100" dirty="0">
                          <a:latin typeface="Verdana"/>
                          <a:cs typeface="Verdana"/>
                        </a:rPr>
                        <a:t>Total</a:t>
                      </a:r>
                      <a:endParaRPr sz="1100" dirty="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CAD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33070" marR="309245" indent="-116205">
                        <a:lnSpc>
                          <a:spcPct val="133300"/>
                        </a:lnSpc>
                      </a:pPr>
                      <a:endParaRPr sz="1100" dirty="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CAD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 cap="flat" cmpd="sng" algn="ctr">
                      <a:solidFill>
                        <a:srgbClr val="CAD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7330327"/>
                  </a:ext>
                </a:extLst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09999" y="360000"/>
            <a:ext cx="762000" cy="76200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720000" y="6939648"/>
            <a:ext cx="9252585" cy="9525"/>
          </a:xfrm>
          <a:custGeom>
            <a:avLst/>
            <a:gdLst/>
            <a:ahLst/>
            <a:cxnLst/>
            <a:rect l="l" t="t" r="r" b="b"/>
            <a:pathLst>
              <a:path w="9252585" h="9525">
                <a:moveTo>
                  <a:pt x="9252004" y="9525"/>
                </a:moveTo>
                <a:lnTo>
                  <a:pt x="0" y="9525"/>
                </a:lnTo>
                <a:lnTo>
                  <a:pt x="0" y="0"/>
                </a:lnTo>
                <a:lnTo>
                  <a:pt x="9252004" y="0"/>
                </a:lnTo>
                <a:lnTo>
                  <a:pt x="9252004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PROPUESTA</a:t>
            </a:r>
            <a:r>
              <a:rPr spc="-40" dirty="0"/>
              <a:t> </a:t>
            </a:r>
            <a:r>
              <a:rPr dirty="0"/>
              <a:t>COMERCIAL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NAVIERA</a:t>
            </a:r>
            <a:r>
              <a:rPr spc="-40" dirty="0"/>
              <a:t> </a:t>
            </a:r>
            <a:r>
              <a:rPr dirty="0"/>
              <a:t>PETRAL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GEEKSOFT</a:t>
            </a:r>
            <a:r>
              <a:rPr spc="-40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JUNIO</a:t>
            </a:r>
            <a:r>
              <a:rPr spc="-35" dirty="0"/>
              <a:t> </a:t>
            </a:r>
            <a:r>
              <a:rPr spc="-20" dirty="0"/>
              <a:t>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052E604-D915-F758-D3B9-69B10A9F4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6AED5FA9-F51E-0128-1AAE-6C9EDB054E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8016016"/>
              </p:ext>
            </p:extLst>
          </p:nvPr>
        </p:nvGraphicFramePr>
        <p:xfrm>
          <a:off x="796200" y="895237"/>
          <a:ext cx="9090024" cy="28408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41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1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4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59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50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515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Etapa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83185" marB="0">
                    <a:solidFill>
                      <a:srgbClr val="0F2B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Descripción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83185" marB="0">
                    <a:solidFill>
                      <a:srgbClr val="0F2B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Comentarios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83185" marB="0">
                    <a:solidFill>
                      <a:srgbClr val="0F2B59"/>
                    </a:solidFill>
                  </a:tcPr>
                </a:tc>
                <a:tc>
                  <a:txBody>
                    <a:bodyPr/>
                    <a:lstStyle/>
                    <a:p>
                      <a:pPr marL="333375" marR="325755" indent="63500">
                        <a:lnSpc>
                          <a:spcPct val="133300"/>
                        </a:lnSpc>
                        <a:spcBef>
                          <a:spcPts val="600"/>
                        </a:spcBef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Tarifa Horaria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6200" marB="0">
                    <a:solidFill>
                      <a:srgbClr val="0F2B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Horas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83185" marB="0">
                    <a:solidFill>
                      <a:srgbClr val="0F2B59"/>
                    </a:solidFill>
                  </a:tcPr>
                </a:tc>
                <a:tc>
                  <a:txBody>
                    <a:bodyPr/>
                    <a:lstStyle/>
                    <a:p>
                      <a:pPr marL="476884" marR="280670" indent="-189230">
                        <a:lnSpc>
                          <a:spcPct val="133300"/>
                        </a:lnSpc>
                        <a:spcBef>
                          <a:spcPts val="600"/>
                        </a:spcBef>
                      </a:pPr>
                      <a:r>
                        <a:rPr sz="1100" b="1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Total </a:t>
                      </a:r>
                      <a:r>
                        <a:rPr sz="1100" b="1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sin IGV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6200" marB="0">
                    <a:solidFill>
                      <a:srgbClr val="0F2B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27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</a:pPr>
                      <a:r>
                        <a:rPr sz="1100" b="1" spc="-25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6:</a:t>
                      </a:r>
                      <a:r>
                        <a:rPr lang="es-MX" sz="1100" b="1" spc="-25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 Tarifa Mensual de</a:t>
                      </a:r>
                      <a:endParaRPr sz="1100" dirty="0">
                        <a:latin typeface="Verdana"/>
                        <a:cs typeface="Verdana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100" b="1" spc="-10" dirty="0" err="1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Mantenimiento</a:t>
                      </a:r>
                      <a:r>
                        <a:rPr lang="es-MX" sz="1100" b="1" spc="-10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 de la Herramienta</a:t>
                      </a:r>
                      <a:endParaRPr sz="1100" dirty="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 cap="flat" cmpd="sng" algn="ctr">
                      <a:solidFill>
                        <a:srgbClr val="CAD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745" marR="313690">
                        <a:lnSpc>
                          <a:spcPct val="133300"/>
                        </a:lnSpc>
                        <a:spcBef>
                          <a:spcPts val="715"/>
                        </a:spcBef>
                      </a:pPr>
                      <a:r>
                        <a:rPr sz="1100" b="1" spc="-10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Suscripción</a:t>
                      </a:r>
                      <a:r>
                        <a:rPr sz="1100" b="1" spc="-45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Mensual:</a:t>
                      </a:r>
                      <a:r>
                        <a:rPr sz="1100" b="1" spc="-20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Asegura</a:t>
                      </a:r>
                      <a:r>
                        <a:rPr sz="1100" spc="-4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la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operatividad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la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 err="1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plataforma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24/7</a:t>
                      </a:r>
                      <a:r>
                        <a:rPr lang="es-MX"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con </a:t>
                      </a:r>
                      <a:r>
                        <a:rPr lang="es-MX" sz="1100" spc="-10" dirty="0" err="1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backups</a:t>
                      </a:r>
                      <a:r>
                        <a:rPr lang="es-MX"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, reportes de salud automatizados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.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118745" marR="360680">
                        <a:lnSpc>
                          <a:spcPct val="133300"/>
                        </a:lnSpc>
                      </a:pPr>
                      <a:r>
                        <a:rPr sz="1100" b="1" spc="-10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Cobertura: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Pago</a:t>
                      </a:r>
                      <a:r>
                        <a:rPr sz="11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servidor</a:t>
                      </a:r>
                      <a:r>
                        <a:rPr sz="11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en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la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nube</a:t>
                      </a:r>
                      <a:r>
                        <a:rPr sz="11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(Contabo),</a:t>
                      </a:r>
                      <a:r>
                        <a:rPr sz="11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base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1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datos (Supabase)</a:t>
                      </a:r>
                      <a:r>
                        <a:rPr sz="1100" spc="-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y labores</a:t>
                      </a:r>
                      <a:r>
                        <a:rPr sz="1100" spc="-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soporte</a:t>
                      </a:r>
                      <a:endParaRPr sz="1100" dirty="0">
                        <a:latin typeface="Verdana"/>
                        <a:cs typeface="Verdana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evolutivo.</a:t>
                      </a:r>
                      <a:endParaRPr sz="1100" dirty="0">
                        <a:latin typeface="Verdana"/>
                        <a:cs typeface="Verdana"/>
                      </a:endParaRPr>
                    </a:p>
                  </a:txBody>
                  <a:tcPr marL="0" marR="0" marT="90805" marB="0">
                    <a:lnL w="9525" cap="flat" cmpd="sng" algn="ctr">
                      <a:solidFill>
                        <a:srgbClr val="CAD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118745" marR="196215">
                        <a:lnSpc>
                          <a:spcPct val="133300"/>
                        </a:lnSpc>
                      </a:pP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Geeksoft 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paga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directamente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los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costos</a:t>
                      </a:r>
                      <a:endParaRPr sz="1100" dirty="0">
                        <a:latin typeface="Verdana"/>
                        <a:cs typeface="Verdana"/>
                      </a:endParaRPr>
                    </a:p>
                    <a:p>
                      <a:pPr marL="118745" marR="220979" algn="just">
                        <a:lnSpc>
                          <a:spcPct val="133300"/>
                        </a:lnSpc>
                      </a:pP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asociados</a:t>
                      </a:r>
                      <a:r>
                        <a:rPr sz="1100" spc="-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sz="1100" spc="-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la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base</a:t>
                      </a:r>
                      <a:r>
                        <a:rPr sz="11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1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datos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y</a:t>
                      </a:r>
                      <a:r>
                        <a:rPr sz="1100" spc="-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el </a:t>
                      </a:r>
                      <a:r>
                        <a:rPr sz="1100" spc="-10" dirty="0" err="1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servidor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.</a:t>
                      </a:r>
                      <a:r>
                        <a:rPr lang="es-MX"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No incluye nuevos desarrollos</a:t>
                      </a:r>
                      <a:endParaRPr sz="1100" dirty="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9525" cap="flat" cmpd="sng" algn="ctr">
                      <a:solidFill>
                        <a:srgbClr val="CAD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MX" sz="1100" b="1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N/A</a:t>
                      </a:r>
                      <a:endParaRPr sz="1100" dirty="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CAD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N/A</a:t>
                      </a:r>
                      <a:endParaRPr sz="1100" dirty="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CAD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433070" marR="309245" indent="-116205">
                        <a:lnSpc>
                          <a:spcPct val="133300"/>
                        </a:lnSpc>
                      </a:pPr>
                      <a:endParaRPr lang="es-MX" sz="1100" b="1" dirty="0">
                        <a:solidFill>
                          <a:srgbClr val="465469"/>
                        </a:solidFill>
                        <a:latin typeface="Verdana"/>
                        <a:cs typeface="Verdana"/>
                      </a:endParaRPr>
                    </a:p>
                    <a:p>
                      <a:pPr marL="433070" marR="309245" indent="-116205">
                        <a:lnSpc>
                          <a:spcPct val="133300"/>
                        </a:lnSpc>
                      </a:pPr>
                      <a:r>
                        <a:rPr lang="es-MX" sz="1100" b="1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500</a:t>
                      </a:r>
                      <a:endParaRPr sz="1100" dirty="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CAD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4" name="object 4">
            <a:extLst>
              <a:ext uri="{FF2B5EF4-FFF2-40B4-BE49-F238E27FC236}">
                <a16:creationId xmlns:a16="http://schemas.microsoft.com/office/drawing/2014/main" id="{C5FF0150-0C94-15F8-8126-E912A175CE2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09999" y="360000"/>
            <a:ext cx="762000" cy="762000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9B95951B-2488-44AE-4063-6DB0B9A9770B}"/>
              </a:ext>
            </a:extLst>
          </p:cNvPr>
          <p:cNvSpPr/>
          <p:nvPr/>
        </p:nvSpPr>
        <p:spPr>
          <a:xfrm>
            <a:off x="720000" y="6939648"/>
            <a:ext cx="9252585" cy="9525"/>
          </a:xfrm>
          <a:custGeom>
            <a:avLst/>
            <a:gdLst/>
            <a:ahLst/>
            <a:cxnLst/>
            <a:rect l="l" t="t" r="r" b="b"/>
            <a:pathLst>
              <a:path w="9252585" h="9525">
                <a:moveTo>
                  <a:pt x="9252004" y="9525"/>
                </a:moveTo>
                <a:lnTo>
                  <a:pt x="0" y="9525"/>
                </a:lnTo>
                <a:lnTo>
                  <a:pt x="0" y="0"/>
                </a:lnTo>
                <a:lnTo>
                  <a:pt x="9252004" y="0"/>
                </a:lnTo>
                <a:lnTo>
                  <a:pt x="9252004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7E6E9F19-A46D-D969-4F90-42D8A3721A16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PROPUESTA</a:t>
            </a:r>
            <a:r>
              <a:rPr spc="-40" dirty="0"/>
              <a:t> </a:t>
            </a:r>
            <a:r>
              <a:rPr dirty="0"/>
              <a:t>COMERCIAL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NAVIERA</a:t>
            </a:r>
            <a:r>
              <a:rPr spc="-40" dirty="0"/>
              <a:t> </a:t>
            </a:r>
            <a:r>
              <a:rPr dirty="0"/>
              <a:t>PETRAL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GEEKSOFT</a:t>
            </a:r>
            <a:r>
              <a:rPr spc="-40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JUNIO</a:t>
            </a:r>
            <a:r>
              <a:rPr spc="-35" dirty="0"/>
              <a:t> </a:t>
            </a:r>
            <a:r>
              <a:rPr spc="-20" dirty="0"/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42768763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3500" y="851907"/>
            <a:ext cx="8921750" cy="1360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3300"/>
              </a:lnSpc>
              <a:spcBef>
                <a:spcPts val="100"/>
              </a:spcBef>
            </a:pPr>
            <a:endParaRPr lang="es-MX" sz="1100" dirty="0">
              <a:solidFill>
                <a:srgbClr val="1D283B"/>
              </a:solidFill>
              <a:latin typeface="Arial"/>
              <a:cs typeface="Arial"/>
            </a:endParaRPr>
          </a:p>
          <a:p>
            <a:pPr marL="12700" marR="5080">
              <a:lnSpc>
                <a:spcPct val="133300"/>
              </a:lnSpc>
              <a:spcBef>
                <a:spcPts val="100"/>
              </a:spcBef>
            </a:pPr>
            <a:r>
              <a:rPr lang="es-MX" sz="1100" b="1" spc="-10" dirty="0">
                <a:solidFill>
                  <a:srgbClr val="0F2B59"/>
                </a:solidFill>
                <a:latin typeface="Arial"/>
                <a:cs typeface="Arial"/>
              </a:rPr>
              <a:t>Comentarios</a:t>
            </a:r>
            <a:r>
              <a:rPr lang="es-MX" sz="1100" b="1" spc="-15" dirty="0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lang="es-MX" sz="1100" b="1" dirty="0">
                <a:solidFill>
                  <a:srgbClr val="0F2B59"/>
                </a:solidFill>
                <a:latin typeface="Arial"/>
                <a:cs typeface="Arial"/>
              </a:rPr>
              <a:t>del</a:t>
            </a:r>
            <a:r>
              <a:rPr lang="es-MX" sz="1100" b="1" spc="-15" dirty="0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lang="es-MX" sz="1100" b="1" spc="-10" dirty="0">
                <a:solidFill>
                  <a:srgbClr val="0F2B59"/>
                </a:solidFill>
                <a:latin typeface="Arial"/>
                <a:cs typeface="Arial"/>
              </a:rPr>
              <a:t>Consultor</a:t>
            </a:r>
            <a:r>
              <a:rPr lang="es-MX" sz="1100" b="1" spc="-15" dirty="0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lang="es-MX" sz="1100" b="1" dirty="0">
                <a:solidFill>
                  <a:srgbClr val="0F2B59"/>
                </a:solidFill>
                <a:latin typeface="Arial"/>
                <a:cs typeface="Arial"/>
              </a:rPr>
              <a:t>(</a:t>
            </a:r>
            <a:r>
              <a:rPr lang="es-MX" sz="1100" b="1" dirty="0" err="1">
                <a:solidFill>
                  <a:srgbClr val="0F2B59"/>
                </a:solidFill>
                <a:latin typeface="Arial"/>
                <a:cs typeface="Arial"/>
              </a:rPr>
              <a:t>Geeksoft</a:t>
            </a:r>
            <a:r>
              <a:rPr lang="es-MX" sz="1100" b="1" dirty="0">
                <a:solidFill>
                  <a:srgbClr val="0F2B59"/>
                </a:solidFill>
                <a:latin typeface="Arial"/>
                <a:cs typeface="Arial"/>
              </a:rPr>
              <a:t>):</a:t>
            </a:r>
            <a:r>
              <a:rPr lang="es-MX" sz="1100" b="1" spc="-10" dirty="0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lang="es-MX" sz="1100" dirty="0">
                <a:solidFill>
                  <a:srgbClr val="1D283B"/>
                </a:solidFill>
                <a:latin typeface="Arial"/>
                <a:cs typeface="Arial"/>
              </a:rPr>
              <a:t>En</a:t>
            </a:r>
            <a:r>
              <a:rPr lang="es-MX" sz="1100" spc="-15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lang="es-MX" sz="1100" dirty="0">
                <a:solidFill>
                  <a:srgbClr val="1D283B"/>
                </a:solidFill>
                <a:latin typeface="Arial"/>
                <a:cs typeface="Arial"/>
              </a:rPr>
              <a:t>mi</a:t>
            </a:r>
            <a:r>
              <a:rPr lang="es-MX" sz="1100" spc="-15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lang="es-MX" sz="1100" spc="-10" dirty="0">
                <a:solidFill>
                  <a:srgbClr val="1D283B"/>
                </a:solidFill>
                <a:latin typeface="Arial"/>
                <a:cs typeface="Arial"/>
              </a:rPr>
              <a:t>experiencia</a:t>
            </a:r>
            <a:r>
              <a:rPr lang="es-MX" sz="1100" spc="-15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lang="es-MX" sz="1100" spc="-10" dirty="0">
                <a:solidFill>
                  <a:srgbClr val="1D283B"/>
                </a:solidFill>
                <a:latin typeface="Arial"/>
                <a:cs typeface="Arial"/>
              </a:rPr>
              <a:t>implementando </a:t>
            </a:r>
            <a:r>
              <a:rPr lang="es-MX" sz="1100" dirty="0">
                <a:solidFill>
                  <a:srgbClr val="1D283B"/>
                </a:solidFill>
                <a:latin typeface="Arial"/>
                <a:cs typeface="Arial"/>
              </a:rPr>
              <a:t>este</a:t>
            </a:r>
            <a:r>
              <a:rPr lang="es-MX" sz="1100" spc="-15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lang="es-MX" sz="1100" dirty="0">
                <a:solidFill>
                  <a:srgbClr val="1D283B"/>
                </a:solidFill>
                <a:latin typeface="Arial"/>
                <a:cs typeface="Arial"/>
              </a:rPr>
              <a:t>tipo</a:t>
            </a:r>
            <a:r>
              <a:rPr lang="es-MX" sz="1100" spc="-15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lang="es-MX" sz="1100" dirty="0">
                <a:solidFill>
                  <a:srgbClr val="1D283B"/>
                </a:solidFill>
                <a:latin typeface="Arial"/>
                <a:cs typeface="Arial"/>
              </a:rPr>
              <a:t>de</a:t>
            </a:r>
            <a:r>
              <a:rPr lang="es-MX" sz="1100" spc="-15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lang="es-MX" sz="1100" dirty="0">
                <a:solidFill>
                  <a:srgbClr val="1D283B"/>
                </a:solidFill>
                <a:latin typeface="Arial"/>
                <a:cs typeface="Arial"/>
              </a:rPr>
              <a:t>transiciones</a:t>
            </a:r>
            <a:r>
              <a:rPr lang="es-MX" sz="1100" spc="-1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lang="es-MX" sz="1100" dirty="0">
                <a:solidFill>
                  <a:srgbClr val="1D283B"/>
                </a:solidFill>
                <a:latin typeface="Arial"/>
                <a:cs typeface="Arial"/>
              </a:rPr>
              <a:t>de</a:t>
            </a:r>
            <a:r>
              <a:rPr lang="es-MX" sz="1100" spc="-15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lang="es-MX" sz="1100" dirty="0">
                <a:solidFill>
                  <a:srgbClr val="1D283B"/>
                </a:solidFill>
                <a:latin typeface="Arial"/>
                <a:cs typeface="Arial"/>
              </a:rPr>
              <a:t>procesos</a:t>
            </a:r>
            <a:r>
              <a:rPr lang="es-MX" sz="1100" spc="-15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lang="es-MX" sz="1100" dirty="0" err="1">
                <a:solidFill>
                  <a:srgbClr val="1D283B"/>
                </a:solidFill>
                <a:latin typeface="Arial"/>
                <a:cs typeface="Arial"/>
              </a:rPr>
              <a:t>legacy</a:t>
            </a:r>
            <a:r>
              <a:rPr lang="es-MX" sz="1100" spc="-15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lang="es-MX" sz="1100" dirty="0">
                <a:solidFill>
                  <a:srgbClr val="1D283B"/>
                </a:solidFill>
                <a:latin typeface="Arial"/>
                <a:cs typeface="Arial"/>
              </a:rPr>
              <a:t>(herramientas</a:t>
            </a:r>
            <a:r>
              <a:rPr lang="es-MX" sz="1100" spc="-10" dirty="0">
                <a:solidFill>
                  <a:srgbClr val="1D283B"/>
                </a:solidFill>
                <a:latin typeface="Arial"/>
                <a:cs typeface="Arial"/>
              </a:rPr>
              <a:t> basadas </a:t>
            </a:r>
            <a:r>
              <a:rPr lang="es-MX" sz="1100" dirty="0">
                <a:solidFill>
                  <a:srgbClr val="1D283B"/>
                </a:solidFill>
                <a:latin typeface="Arial"/>
                <a:cs typeface="Arial"/>
              </a:rPr>
              <a:t>íntegramente</a:t>
            </a:r>
            <a:r>
              <a:rPr lang="es-MX"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lang="es-MX" sz="1100" dirty="0">
                <a:solidFill>
                  <a:srgbClr val="1D283B"/>
                </a:solidFill>
                <a:latin typeface="Arial"/>
                <a:cs typeface="Arial"/>
              </a:rPr>
              <a:t>en</a:t>
            </a:r>
            <a:r>
              <a:rPr lang="es-MX"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lang="es-MX" sz="1100" dirty="0">
                <a:solidFill>
                  <a:srgbClr val="1D283B"/>
                </a:solidFill>
                <a:latin typeface="Arial"/>
                <a:cs typeface="Arial"/>
              </a:rPr>
              <a:t>Excel)</a:t>
            </a:r>
            <a:r>
              <a:rPr lang="es-MX"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lang="es-MX" sz="1100" dirty="0">
                <a:solidFill>
                  <a:srgbClr val="1D283B"/>
                </a:solidFill>
                <a:latin typeface="Arial"/>
                <a:cs typeface="Arial"/>
              </a:rPr>
              <a:t>hacia</a:t>
            </a:r>
            <a:r>
              <a:rPr lang="es-MX"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lang="es-MX" sz="1100" dirty="0">
                <a:solidFill>
                  <a:srgbClr val="1D283B"/>
                </a:solidFill>
                <a:latin typeface="Arial"/>
                <a:cs typeface="Arial"/>
              </a:rPr>
              <a:t>ecosistemas</a:t>
            </a:r>
            <a:r>
              <a:rPr lang="es-MX"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lang="es-MX" sz="1100" dirty="0">
                <a:solidFill>
                  <a:srgbClr val="1D283B"/>
                </a:solidFill>
                <a:latin typeface="Arial"/>
                <a:cs typeface="Arial"/>
              </a:rPr>
              <a:t>centralizados,</a:t>
            </a:r>
            <a:r>
              <a:rPr lang="es-MX"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lang="es-MX" sz="1100" dirty="0">
                <a:solidFill>
                  <a:srgbClr val="1D283B"/>
                </a:solidFill>
                <a:latin typeface="Arial"/>
                <a:cs typeface="Arial"/>
              </a:rPr>
              <a:t>adoptar</a:t>
            </a:r>
            <a:r>
              <a:rPr lang="es-MX"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lang="es-MX" sz="1100" dirty="0">
                <a:solidFill>
                  <a:srgbClr val="1D283B"/>
                </a:solidFill>
                <a:latin typeface="Arial"/>
                <a:cs typeface="Arial"/>
              </a:rPr>
              <a:t>un</a:t>
            </a:r>
            <a:r>
              <a:rPr lang="es-MX"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lang="es-MX" sz="1100" dirty="0">
                <a:solidFill>
                  <a:srgbClr val="1D283B"/>
                </a:solidFill>
                <a:latin typeface="Arial"/>
                <a:cs typeface="Arial"/>
              </a:rPr>
              <a:t>enfoque</a:t>
            </a:r>
            <a:r>
              <a:rPr lang="es-MX"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lang="es-MX" sz="1100" dirty="0">
                <a:solidFill>
                  <a:srgbClr val="1D283B"/>
                </a:solidFill>
                <a:latin typeface="Arial"/>
                <a:cs typeface="Arial"/>
              </a:rPr>
              <a:t>modular</a:t>
            </a:r>
            <a:r>
              <a:rPr lang="es-MX"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lang="es-MX" sz="1100" dirty="0">
                <a:solidFill>
                  <a:srgbClr val="1D283B"/>
                </a:solidFill>
                <a:latin typeface="Arial"/>
                <a:cs typeface="Arial"/>
              </a:rPr>
              <a:t>es</a:t>
            </a:r>
            <a:r>
              <a:rPr lang="es-MX"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lang="es-MX" sz="1100" dirty="0">
                <a:solidFill>
                  <a:srgbClr val="1D283B"/>
                </a:solidFill>
                <a:latin typeface="Arial"/>
                <a:cs typeface="Arial"/>
              </a:rPr>
              <a:t>la</a:t>
            </a:r>
            <a:r>
              <a:rPr lang="es-MX" sz="1100" spc="-15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lang="es-MX" sz="1100" dirty="0">
                <a:solidFill>
                  <a:srgbClr val="1D283B"/>
                </a:solidFill>
                <a:latin typeface="Arial"/>
                <a:cs typeface="Arial"/>
              </a:rPr>
              <a:t>estrategia</a:t>
            </a:r>
            <a:r>
              <a:rPr lang="es-MX"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lang="es-MX" sz="1100" dirty="0">
                <a:solidFill>
                  <a:srgbClr val="1D283B"/>
                </a:solidFill>
                <a:latin typeface="Arial"/>
                <a:cs typeface="Arial"/>
              </a:rPr>
              <a:t>más</a:t>
            </a:r>
            <a:r>
              <a:rPr lang="es-MX"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lang="es-MX" sz="1100" dirty="0">
                <a:solidFill>
                  <a:srgbClr val="1D283B"/>
                </a:solidFill>
                <a:latin typeface="Arial"/>
                <a:cs typeface="Arial"/>
              </a:rPr>
              <a:t>segura</a:t>
            </a:r>
            <a:r>
              <a:rPr lang="es-MX"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lang="es-MX" sz="1100" dirty="0">
                <a:solidFill>
                  <a:srgbClr val="1D283B"/>
                </a:solidFill>
                <a:latin typeface="Arial"/>
                <a:cs typeface="Arial"/>
              </a:rPr>
              <a:t>y</a:t>
            </a:r>
            <a:r>
              <a:rPr lang="es-MX"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lang="es-MX" sz="1100" dirty="0">
                <a:solidFill>
                  <a:srgbClr val="1D283B"/>
                </a:solidFill>
                <a:latin typeface="Arial"/>
                <a:cs typeface="Arial"/>
              </a:rPr>
              <a:t>con</a:t>
            </a:r>
            <a:r>
              <a:rPr lang="es-MX"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lang="es-MX" sz="1100" dirty="0">
                <a:solidFill>
                  <a:srgbClr val="1D283B"/>
                </a:solidFill>
                <a:latin typeface="Arial"/>
                <a:cs typeface="Arial"/>
              </a:rPr>
              <a:t>mayor</a:t>
            </a:r>
            <a:r>
              <a:rPr lang="es-MX"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lang="es-MX" sz="1100" dirty="0">
                <a:solidFill>
                  <a:srgbClr val="1D283B"/>
                </a:solidFill>
                <a:latin typeface="Arial"/>
                <a:cs typeface="Arial"/>
              </a:rPr>
              <a:t>tasa</a:t>
            </a:r>
            <a:r>
              <a:rPr lang="es-MX"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lang="es-MX" sz="1100" dirty="0">
                <a:solidFill>
                  <a:srgbClr val="1D283B"/>
                </a:solidFill>
                <a:latin typeface="Arial"/>
                <a:cs typeface="Arial"/>
              </a:rPr>
              <a:t>de</a:t>
            </a:r>
            <a:r>
              <a:rPr lang="es-MX"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lang="es-MX" sz="1100" spc="-10" dirty="0">
                <a:solidFill>
                  <a:srgbClr val="1D283B"/>
                </a:solidFill>
                <a:latin typeface="Arial"/>
                <a:cs typeface="Arial"/>
              </a:rPr>
              <a:t>éxito.</a:t>
            </a:r>
            <a:endParaRPr lang="es-MX" sz="11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lang="es-MX" sz="1100" dirty="0">
                <a:solidFill>
                  <a:srgbClr val="1D283B"/>
                </a:solidFill>
                <a:latin typeface="Arial"/>
                <a:cs typeface="Arial"/>
              </a:rPr>
              <a:t>Permitir</a:t>
            </a:r>
            <a:r>
              <a:rPr lang="es-MX" sz="1100" spc="-25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lang="es-MX" sz="1100" dirty="0">
                <a:solidFill>
                  <a:srgbClr val="1D283B"/>
                </a:solidFill>
                <a:latin typeface="Arial"/>
                <a:cs typeface="Arial"/>
              </a:rPr>
              <a:t>que</a:t>
            </a:r>
            <a:r>
              <a:rPr lang="es-MX"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lang="es-MX" sz="1100" dirty="0">
                <a:solidFill>
                  <a:srgbClr val="1D283B"/>
                </a:solidFill>
                <a:latin typeface="Arial"/>
                <a:cs typeface="Arial"/>
              </a:rPr>
              <a:t>el</a:t>
            </a:r>
            <a:r>
              <a:rPr lang="es-MX" sz="1100" spc="-25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lang="es-MX" sz="1100" dirty="0">
                <a:solidFill>
                  <a:srgbClr val="1D283B"/>
                </a:solidFill>
                <a:latin typeface="Arial"/>
                <a:cs typeface="Arial"/>
              </a:rPr>
              <a:t>equipo</a:t>
            </a:r>
            <a:r>
              <a:rPr lang="es-MX"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lang="es-MX" sz="1100" spc="-10" dirty="0">
                <a:solidFill>
                  <a:srgbClr val="1D283B"/>
                </a:solidFill>
                <a:latin typeface="Arial"/>
                <a:cs typeface="Arial"/>
              </a:rPr>
              <a:t>(especialmente</a:t>
            </a:r>
            <a:r>
              <a:rPr lang="es-MX"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lang="es-MX" sz="1100" dirty="0">
                <a:solidFill>
                  <a:srgbClr val="1D283B"/>
                </a:solidFill>
                <a:latin typeface="Arial"/>
                <a:cs typeface="Arial"/>
              </a:rPr>
              <a:t>aquellos</a:t>
            </a:r>
            <a:r>
              <a:rPr lang="es-MX" sz="1100" spc="-25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lang="es-MX" sz="1100" dirty="0">
                <a:solidFill>
                  <a:srgbClr val="1D283B"/>
                </a:solidFill>
                <a:latin typeface="Arial"/>
                <a:cs typeface="Arial"/>
              </a:rPr>
              <a:t>perfiles</a:t>
            </a:r>
            <a:r>
              <a:rPr lang="es-MX"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lang="es-MX" sz="1100" dirty="0">
                <a:solidFill>
                  <a:srgbClr val="1D283B"/>
                </a:solidFill>
                <a:latin typeface="Arial"/>
                <a:cs typeface="Arial"/>
              </a:rPr>
              <a:t>muy</a:t>
            </a:r>
            <a:r>
              <a:rPr lang="es-MX" sz="1100" spc="-25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lang="es-MX" sz="1100" dirty="0">
                <a:solidFill>
                  <a:srgbClr val="1D283B"/>
                </a:solidFill>
                <a:latin typeface="Arial"/>
                <a:cs typeface="Arial"/>
              </a:rPr>
              <a:t>habituados</a:t>
            </a:r>
            <a:r>
              <a:rPr lang="es-MX"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lang="es-MX" sz="1100" dirty="0">
                <a:solidFill>
                  <a:srgbClr val="1D283B"/>
                </a:solidFill>
                <a:latin typeface="Arial"/>
                <a:cs typeface="Arial"/>
              </a:rPr>
              <a:t>a</a:t>
            </a:r>
            <a:r>
              <a:rPr lang="es-MX"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lang="es-MX" sz="1100" dirty="0">
                <a:solidFill>
                  <a:srgbClr val="1D283B"/>
                </a:solidFill>
                <a:latin typeface="Arial"/>
                <a:cs typeface="Arial"/>
              </a:rPr>
              <a:t>sus</a:t>
            </a:r>
            <a:r>
              <a:rPr lang="es-MX" sz="1100" spc="-25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lang="es-MX" sz="1100" dirty="0">
                <a:solidFill>
                  <a:srgbClr val="1D283B"/>
                </a:solidFill>
                <a:latin typeface="Arial"/>
                <a:cs typeface="Arial"/>
              </a:rPr>
              <a:t>hojas</a:t>
            </a:r>
            <a:r>
              <a:rPr lang="es-MX"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lang="es-MX" sz="1100" dirty="0">
                <a:solidFill>
                  <a:srgbClr val="1D283B"/>
                </a:solidFill>
                <a:latin typeface="Arial"/>
                <a:cs typeface="Arial"/>
              </a:rPr>
              <a:t>de</a:t>
            </a:r>
            <a:r>
              <a:rPr lang="es-MX" sz="1100" spc="-25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lang="es-MX" sz="1100" dirty="0">
                <a:solidFill>
                  <a:srgbClr val="1D283B"/>
                </a:solidFill>
                <a:latin typeface="Arial"/>
                <a:cs typeface="Arial"/>
              </a:rPr>
              <a:t>cálculo)</a:t>
            </a:r>
            <a:r>
              <a:rPr lang="es-MX"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lang="es-MX" sz="1100" dirty="0">
                <a:solidFill>
                  <a:srgbClr val="1D283B"/>
                </a:solidFill>
                <a:latin typeface="Arial"/>
                <a:cs typeface="Arial"/>
              </a:rPr>
              <a:t>valide</a:t>
            </a:r>
            <a:r>
              <a:rPr lang="es-MX"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lang="es-MX" sz="1100" dirty="0">
                <a:solidFill>
                  <a:srgbClr val="1D283B"/>
                </a:solidFill>
                <a:latin typeface="Arial"/>
                <a:cs typeface="Arial"/>
              </a:rPr>
              <a:t>el</a:t>
            </a:r>
            <a:r>
              <a:rPr lang="es-MX" sz="1100" spc="-25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lang="es-MX" sz="1100" dirty="0">
                <a:solidFill>
                  <a:srgbClr val="1D283B"/>
                </a:solidFill>
                <a:latin typeface="Arial"/>
                <a:cs typeface="Arial"/>
              </a:rPr>
              <a:t>sistema</a:t>
            </a:r>
            <a:r>
              <a:rPr lang="es-MX"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lang="es-MX" sz="1100" dirty="0">
                <a:solidFill>
                  <a:srgbClr val="1D283B"/>
                </a:solidFill>
                <a:latin typeface="Arial"/>
                <a:cs typeface="Arial"/>
              </a:rPr>
              <a:t>paso</a:t>
            </a:r>
            <a:r>
              <a:rPr lang="es-MX" sz="1100" spc="-25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lang="es-MX" sz="1100" dirty="0">
                <a:solidFill>
                  <a:srgbClr val="1D283B"/>
                </a:solidFill>
                <a:latin typeface="Arial"/>
                <a:cs typeface="Arial"/>
              </a:rPr>
              <a:t>a</a:t>
            </a:r>
            <a:r>
              <a:rPr lang="es-MX"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lang="es-MX" sz="1100" dirty="0">
                <a:solidFill>
                  <a:srgbClr val="1D283B"/>
                </a:solidFill>
                <a:latin typeface="Arial"/>
                <a:cs typeface="Arial"/>
              </a:rPr>
              <a:t>paso,</a:t>
            </a:r>
            <a:r>
              <a:rPr lang="es-MX"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lang="es-MX" sz="1100" dirty="0">
                <a:solidFill>
                  <a:srgbClr val="1D283B"/>
                </a:solidFill>
                <a:latin typeface="Arial"/>
                <a:cs typeface="Arial"/>
              </a:rPr>
              <a:t>y</a:t>
            </a:r>
            <a:r>
              <a:rPr lang="es-MX" sz="1100" spc="-25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lang="es-MX" sz="1100" dirty="0">
                <a:solidFill>
                  <a:srgbClr val="1D283B"/>
                </a:solidFill>
                <a:latin typeface="Arial"/>
                <a:cs typeface="Arial"/>
              </a:rPr>
              <a:t>tener</a:t>
            </a:r>
            <a:r>
              <a:rPr lang="es-MX"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lang="es-MX" sz="1100" dirty="0">
                <a:solidFill>
                  <a:srgbClr val="1D283B"/>
                </a:solidFill>
                <a:latin typeface="Arial"/>
                <a:cs typeface="Arial"/>
              </a:rPr>
              <a:t>una</a:t>
            </a:r>
            <a:r>
              <a:rPr lang="es-MX" sz="1100" spc="-25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lang="es-MX" sz="1100" spc="-10" dirty="0">
                <a:solidFill>
                  <a:srgbClr val="1D283B"/>
                </a:solidFill>
                <a:latin typeface="Arial"/>
                <a:cs typeface="Arial"/>
              </a:rPr>
              <a:t>etapa</a:t>
            </a:r>
            <a:endParaRPr lang="es-MX" sz="1100" dirty="0">
              <a:latin typeface="Arial"/>
              <a:cs typeface="Arial"/>
            </a:endParaRPr>
          </a:p>
          <a:p>
            <a:pPr marL="12700" marR="5080">
              <a:lnSpc>
                <a:spcPct val="133300"/>
              </a:lnSpc>
              <a:spcBef>
                <a:spcPts val="100"/>
              </a:spcBef>
            </a:pP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formal</a:t>
            </a:r>
            <a:r>
              <a:rPr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de</a:t>
            </a:r>
            <a:r>
              <a:rPr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1D283B"/>
                </a:solidFill>
                <a:latin typeface="Arial"/>
                <a:cs typeface="Arial"/>
              </a:rPr>
              <a:t>convivencia</a:t>
            </a:r>
            <a:r>
              <a:rPr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de</a:t>
            </a:r>
            <a:r>
              <a:rPr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"dos</a:t>
            </a:r>
            <a:r>
              <a:rPr sz="1100" spc="-15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mundos",</a:t>
            </a:r>
            <a:r>
              <a:rPr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reduce</a:t>
            </a:r>
            <a:r>
              <a:rPr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drásticamente</a:t>
            </a:r>
            <a:r>
              <a:rPr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la</a:t>
            </a:r>
            <a:r>
              <a:rPr sz="1100" spc="-15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1D283B"/>
                </a:solidFill>
                <a:latin typeface="Arial"/>
                <a:cs typeface="Arial"/>
              </a:rPr>
              <a:t>resistencia</a:t>
            </a:r>
            <a:r>
              <a:rPr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al</a:t>
            </a:r>
            <a:r>
              <a:rPr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cambio.</a:t>
            </a:r>
            <a:r>
              <a:rPr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Esto</a:t>
            </a:r>
            <a:r>
              <a:rPr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asegura</a:t>
            </a:r>
            <a:r>
              <a:rPr sz="1100" spc="-15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que</a:t>
            </a:r>
            <a:r>
              <a:rPr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la</a:t>
            </a:r>
            <a:r>
              <a:rPr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herramienta</a:t>
            </a:r>
            <a:r>
              <a:rPr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no</a:t>
            </a:r>
            <a:r>
              <a:rPr sz="1100" spc="-15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solo</a:t>
            </a:r>
            <a:r>
              <a:rPr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sea</a:t>
            </a:r>
            <a:r>
              <a:rPr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un</a:t>
            </a:r>
            <a:r>
              <a:rPr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1D283B"/>
                </a:solidFill>
                <a:latin typeface="Arial"/>
                <a:cs typeface="Arial"/>
              </a:rPr>
              <a:t>avance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tecnológico,</a:t>
            </a:r>
            <a:r>
              <a:rPr sz="1100" spc="-25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sino</a:t>
            </a:r>
            <a:r>
              <a:rPr sz="1100" spc="-25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que</a:t>
            </a:r>
            <a:r>
              <a:rPr sz="1100" spc="-25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genere</a:t>
            </a:r>
            <a:r>
              <a:rPr sz="1100" spc="-25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1D283B"/>
                </a:solidFill>
                <a:latin typeface="Arial"/>
                <a:cs typeface="Arial"/>
              </a:rPr>
              <a:t>confianza</a:t>
            </a:r>
            <a:r>
              <a:rPr sz="1100" spc="-25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plena</a:t>
            </a:r>
            <a:r>
              <a:rPr sz="1100" spc="-25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en</a:t>
            </a:r>
            <a:r>
              <a:rPr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los</a:t>
            </a:r>
            <a:r>
              <a:rPr sz="1100" spc="-25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números</a:t>
            </a:r>
            <a:r>
              <a:rPr sz="1100" spc="-25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que</a:t>
            </a:r>
            <a:r>
              <a:rPr sz="1100" spc="-25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arroja</a:t>
            </a:r>
            <a:r>
              <a:rPr sz="1100" spc="-25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frente</a:t>
            </a:r>
            <a:r>
              <a:rPr sz="1100" spc="-25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a</a:t>
            </a:r>
            <a:r>
              <a:rPr sz="1100" spc="-2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los</a:t>
            </a:r>
            <a:r>
              <a:rPr sz="1100" spc="-25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D283B"/>
                </a:solidFill>
                <a:latin typeface="Arial"/>
                <a:cs typeface="Arial"/>
              </a:rPr>
              <a:t>modelos</a:t>
            </a:r>
            <a:r>
              <a:rPr sz="1100" spc="-25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1D283B"/>
                </a:solidFill>
                <a:latin typeface="Arial"/>
                <a:cs typeface="Arial"/>
              </a:rPr>
              <a:t>tradicionales.</a:t>
            </a:r>
            <a:endParaRPr sz="1100" dirty="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09999" y="360000"/>
            <a:ext cx="762000" cy="76200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720000" y="6939648"/>
            <a:ext cx="9252585" cy="9525"/>
          </a:xfrm>
          <a:custGeom>
            <a:avLst/>
            <a:gdLst/>
            <a:ahLst/>
            <a:cxnLst/>
            <a:rect l="l" t="t" r="r" b="b"/>
            <a:pathLst>
              <a:path w="9252585" h="9525">
                <a:moveTo>
                  <a:pt x="9252004" y="9525"/>
                </a:moveTo>
                <a:lnTo>
                  <a:pt x="0" y="9525"/>
                </a:lnTo>
                <a:lnTo>
                  <a:pt x="0" y="0"/>
                </a:lnTo>
                <a:lnTo>
                  <a:pt x="9252004" y="0"/>
                </a:lnTo>
                <a:lnTo>
                  <a:pt x="9252004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PROPUESTA</a:t>
            </a:r>
            <a:r>
              <a:rPr spc="-40" dirty="0"/>
              <a:t> </a:t>
            </a:r>
            <a:r>
              <a:rPr dirty="0"/>
              <a:t>COMERCIAL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NAVIERA</a:t>
            </a:r>
            <a:r>
              <a:rPr spc="-40" dirty="0"/>
              <a:t> </a:t>
            </a:r>
            <a:r>
              <a:rPr dirty="0"/>
              <a:t>PETRAL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GEEKSOFT</a:t>
            </a:r>
            <a:r>
              <a:rPr spc="-40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JUNIO</a:t>
            </a:r>
            <a:r>
              <a:rPr spc="-35" dirty="0"/>
              <a:t> </a:t>
            </a:r>
            <a:r>
              <a:rPr spc="-20" dirty="0"/>
              <a:t>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</TotalTime>
  <Words>598</Words>
  <Application>Microsoft Office PowerPoint</Application>
  <PresentationFormat>Custom</PresentationFormat>
  <Paragraphs>251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Times New Roman</vt:lpstr>
      <vt:lpstr>Verdana</vt:lpstr>
      <vt:lpstr>Office Theme</vt:lpstr>
      <vt:lpstr>Propuesta Comercial Modular PROYECTAR &amp; COTIZAR - Naviera Petral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Richard Gutierrez</cp:lastModifiedBy>
  <cp:revision>3</cp:revision>
  <dcterms:created xsi:type="dcterms:W3CDTF">2026-06-22T21:52:18Z</dcterms:created>
  <dcterms:modified xsi:type="dcterms:W3CDTF">2026-06-22T22:19:18Z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2026-06-22T00:00:00Z</vt:filetime>
  </property>
  <property fmtid="{D5CDD505-2E9C-101B-9397-08002B2CF9AE}" pid="3" name="LastSaved">
    <vt:filetime>2026-06-22T00:00:00Z</vt:filetime>
  </property>
  <property fmtid="{D5CDD505-2E9C-101B-9397-08002B2CF9AE}" pid="4" name="Producer">
    <vt:lpwstr>3-Heights(TM) PDF Security Shell 4.8.25.2 (http://www.pdf-tools.com)</vt:lpwstr>
  </property>
</Properties>
</file>